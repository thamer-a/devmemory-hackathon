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DED"/>
                </a:solidFill>
                <a:latin typeface="Calibri"/>
              </a:defRPr>
            </a:pPr>
            <a:r>
              <a:rPr sz="1400" b="0" i="0" u="none" strike="noStrike">
                <a:solidFill>
                  <a:srgbClr val="EDEDED"/>
                </a:solidFill>
                <a:latin typeface="Calibri"/>
              </a:rPr>
              <a:t>Pass rate on 12 unseen tasks (%)</a:t>
            </a:r>
          </a:p>
        </c:rich>
      </c:tx>
      <c:layout/>
      <c:overlay val="0"/>
    </c:title>
    <c:autoTitleDeleted val="0"/>
    <c:plotArea>
      <c:layout/>
      <c:barChart>
        <c:barDir val="col"/>
        <c:grouping val="clustered"/>
        <c:varyColors val="0"/>
        <c:ser>
          <c:idx val="0"/>
          <c:order val="0"/>
          <c:tx>
            <c:strRef>
              <c:f>Sheet1!$B$1</c:f>
              <c:strCache>
                <c:ptCount val="1"/>
                <c:pt idx="0">
                  <c:v>Pass rate on 12 unseen tasks (%)</c:v>
                </c:pt>
              </c:strCache>
            </c:strRef>
          </c:tx>
          <c:spPr>
            <a:solidFill>
              <a:srgbClr val="5A606B"/>
            </a:solidFill>
            <a:effectLst/>
          </c:spPr>
          <c:invertIfNegative val="0"/>
          <c:dLbls>
            <c:numFmt formatCode="0" sourceLinked="0"/>
            <c:txPr>
              <a:bodyPr/>
              <a:lstStyle/>
              <a:p>
                <a:pPr>
                  <a:defRPr b="0" i="0" strike="noStrike" sz="1200" u="none">
                    <a:solidFill>
                      <a:srgbClr val="EDEDED"/>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06B"/>
              </a:solidFill>
              <a:effectLst/>
            </c:spPr>
          </c:dPt>
          <c:dPt>
            <c:idx val="1"/>
            <c:invertIfNegative val="0"/>
            <c:bubble3D val="0"/>
            <c:spPr>
              <a:solidFill>
                <a:srgbClr val="5A606B"/>
              </a:solidFill>
              <a:effectLst/>
            </c:spPr>
          </c:dPt>
          <c:dPt>
            <c:idx val="2"/>
            <c:invertIfNegative val="0"/>
            <c:bubble3D val="0"/>
            <c:spPr>
              <a:solidFill>
                <a:srgbClr val="5A606B"/>
              </a:solidFill>
              <a:effectLst/>
            </c:spPr>
          </c:dPt>
          <c:dPt>
            <c:idx val="3"/>
            <c:invertIfNegative val="0"/>
            <c:bubble3D val="0"/>
            <c:spPr>
              <a:solidFill>
                <a:srgbClr val="8B7CF6"/>
              </a:solidFill>
              <a:effectLst/>
            </c:spPr>
          </c:dPt>
          <c:dPt>
            <c:idx val="4"/>
            <c:invertIfNegative val="0"/>
            <c:bubble3D val="0"/>
            <c:spPr>
              <a:solidFill>
                <a:srgbClr val="5A606B"/>
              </a:solidFill>
              <a:effectLst/>
            </c:spPr>
          </c:dPt>
          <c:cat>
            <c:multiLvlStrRef>
              <c:f>Sheet1!$A$2:$A$6</c:f>
              <c:multiLvlStrCache>
                <c:ptCount val="5"/>
                <c:lvl>
                  <c:pt idx="0">
                    <c:v>C0 bare</c:v>
                  </c:pt>
                  <c:pt idx="1">
                    <c:v>C1 CLAUDE.md</c:v>
                  </c:pt>
                  <c:pt idx="2">
                    <c:v>C2 map only</c:v>
                  </c:pt>
                  <c:pt idx="3">
                    <c:v>C3 DevMemory</c:v>
                  </c:pt>
                  <c:pt idx="4">
                    <c:v>Sonnet bare</c:v>
                  </c:pt>
                </c:lvl>
              </c:multiLvlStrCache>
            </c:multiLvlStrRef>
          </c:cat>
          <c:val>
            <c:numRef>
              <c:f>Sheet1!$B$2:$B$6</c:f>
              <c:numCache>
                <c:formatCode>General</c:formatCode>
                <c:ptCount val="5"/>
                <c:pt idx="0">
                  <c:v>67</c:v>
                </c:pt>
                <c:pt idx="1">
                  <c:v>72</c:v>
                </c:pt>
                <c:pt idx="2">
                  <c:v>64</c:v>
                </c:pt>
                <c:pt idx="3">
                  <c:v>86</c:v>
                </c:pt>
                <c:pt idx="4">
                  <c:v>75</c:v>
                </c:pt>
              </c:numCache>
            </c:numRef>
          </c:val>
        </c:ser>
        <c:dLbls>
          <c:numFmt formatCode="0" sourceLinked="0"/>
          <c:txPr>
            <a:bodyPr/>
            <a:lstStyle/>
            <a:p>
              <a:pPr>
                <a:defRPr b="0" i="0" strike="noStrike" sz="1200" u="none">
                  <a:solidFill>
                    <a:srgbClr val="EDEDED"/>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AA0AA"/>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AA0A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DED"/>
                </a:solidFill>
                <a:latin typeface="Calibri"/>
              </a:defRPr>
            </a:pPr>
            <a:r>
              <a:rPr sz="1400" b="0" i="0" u="none" strike="noStrike">
                <a:solidFill>
                  <a:srgbClr val="EDEDED"/>
                </a:solidFill>
                <a:latin typeface="Calibri"/>
              </a:rPr>
              <a:t>Cost per successful task (US$, list price)</a:t>
            </a:r>
          </a:p>
        </c:rich>
      </c:tx>
      <c:layout/>
      <c:overlay val="0"/>
    </c:title>
    <c:autoTitleDeleted val="0"/>
    <c:plotArea>
      <c:layout/>
      <c:barChart>
        <c:barDir val="col"/>
        <c:grouping val="clustered"/>
        <c:varyColors val="0"/>
        <c:ser>
          <c:idx val="0"/>
          <c:order val="0"/>
          <c:tx>
            <c:strRef>
              <c:f>Sheet1!$B$1</c:f>
              <c:strCache>
                <c:ptCount val="1"/>
                <c:pt idx="0">
                  <c:v>Cost per successful task (US$, list price)</c:v>
                </c:pt>
              </c:strCache>
            </c:strRef>
          </c:tx>
          <c:spPr>
            <a:solidFill>
              <a:srgbClr val="5A606B"/>
            </a:solidFill>
            <a:effectLst/>
          </c:spPr>
          <c:invertIfNegative val="0"/>
          <c:dLbls>
            <c:numFmt formatCode="$0.0000" sourceLinked="0"/>
            <c:txPr>
              <a:bodyPr/>
              <a:lstStyle/>
              <a:p>
                <a:pPr>
                  <a:defRPr b="0" i="0" strike="noStrike" sz="1000" u="none">
                    <a:solidFill>
                      <a:srgbClr val="EDEDED"/>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06B"/>
              </a:solidFill>
              <a:effectLst/>
            </c:spPr>
          </c:dPt>
          <c:dPt>
            <c:idx val="1"/>
            <c:invertIfNegative val="0"/>
            <c:bubble3D val="0"/>
            <c:spPr>
              <a:solidFill>
                <a:srgbClr val="5A606B"/>
              </a:solidFill>
              <a:effectLst/>
            </c:spPr>
          </c:dPt>
          <c:dPt>
            <c:idx val="2"/>
            <c:invertIfNegative val="0"/>
            <c:bubble3D val="0"/>
            <c:spPr>
              <a:solidFill>
                <a:srgbClr val="5A606B"/>
              </a:solidFill>
              <a:effectLst/>
            </c:spPr>
          </c:dPt>
          <c:dPt>
            <c:idx val="3"/>
            <c:invertIfNegative val="0"/>
            <c:bubble3D val="0"/>
            <c:spPr>
              <a:solidFill>
                <a:srgbClr val="8B7CF6"/>
              </a:solidFill>
              <a:effectLst/>
            </c:spPr>
          </c:dPt>
          <c:cat>
            <c:multiLvlStrRef>
              <c:f>Sheet1!$A$2:$A$5</c:f>
              <c:multiLvlStrCache>
                <c:ptCount val="4"/>
                <c:lvl>
                  <c:pt idx="0">
                    <c:v>C0 bare</c:v>
                  </c:pt>
                  <c:pt idx="1">
                    <c:v>C1 CLAUDE.md</c:v>
                  </c:pt>
                  <c:pt idx="2">
                    <c:v>C2 map only</c:v>
                  </c:pt>
                  <c:pt idx="3">
                    <c:v>C3 DevMemory</c:v>
                  </c:pt>
                </c:lvl>
              </c:multiLvlStrCache>
            </c:multiLvlStrRef>
          </c:cat>
          <c:val>
            <c:numRef>
              <c:f>Sheet1!$B$2:$B$5</c:f>
              <c:numCache>
                <c:formatCode>General</c:formatCode>
                <c:ptCount val="4"/>
                <c:pt idx="0">
                  <c:v>0.0099</c:v>
                </c:pt>
                <c:pt idx="1">
                  <c:v>0.0104</c:v>
                </c:pt>
                <c:pt idx="2">
                  <c:v>0.0094</c:v>
                </c:pt>
                <c:pt idx="3">
                  <c:v>0.0087</c:v>
                </c:pt>
              </c:numCache>
            </c:numRef>
          </c:val>
        </c:ser>
        <c:dLbls>
          <c:numFmt formatCode="$0.0000" sourceLinked="0"/>
          <c:txPr>
            <a:bodyPr/>
            <a:lstStyle/>
            <a:p>
              <a:pPr>
                <a:defRPr b="0" i="0" strike="noStrike" sz="1000" u="none">
                  <a:solidFill>
                    <a:srgbClr val="EDEDED"/>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AA0AA"/>
                </a:solidFill>
                <a:latin typeface="Calibri"/>
              </a:defRPr>
            </a:pPr>
            <a:endParaRPr lang="en-US"/>
          </a:p>
        </c:txPr>
        <c:crossAx val="2094734552"/>
        <c:crosses val="autoZero"/>
        <c:auto val="1"/>
        <c:lblAlgn val="ctr"/>
        <c:noMultiLvlLbl val="1"/>
      </c:catAx>
      <c:valAx>
        <c:axId val="2094734552"/>
        <c:scaling>
          <c:orientation val="minMax"/>
          <c:max val="0.0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AA0A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DED"/>
                </a:solidFill>
                <a:latin typeface="Calibri"/>
              </a:defRPr>
            </a:pPr>
            <a:r>
              <a:rPr sz="1400" b="0" i="0" u="none" strike="noStrike">
                <a:solidFill>
                  <a:srgbClr val="EDEDED"/>
                </a:solidFill>
                <a:latin typeface="Calibri"/>
              </a:rPr>
              <a:t>Input tokens, same game (M, 16 sessions)</a:t>
            </a:r>
          </a:p>
        </c:rich>
      </c:tx>
      <c:layout/>
      <c:overlay val="0"/>
    </c:title>
    <c:autoTitleDeleted val="0"/>
    <c:plotArea>
      <c:layout/>
      <c:barChart>
        <c:barDir val="col"/>
        <c:grouping val="clustered"/>
        <c:varyColors val="0"/>
        <c:ser>
          <c:idx val="0"/>
          <c:order val="0"/>
          <c:tx>
            <c:strRef>
              <c:f>Sheet1!$B$1</c:f>
              <c:strCache>
                <c:ptCount val="1"/>
                <c:pt idx="0">
                  <c:v>Input tokens, same game (M, 16 sessions)</c:v>
                </c:pt>
              </c:strCache>
            </c:strRef>
          </c:tx>
          <c:spPr>
            <a:solidFill>
              <a:srgbClr val="5A606B"/>
            </a:solidFill>
            <a:effectLst/>
          </c:spPr>
          <c:invertIfNegative val="0"/>
          <c:dLbls>
            <c:numFmt formatCode="0.00" sourceLinked="0"/>
            <c:txPr>
              <a:bodyPr/>
              <a:lstStyle/>
              <a:p>
                <a:pPr>
                  <a:defRPr b="0" i="0" strike="noStrike" sz="1200" u="none">
                    <a:solidFill>
                      <a:srgbClr val="EDEDED"/>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06B"/>
              </a:solidFill>
              <a:effectLst/>
            </c:spPr>
          </c:dPt>
          <c:dPt>
            <c:idx val="1"/>
            <c:invertIfNegative val="0"/>
            <c:bubble3D val="0"/>
            <c:spPr>
              <a:solidFill>
                <a:srgbClr val="5A606B"/>
              </a:solidFill>
              <a:effectLst/>
            </c:spPr>
          </c:dPt>
          <c:dPt>
            <c:idx val="2"/>
            <c:invertIfNegative val="0"/>
            <c:bubble3D val="0"/>
            <c:spPr>
              <a:solidFill>
                <a:srgbClr val="8B7CF6"/>
              </a:solidFill>
              <a:effectLst/>
            </c:spPr>
          </c:dPt>
          <c:cat>
            <c:multiLvlStrRef>
              <c:f>Sheet1!$A$2:$A$4</c:f>
              <c:multiLvlStrCache>
                <c:ptCount val="3"/>
                <c:lvl>
                  <c:pt idx="0">
                    <c:v>No memory</c:v>
                  </c:pt>
                  <c:pt idx="1">
                    <c:v>AGENTS.md</c:v>
                  </c:pt>
                  <c:pt idx="2">
                    <c:v>DevMemory</c:v>
                  </c:pt>
                </c:lvl>
              </c:multiLvlStrCache>
            </c:multiLvlStrRef>
          </c:cat>
          <c:val>
            <c:numRef>
              <c:f>Sheet1!$B$2:$B$4</c:f>
              <c:numCache>
                <c:formatCode>General</c:formatCode>
                <c:ptCount val="3"/>
                <c:pt idx="0">
                  <c:v>3.08</c:v>
                </c:pt>
                <c:pt idx="1">
                  <c:v>3.41</c:v>
                </c:pt>
                <c:pt idx="2">
                  <c:v>1.85</c:v>
                </c:pt>
              </c:numCache>
            </c:numRef>
          </c:val>
        </c:ser>
        <c:dLbls>
          <c:numFmt formatCode="0.00" sourceLinked="0"/>
          <c:txPr>
            <a:bodyPr/>
            <a:lstStyle/>
            <a:p>
              <a:pPr>
                <a:defRPr b="0" i="0" strike="noStrike" sz="1200" u="none">
                  <a:solidFill>
                    <a:srgbClr val="EDEDED"/>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AA0AA"/>
                </a:solidFill>
                <a:latin typeface="Calibri"/>
              </a:defRPr>
            </a:pPr>
            <a:endParaRPr lang="en-US"/>
          </a:p>
        </c:txPr>
        <c:crossAx val="2094734552"/>
        <c:crosses val="autoZero"/>
        <c:auto val="1"/>
        <c:lblAlgn val="ctr"/>
        <c:noMultiLvlLbl val="1"/>
      </c:catAx>
      <c:valAx>
        <c:axId val="2094734552"/>
        <c:scaling>
          <c:orientation val="minMax"/>
          <c:max val="4.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AA0A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DevMemory gives every new AI coding session a warm start by remembering the project and what the user asked for earlier. The screenshot is the desktop app that browses the captured memory. We target Challenge 2: less compute at equal or better task success.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memory, each fresh session re-explores the project and loses what was decided before. In our runs a no-memory agent used 3.1M input tokens to build one small game, spent nine prompts on a single bug, and one of three builds passed static checks but crashed in Roblox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four steps. A deterministic scan builds a project map with no model calls, capture records each session from documented Claude Code interfaces, a pack selects only what the next task needs, and delivery injects roughly 1k tokens. The principle is to keep the full archive but send only what earns its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pack excerpt. The first entry is flagged STALE because the edits from that earlier session are no longer in the file, so the agent knows to verify. The user's original sentence is carried verbatim, and everything is plain files with no vector database or model in the retrieval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pieces were built. A CLI drives scan, run, pack, status, hook and app; a desktop app shows the memory as an Obsidian-style vault; a Roblox Studio MCP integration runs automated playtests; and a benchmark harness with graders and regrading produces the numbers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two kinds of evaluation. The fixed benchmark compares four conditions and a bigger model on 12 held-out tasks frozen before tuning, with validated graders and cost per success at an 80% floor. The multi-session builds test whether memory helps over a whole project, with an automated playtest after every prompt and a fixed rule choosing the next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12 unseen tasks, full DevMemory passes 86%, the only condition above the 80% accuracy floor, and it is also the cheapest per successful task. Sonnet without memory reaches 75% at $0.092 per success, about 11 times more. Memory on a cheaper model beat a bigger model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16 adaptive sessions building the same game, DevMemory used 1.85M input tokens versus 3.08M with no memory and 3.41M with a hand-written AGENTS.md, at the lowest cost and with 9 of 10 roadmap features. In the scripted 8-prompt build it used 0.61M tokens against 1.06M and 1.20M, and the AGENTS.md build crashed in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report the loss. In the web-app race round 1 DevMemory built 3 of 8 features against 8 of 8 because the pack missed the session where the user specified label colors; we fixed it with origin lineage and verbatim requirement memory, and round 2 is the re-test. The AGENTS.md build shows why a playtest gate matters, and the limitations are stated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a cheaper model with memory beat a bigger model without it, memory roughly halved tokens over multi-session work, and preserving the user's own words is what makes memory useful. Next steps are a one-command Claude Code plugin, hook-based capture for interactive sessions, a Studio playtest gate in the loop, and more engines.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F1115"/>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8-1.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548640" y="914400"/>
            <a:ext cx="4023360" cy="822960"/>
          </a:xfrm>
          <a:prstGeom prst="rect">
            <a:avLst/>
          </a:prstGeom>
          <a:noFill/>
          <a:ln/>
        </p:spPr>
        <p:txBody>
          <a:bodyPr wrap="square" lIns="0" tIns="0" rIns="0" bIns="0" rtlCol="0" anchor="ctr"/>
          <a:lstStyle/>
          <a:p>
            <a:pPr indent="0" marL="0">
              <a:buNone/>
            </a:pPr>
            <a:r>
              <a:rPr lang="en-US" sz="5400" b="1" dirty="0">
                <a:solidFill>
                  <a:srgbClr val="EDEDED"/>
                </a:solidFill>
                <a:latin typeface="Calibri" pitchFamily="34" charset="0"/>
                <a:ea typeface="Calibri" pitchFamily="34" charset="-122"/>
                <a:cs typeface="Calibri" pitchFamily="34" charset="-120"/>
              </a:rPr>
              <a:t>DevMemory</a:t>
            </a:r>
            <a:endParaRPr lang="en-US" sz="5400" dirty="0"/>
          </a:p>
        </p:txBody>
      </p:sp>
      <p:sp>
        <p:nvSpPr>
          <p:cNvPr id="3" name="Subtitle"/>
          <p:cNvSpPr txBox="1"/>
          <p:nvPr/>
        </p:nvSpPr>
        <p:spPr>
          <a:xfrm>
            <a:off x="548640" y="1828800"/>
            <a:ext cx="3749040" cy="1005840"/>
          </a:xfrm>
          <a:prstGeom prst="rect">
            <a:avLst/>
          </a:prstGeom>
          <a:noFill/>
          <a:ln/>
        </p:spPr>
        <p:txBody>
          <a:bodyPr wrap="square" lIns="0" tIns="0" rIns="0" bIns="0" rtlCol="0" anchor="t"/>
          <a:lstStyle/>
          <a:p>
            <a:pPr indent="0" marL="0">
              <a:buNone/>
            </a:pPr>
            <a:r>
              <a:rPr lang="en-US" sz="2200" b="1" dirty="0">
                <a:solidFill>
                  <a:srgbClr val="8B7CF6"/>
                </a:solidFill>
                <a:latin typeface="Calibri" pitchFamily="34" charset="0"/>
                <a:ea typeface="Calibri" pitchFamily="34" charset="-122"/>
                <a:cs typeface="Calibri" pitchFamily="34" charset="-120"/>
              </a:rPr>
              <a:t>Memory that lets every new AI coding session start warm</a:t>
            </a:r>
            <a:endParaRPr lang="en-US" sz="2200" dirty="0"/>
          </a:p>
        </p:txBody>
      </p:sp>
      <p:sp>
        <p:nvSpPr>
          <p:cNvPr id="4" name="Event"/>
          <p:cNvSpPr txBox="1"/>
          <p:nvPr/>
        </p:nvSpPr>
        <p:spPr>
          <a:xfrm>
            <a:off x="548640" y="3566160"/>
            <a:ext cx="3749040" cy="73152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HUMAIN–Misk Future AI Builders Hackathon · Challenge 2: Deliver AI with Less Compute</a:t>
            </a:r>
            <a:endParaRPr lang="en-US" sz="1300" dirty="0"/>
          </a:p>
        </p:txBody>
      </p:sp>
      <p:sp>
        <p:nvSpPr>
          <p:cNvPr id="5" name="DevMemory app overview frame"/>
          <p:cNvSpPr/>
          <p:nvPr/>
        </p:nvSpPr>
        <p:spPr>
          <a:xfrm>
            <a:off x="4526280" y="1108710"/>
            <a:ext cx="4297680" cy="2720340"/>
          </a:xfrm>
          <a:prstGeom prst="roundRect">
            <a:avLst>
              <a:gd name="adj" fmla="val 2689"/>
            </a:avLst>
          </a:prstGeom>
          <a:solidFill>
            <a:srgbClr val="161A22"/>
          </a:solidFill>
          <a:ln w="9525">
            <a:solidFill>
              <a:srgbClr val="5A606B"/>
            </a:solidFill>
            <a:prstDash val="solid"/>
          </a:ln>
        </p:spPr>
      </p:sp>
      <p:pic>
        <p:nvPicPr>
          <p:cNvPr id="6" name="DevMemory app overview" descr="DevMemory app overview">    </p:cNvPr>
          <p:cNvPicPr>
            <a:picLocks noChangeAspect="1"/>
          </p:cNvPicPr>
          <p:nvPr/>
        </p:nvPicPr>
        <p:blipFill>
          <a:blip r:embed="rId1"/>
          <a:stretch>
            <a:fillRect/>
          </a:stretch>
        </p:blipFill>
        <p:spPr>
          <a:xfrm>
            <a:off x="4572000" y="1154430"/>
            <a:ext cx="4206240" cy="2628900"/>
          </a:xfrm>
          <a:prstGeom prst="rect">
            <a:avLst/>
          </a:prstGeom>
        </p:spPr>
      </p:pic>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Every AI coding session starts cold</a:t>
            </a:r>
            <a:endParaRPr lang="en-US" sz="3200" dirty="0"/>
          </a:p>
        </p:txBody>
      </p:sp>
      <p:sp>
        <p:nvSpPr>
          <p:cNvPr id="3" name="Subtitle"/>
          <p:cNvSpPr txBox="1"/>
          <p:nvPr/>
        </p:nvSpPr>
        <p:spPr>
          <a:xfrm>
            <a:off x="457200" y="868680"/>
            <a:ext cx="8229600" cy="320040"/>
          </a:xfrm>
          <a:prstGeom prst="rect">
            <a:avLst/>
          </a:prstGeom>
          <a:noFill/>
          <a:ln/>
        </p:spPr>
        <p:txBody>
          <a:bodyPr wrap="square" lIns="0" tIns="0" rIns="0" bIns="0" rtlCol="0" anchor="ctr"/>
          <a:lstStyle/>
          <a:p>
            <a:pPr indent="0" marL="0">
              <a:buNone/>
            </a:pPr>
            <a:r>
              <a:rPr lang="en-US" sz="1500" dirty="0">
                <a:solidFill>
                  <a:srgbClr val="9AA0AA"/>
                </a:solidFill>
                <a:latin typeface="Calibri" pitchFamily="34" charset="0"/>
                <a:ea typeface="Calibri" pitchFamily="34" charset="-122"/>
                <a:cs typeface="Calibri" pitchFamily="34" charset="-120"/>
              </a:rPr>
              <a:t>It re-reads the project, forgets earlier decisions, and repeats fixed bugs</a:t>
            </a:r>
            <a:endParaRPr lang="en-US" sz="1500" dirty="0"/>
          </a:p>
        </p:txBody>
      </p:sp>
      <p:sp>
        <p:nvSpPr>
          <p:cNvPr id="4" name="Stat card 1"/>
          <p:cNvSpPr/>
          <p:nvPr/>
        </p:nvSpPr>
        <p:spPr>
          <a:xfrm>
            <a:off x="457200" y="1508760"/>
            <a:ext cx="2606040" cy="2834640"/>
          </a:xfrm>
          <a:prstGeom prst="roundRect">
            <a:avLst>
              <a:gd name="adj" fmla="val 3509"/>
            </a:avLst>
          </a:prstGeom>
          <a:solidFill>
            <a:srgbClr val="161A22"/>
          </a:solidFill>
          <a:ln w="9525">
            <a:solidFill>
              <a:srgbClr val="232834"/>
            </a:solidFill>
            <a:prstDash val="solid"/>
          </a:ln>
        </p:spPr>
      </p:sp>
      <p:sp>
        <p:nvSpPr>
          <p:cNvPr id="5" name="Stat 1"/>
          <p:cNvSpPr txBox="1"/>
          <p:nvPr/>
        </p:nvSpPr>
        <p:spPr>
          <a:xfrm>
            <a:off x="640080" y="1691640"/>
            <a:ext cx="2240280" cy="914400"/>
          </a:xfrm>
          <a:prstGeom prst="rect">
            <a:avLst/>
          </a:prstGeom>
          <a:noFill/>
          <a:ln/>
        </p:spPr>
        <p:txBody>
          <a:bodyPr wrap="square" lIns="0" tIns="0" rIns="0" bIns="0" rtlCol="0" anchor="ctr"/>
          <a:lstStyle/>
          <a:p>
            <a:pPr indent="0" marL="0">
              <a:buNone/>
            </a:pPr>
            <a:r>
              <a:rPr lang="en-US" sz="5400" b="1" dirty="0">
                <a:solidFill>
                  <a:srgbClr val="8B7CF6"/>
                </a:solidFill>
                <a:latin typeface="Calibri" pitchFamily="34" charset="0"/>
                <a:ea typeface="Calibri" pitchFamily="34" charset="-122"/>
                <a:cs typeface="Calibri" pitchFamily="34" charset="-120"/>
              </a:rPr>
              <a:t>3.1M</a:t>
            </a:r>
            <a:endParaRPr lang="en-US" sz="5400" dirty="0"/>
          </a:p>
        </p:txBody>
      </p:sp>
      <p:sp>
        <p:nvSpPr>
          <p:cNvPr id="6" name="Stat label 1"/>
          <p:cNvSpPr txBox="1"/>
          <p:nvPr/>
        </p:nvSpPr>
        <p:spPr>
          <a:xfrm>
            <a:off x="640080" y="2651760"/>
            <a:ext cx="2240280" cy="365760"/>
          </a:xfrm>
          <a:prstGeom prst="rect">
            <a:avLst/>
          </a:prstGeom>
          <a:noFill/>
          <a:ln/>
        </p:spPr>
        <p:txBody>
          <a:bodyPr wrap="square" lIns="0" tIns="0" rIns="0" bIns="0" rtlCol="0" anchor="ctr"/>
          <a:lstStyle/>
          <a:p>
            <a:pPr indent="0" marL="0">
              <a:buNone/>
            </a:pPr>
            <a:r>
              <a:rPr lang="en-US" sz="1800" b="1" dirty="0">
                <a:solidFill>
                  <a:srgbClr val="EDEDED"/>
                </a:solidFill>
                <a:latin typeface="Calibri" pitchFamily="34" charset="0"/>
                <a:ea typeface="Calibri" pitchFamily="34" charset="-122"/>
                <a:cs typeface="Calibri" pitchFamily="34" charset="-120"/>
              </a:rPr>
              <a:t>input tokens</a:t>
            </a:r>
            <a:endParaRPr lang="en-US" sz="1800" dirty="0"/>
          </a:p>
        </p:txBody>
      </p:sp>
      <p:sp>
        <p:nvSpPr>
          <p:cNvPr id="7" name="Stat sub 1"/>
          <p:cNvSpPr txBox="1"/>
          <p:nvPr/>
        </p:nvSpPr>
        <p:spPr>
          <a:xfrm>
            <a:off x="640080" y="3108960"/>
            <a:ext cx="2240280" cy="914400"/>
          </a:xfrm>
          <a:prstGeom prst="rect">
            <a:avLst/>
          </a:prstGeom>
          <a:noFill/>
          <a:ln/>
        </p:spPr>
        <p:txBody>
          <a:bodyPr wrap="square" lIns="0" tIns="0" rIns="0" bIns="0" rtlCol="0" anchor="t"/>
          <a:lstStyle/>
          <a:p>
            <a:pPr indent="0" marL="0">
              <a:buNone/>
            </a:pPr>
            <a:r>
              <a:rPr lang="en-US" sz="1400" dirty="0">
                <a:solidFill>
                  <a:srgbClr val="9AA0AA"/>
                </a:solidFill>
                <a:latin typeface="Calibri" pitchFamily="34" charset="0"/>
                <a:ea typeface="Calibri" pitchFamily="34" charset="-122"/>
                <a:cs typeface="Calibri" pitchFamily="34" charset="-120"/>
              </a:rPr>
              <a:t>no-memory agent building one small game over 16 sessions</a:t>
            </a:r>
            <a:endParaRPr lang="en-US" sz="1400" dirty="0"/>
          </a:p>
        </p:txBody>
      </p:sp>
      <p:sp>
        <p:nvSpPr>
          <p:cNvPr id="8" name="Stat card 2"/>
          <p:cNvSpPr/>
          <p:nvPr/>
        </p:nvSpPr>
        <p:spPr>
          <a:xfrm>
            <a:off x="3246120" y="1508760"/>
            <a:ext cx="2606040" cy="2834640"/>
          </a:xfrm>
          <a:prstGeom prst="roundRect">
            <a:avLst>
              <a:gd name="adj" fmla="val 3509"/>
            </a:avLst>
          </a:prstGeom>
          <a:solidFill>
            <a:srgbClr val="161A22"/>
          </a:solidFill>
          <a:ln w="9525">
            <a:solidFill>
              <a:srgbClr val="232834"/>
            </a:solidFill>
            <a:prstDash val="solid"/>
          </a:ln>
        </p:spPr>
      </p:sp>
      <p:sp>
        <p:nvSpPr>
          <p:cNvPr id="9" name="Stat 2"/>
          <p:cNvSpPr txBox="1"/>
          <p:nvPr/>
        </p:nvSpPr>
        <p:spPr>
          <a:xfrm>
            <a:off x="3429000" y="1691640"/>
            <a:ext cx="2240280" cy="914400"/>
          </a:xfrm>
          <a:prstGeom prst="rect">
            <a:avLst/>
          </a:prstGeom>
          <a:noFill/>
          <a:ln/>
        </p:spPr>
        <p:txBody>
          <a:bodyPr wrap="square" lIns="0" tIns="0" rIns="0" bIns="0" rtlCol="0" anchor="ctr"/>
          <a:lstStyle/>
          <a:p>
            <a:pPr indent="0" marL="0">
              <a:buNone/>
            </a:pPr>
            <a:r>
              <a:rPr lang="en-US" sz="5400" b="1" dirty="0">
                <a:solidFill>
                  <a:srgbClr val="38D6E8"/>
                </a:solidFill>
                <a:latin typeface="Calibri" pitchFamily="34" charset="0"/>
                <a:ea typeface="Calibri" pitchFamily="34" charset="-122"/>
                <a:cs typeface="Calibri" pitchFamily="34" charset="-120"/>
              </a:rPr>
              <a:t>9</a:t>
            </a:r>
            <a:endParaRPr lang="en-US" sz="5400" dirty="0"/>
          </a:p>
        </p:txBody>
      </p:sp>
      <p:sp>
        <p:nvSpPr>
          <p:cNvPr id="10" name="Stat label 2"/>
          <p:cNvSpPr txBox="1"/>
          <p:nvPr/>
        </p:nvSpPr>
        <p:spPr>
          <a:xfrm>
            <a:off x="3429000" y="2651760"/>
            <a:ext cx="2240280" cy="365760"/>
          </a:xfrm>
          <a:prstGeom prst="rect">
            <a:avLst/>
          </a:prstGeom>
          <a:noFill/>
          <a:ln/>
        </p:spPr>
        <p:txBody>
          <a:bodyPr wrap="square" lIns="0" tIns="0" rIns="0" bIns="0" rtlCol="0" anchor="ctr"/>
          <a:lstStyle/>
          <a:p>
            <a:pPr indent="0" marL="0">
              <a:buNone/>
            </a:pPr>
            <a:r>
              <a:rPr lang="en-US" sz="1800" b="1" dirty="0">
                <a:solidFill>
                  <a:srgbClr val="EDEDED"/>
                </a:solidFill>
                <a:latin typeface="Calibri" pitchFamily="34" charset="0"/>
                <a:ea typeface="Calibri" pitchFamily="34" charset="-122"/>
                <a:cs typeface="Calibri" pitchFamily="34" charset="-120"/>
              </a:rPr>
              <a:t>prompts in a row</a:t>
            </a:r>
            <a:endParaRPr lang="en-US" sz="1800" dirty="0"/>
          </a:p>
        </p:txBody>
      </p:sp>
      <p:sp>
        <p:nvSpPr>
          <p:cNvPr id="11" name="Stat sub 2"/>
          <p:cNvSpPr txBox="1"/>
          <p:nvPr/>
        </p:nvSpPr>
        <p:spPr>
          <a:xfrm>
            <a:off x="3429000" y="3108960"/>
            <a:ext cx="2240280" cy="914400"/>
          </a:xfrm>
          <a:prstGeom prst="rect">
            <a:avLst/>
          </a:prstGeom>
          <a:noFill/>
          <a:ln/>
        </p:spPr>
        <p:txBody>
          <a:bodyPr wrap="square" lIns="0" tIns="0" rIns="0" bIns="0" rtlCol="0" anchor="t"/>
          <a:lstStyle/>
          <a:p>
            <a:pPr indent="0" marL="0">
              <a:buNone/>
            </a:pPr>
            <a:r>
              <a:rPr lang="en-US" sz="1400" dirty="0">
                <a:solidFill>
                  <a:srgbClr val="9AA0AA"/>
                </a:solidFill>
                <a:latin typeface="Calibri" pitchFamily="34" charset="0"/>
                <a:ea typeface="Calibri" pitchFamily="34" charset="-122"/>
                <a:cs typeface="Calibri" pitchFamily="34" charset="-120"/>
              </a:rPr>
              <a:t>stuck on one bug (no-memory agent)</a:t>
            </a:r>
            <a:endParaRPr lang="en-US" sz="1400" dirty="0"/>
          </a:p>
        </p:txBody>
      </p:sp>
      <p:sp>
        <p:nvSpPr>
          <p:cNvPr id="12" name="Stat card 3"/>
          <p:cNvSpPr/>
          <p:nvPr/>
        </p:nvSpPr>
        <p:spPr>
          <a:xfrm>
            <a:off x="6035040" y="1508760"/>
            <a:ext cx="2606040" cy="2834640"/>
          </a:xfrm>
          <a:prstGeom prst="roundRect">
            <a:avLst>
              <a:gd name="adj" fmla="val 3509"/>
            </a:avLst>
          </a:prstGeom>
          <a:solidFill>
            <a:srgbClr val="161A22"/>
          </a:solidFill>
          <a:ln w="9525">
            <a:solidFill>
              <a:srgbClr val="232834"/>
            </a:solidFill>
            <a:prstDash val="solid"/>
          </a:ln>
        </p:spPr>
      </p:sp>
      <p:sp>
        <p:nvSpPr>
          <p:cNvPr id="13" name="Stat 3"/>
          <p:cNvSpPr txBox="1"/>
          <p:nvPr/>
        </p:nvSpPr>
        <p:spPr>
          <a:xfrm>
            <a:off x="6217920" y="1691640"/>
            <a:ext cx="2240280" cy="914400"/>
          </a:xfrm>
          <a:prstGeom prst="rect">
            <a:avLst/>
          </a:prstGeom>
          <a:noFill/>
          <a:ln/>
        </p:spPr>
        <p:txBody>
          <a:bodyPr wrap="square" lIns="0" tIns="0" rIns="0" bIns="0" rtlCol="0" anchor="ctr"/>
          <a:lstStyle/>
          <a:p>
            <a:pPr indent="0" marL="0">
              <a:buNone/>
            </a:pPr>
            <a:r>
              <a:rPr lang="en-US" sz="5400" b="1" dirty="0">
                <a:solidFill>
                  <a:srgbClr val="F5A524"/>
                </a:solidFill>
                <a:latin typeface="Calibri" pitchFamily="34" charset="0"/>
                <a:ea typeface="Calibri" pitchFamily="34" charset="-122"/>
                <a:cs typeface="Calibri" pitchFamily="34" charset="-120"/>
              </a:rPr>
              <a:t>1 of 3</a:t>
            </a:r>
            <a:endParaRPr lang="en-US" sz="5400" dirty="0"/>
          </a:p>
        </p:txBody>
      </p:sp>
      <p:sp>
        <p:nvSpPr>
          <p:cNvPr id="14" name="Stat label 3"/>
          <p:cNvSpPr txBox="1"/>
          <p:nvPr/>
        </p:nvSpPr>
        <p:spPr>
          <a:xfrm>
            <a:off x="6217920" y="2651760"/>
            <a:ext cx="2240280" cy="365760"/>
          </a:xfrm>
          <a:prstGeom prst="rect">
            <a:avLst/>
          </a:prstGeom>
          <a:noFill/>
          <a:ln/>
        </p:spPr>
        <p:txBody>
          <a:bodyPr wrap="square" lIns="0" tIns="0" rIns="0" bIns="0" rtlCol="0" anchor="ctr"/>
          <a:lstStyle/>
          <a:p>
            <a:pPr indent="0" marL="0">
              <a:buNone/>
            </a:pPr>
            <a:r>
              <a:rPr lang="en-US" sz="1800" b="1" dirty="0">
                <a:solidFill>
                  <a:srgbClr val="EDEDED"/>
                </a:solidFill>
                <a:latin typeface="Calibri" pitchFamily="34" charset="0"/>
                <a:ea typeface="Calibri" pitchFamily="34" charset="-122"/>
                <a:cs typeface="Calibri" pitchFamily="34" charset="-120"/>
              </a:rPr>
              <a:t>builds unplayable</a:t>
            </a:r>
            <a:endParaRPr lang="en-US" sz="1800" dirty="0"/>
          </a:p>
        </p:txBody>
      </p:sp>
      <p:sp>
        <p:nvSpPr>
          <p:cNvPr id="15" name="Stat sub 3"/>
          <p:cNvSpPr txBox="1"/>
          <p:nvPr/>
        </p:nvSpPr>
        <p:spPr>
          <a:xfrm>
            <a:off x="6217920" y="3108960"/>
            <a:ext cx="2240280" cy="914400"/>
          </a:xfrm>
          <a:prstGeom prst="rect">
            <a:avLst/>
          </a:prstGeom>
          <a:noFill/>
          <a:ln/>
        </p:spPr>
        <p:txBody>
          <a:bodyPr wrap="square" lIns="0" tIns="0" rIns="0" bIns="0" rtlCol="0" anchor="t"/>
          <a:lstStyle/>
          <a:p>
            <a:pPr indent="0" marL="0">
              <a:buNone/>
            </a:pPr>
            <a:r>
              <a:rPr lang="en-US" sz="1400" dirty="0">
                <a:solidFill>
                  <a:srgbClr val="9AA0AA"/>
                </a:solidFill>
                <a:latin typeface="Calibri" pitchFamily="34" charset="0"/>
                <a:ea typeface="Calibri" pitchFamily="34" charset="-122"/>
                <a:cs typeface="Calibri" pitchFamily="34" charset="-120"/>
              </a:rPr>
              <a:t>passed static checks, crashed in Roblox Studio</a:t>
            </a:r>
            <a:endParaRPr lang="en-US" sz="1400" dirty="0"/>
          </a:p>
        </p:txBody>
      </p:sp>
      <p:sp>
        <p:nvSpPr>
          <p:cNvPr id="16" name="Source"/>
          <p:cNvSpPr txBox="1"/>
          <p:nvPr/>
        </p:nvSpPr>
        <p:spPr>
          <a:xfrm>
            <a:off x="457200" y="4526280"/>
            <a:ext cx="5486400" cy="274320"/>
          </a:xfrm>
          <a:prstGeom prst="rect">
            <a:avLst/>
          </a:prstGeom>
          <a:noFill/>
          <a:ln/>
        </p:spPr>
        <p:txBody>
          <a:bodyPr wrap="square" lIns="0" tIns="0" rIns="0" bIns="0" rtlCol="0" anchor="ctr"/>
          <a:lstStyle/>
          <a:p>
            <a:pPr indent="0" marL="0">
              <a:buNone/>
            </a:pPr>
            <a:r>
              <a:rPr lang="en-US" sz="1100" dirty="0">
                <a:solidFill>
                  <a:srgbClr val="9AA0AA"/>
                </a:solidFill>
                <a:latin typeface="Calibri" pitchFamily="34" charset="0"/>
                <a:ea typeface="Calibri" pitchFamily="34" charset="-122"/>
                <a:cs typeface="Calibri" pitchFamily="34" charset="-120"/>
              </a:rPr>
              <a:t>Measured in our own runs (details on slides 6–9).</a:t>
            </a:r>
            <a:endParaRPr lang="en-US" sz="11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Scan, capture, pack, deliver</a:t>
            </a:r>
            <a:endParaRPr lang="en-US" sz="3200" dirty="0"/>
          </a:p>
        </p:txBody>
      </p:sp>
      <p:sp>
        <p:nvSpPr>
          <p:cNvPr id="3" name="Step card 1"/>
          <p:cNvSpPr/>
          <p:nvPr/>
        </p:nvSpPr>
        <p:spPr>
          <a:xfrm>
            <a:off x="457200" y="1097280"/>
            <a:ext cx="1920240" cy="2971800"/>
          </a:xfrm>
          <a:prstGeom prst="roundRect">
            <a:avLst>
              <a:gd name="adj" fmla="val 4762"/>
            </a:avLst>
          </a:prstGeom>
          <a:solidFill>
            <a:srgbClr val="161A22"/>
          </a:solidFill>
          <a:ln w="9525">
            <a:solidFill>
              <a:srgbClr val="232834"/>
            </a:solidFill>
            <a:prstDash val="solid"/>
          </a:ln>
        </p:spPr>
      </p:sp>
      <p:sp>
        <p:nvSpPr>
          <p:cNvPr id="4" name="Step circle 1"/>
          <p:cNvSpPr/>
          <p:nvPr/>
        </p:nvSpPr>
        <p:spPr>
          <a:xfrm>
            <a:off x="640080" y="1371600"/>
            <a:ext cx="548640" cy="548640"/>
          </a:xfrm>
          <a:prstGeom prst="ellipse">
            <a:avLst/>
          </a:prstGeom>
          <a:solidFill>
            <a:srgbClr val="8B7CF6"/>
          </a:solidFill>
          <a:ln w="12700">
            <a:solidFill>
              <a:srgbClr val="8B7CF6"/>
            </a:solidFill>
            <a:prstDash val="solid"/>
          </a:ln>
        </p:spPr>
      </p:sp>
      <p:sp>
        <p:nvSpPr>
          <p:cNvPr id="5" name="Step num 1"/>
          <p:cNvSpPr txBox="1"/>
          <p:nvPr/>
        </p:nvSpPr>
        <p:spPr>
          <a:xfrm>
            <a:off x="640080" y="1371600"/>
            <a:ext cx="548640" cy="54864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1</a:t>
            </a:r>
            <a:endParaRPr lang="en-US" sz="2200" dirty="0"/>
          </a:p>
        </p:txBody>
      </p:sp>
      <p:sp>
        <p:nvSpPr>
          <p:cNvPr id="6" name="Step name 1"/>
          <p:cNvSpPr txBox="1"/>
          <p:nvPr/>
        </p:nvSpPr>
        <p:spPr>
          <a:xfrm>
            <a:off x="640080" y="2057400"/>
            <a:ext cx="1554480" cy="365760"/>
          </a:xfrm>
          <a:prstGeom prst="rect">
            <a:avLst/>
          </a:prstGeom>
          <a:noFill/>
          <a:ln/>
        </p:spPr>
        <p:txBody>
          <a:bodyPr wrap="square" lIns="0" tIns="0" rIns="0" bIns="0" rtlCol="0" anchor="ctr"/>
          <a:lstStyle/>
          <a:p>
            <a:pPr indent="0" marL="0">
              <a:buNone/>
            </a:pPr>
            <a:r>
              <a:rPr lang="en-US" sz="2000" b="1" dirty="0">
                <a:solidFill>
                  <a:srgbClr val="EDEDED"/>
                </a:solidFill>
                <a:latin typeface="Calibri" pitchFamily="34" charset="0"/>
                <a:ea typeface="Calibri" pitchFamily="34" charset="-122"/>
                <a:cs typeface="Calibri" pitchFamily="34" charset="-120"/>
              </a:rPr>
              <a:t>Scan</a:t>
            </a:r>
            <a:endParaRPr lang="en-US" sz="2000" dirty="0"/>
          </a:p>
        </p:txBody>
      </p:sp>
      <p:sp>
        <p:nvSpPr>
          <p:cNvPr id="7" name="Step text 1"/>
          <p:cNvSpPr txBox="1"/>
          <p:nvPr/>
        </p:nvSpPr>
        <p:spPr>
          <a:xfrm>
            <a:off x="640080" y="2468880"/>
            <a:ext cx="1600200" cy="13716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Deterministic project map. 0 LLM tokens, ~25 ms.</a:t>
            </a:r>
            <a:endParaRPr lang="en-US" sz="1300" dirty="0"/>
          </a:p>
        </p:txBody>
      </p:sp>
      <p:sp>
        <p:nvSpPr>
          <p:cNvPr id="8" name="Arrow 1"/>
          <p:cNvSpPr txBox="1"/>
          <p:nvPr/>
        </p:nvSpPr>
        <p:spPr>
          <a:xfrm>
            <a:off x="2359152" y="2286000"/>
            <a:ext cx="219456" cy="457200"/>
          </a:xfrm>
          <a:prstGeom prst="rect">
            <a:avLst/>
          </a:prstGeom>
          <a:noFill/>
          <a:ln/>
        </p:spPr>
        <p:txBody>
          <a:bodyPr wrap="square" lIns="0" tIns="0" rIns="0" bIns="0" rtlCol="0" anchor="ctr"/>
          <a:lstStyle/>
          <a:p>
            <a:pPr algn="ctr" indent="0" marL="0">
              <a:buNone/>
            </a:pPr>
            <a:r>
              <a:rPr lang="en-US" sz="2400" dirty="0">
                <a:solidFill>
                  <a:srgbClr val="9AA0AA"/>
                </a:solidFill>
                <a:latin typeface="Calibri" pitchFamily="34" charset="0"/>
                <a:ea typeface="Calibri" pitchFamily="34" charset="-122"/>
                <a:cs typeface="Calibri" pitchFamily="34" charset="-120"/>
              </a:rPr>
              <a:t>›</a:t>
            </a:r>
            <a:endParaRPr lang="en-US" sz="2400" dirty="0"/>
          </a:p>
        </p:txBody>
      </p:sp>
      <p:sp>
        <p:nvSpPr>
          <p:cNvPr id="9" name="Step card 2"/>
          <p:cNvSpPr/>
          <p:nvPr/>
        </p:nvSpPr>
        <p:spPr>
          <a:xfrm>
            <a:off x="2560320" y="1097280"/>
            <a:ext cx="1920240" cy="2971800"/>
          </a:xfrm>
          <a:prstGeom prst="roundRect">
            <a:avLst>
              <a:gd name="adj" fmla="val 4762"/>
            </a:avLst>
          </a:prstGeom>
          <a:solidFill>
            <a:srgbClr val="161A22"/>
          </a:solidFill>
          <a:ln w="9525">
            <a:solidFill>
              <a:srgbClr val="232834"/>
            </a:solidFill>
            <a:prstDash val="solid"/>
          </a:ln>
        </p:spPr>
      </p:sp>
      <p:sp>
        <p:nvSpPr>
          <p:cNvPr id="10" name="Step circle 2"/>
          <p:cNvSpPr/>
          <p:nvPr/>
        </p:nvSpPr>
        <p:spPr>
          <a:xfrm>
            <a:off x="2743200" y="1371600"/>
            <a:ext cx="548640" cy="548640"/>
          </a:xfrm>
          <a:prstGeom prst="ellipse">
            <a:avLst/>
          </a:prstGeom>
          <a:solidFill>
            <a:srgbClr val="38D6E8"/>
          </a:solidFill>
          <a:ln w="12700">
            <a:solidFill>
              <a:srgbClr val="38D6E8"/>
            </a:solidFill>
            <a:prstDash val="solid"/>
          </a:ln>
        </p:spPr>
      </p:sp>
      <p:sp>
        <p:nvSpPr>
          <p:cNvPr id="11" name="Step num 2"/>
          <p:cNvSpPr txBox="1"/>
          <p:nvPr/>
        </p:nvSpPr>
        <p:spPr>
          <a:xfrm>
            <a:off x="2743200" y="1371600"/>
            <a:ext cx="548640" cy="54864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2</a:t>
            </a:r>
            <a:endParaRPr lang="en-US" sz="2200" dirty="0"/>
          </a:p>
        </p:txBody>
      </p:sp>
      <p:sp>
        <p:nvSpPr>
          <p:cNvPr id="12" name="Step name 2"/>
          <p:cNvSpPr txBox="1"/>
          <p:nvPr/>
        </p:nvSpPr>
        <p:spPr>
          <a:xfrm>
            <a:off x="2743200" y="2057400"/>
            <a:ext cx="1554480" cy="365760"/>
          </a:xfrm>
          <a:prstGeom prst="rect">
            <a:avLst/>
          </a:prstGeom>
          <a:noFill/>
          <a:ln/>
        </p:spPr>
        <p:txBody>
          <a:bodyPr wrap="square" lIns="0" tIns="0" rIns="0" bIns="0" rtlCol="0" anchor="ctr"/>
          <a:lstStyle/>
          <a:p>
            <a:pPr indent="0" marL="0">
              <a:buNone/>
            </a:pPr>
            <a:r>
              <a:rPr lang="en-US" sz="2000" b="1" dirty="0">
                <a:solidFill>
                  <a:srgbClr val="EDEDED"/>
                </a:solidFill>
                <a:latin typeface="Calibri" pitchFamily="34" charset="0"/>
                <a:ea typeface="Calibri" pitchFamily="34" charset="-122"/>
                <a:cs typeface="Calibri" pitchFamily="34" charset="-120"/>
              </a:rPr>
              <a:t>Capture</a:t>
            </a:r>
            <a:endParaRPr lang="en-US" sz="2000" dirty="0"/>
          </a:p>
        </p:txBody>
      </p:sp>
      <p:sp>
        <p:nvSpPr>
          <p:cNvPr id="13" name="Step text 2"/>
          <p:cNvSpPr txBox="1"/>
          <p:nvPr/>
        </p:nvSpPr>
        <p:spPr>
          <a:xfrm>
            <a:off x="2743200" y="2468880"/>
            <a:ext cx="1600200" cy="13716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Every session via Claude Code's documented stream-json / hooks: prompts, tool calls, edits, file hashes.</a:t>
            </a:r>
            <a:endParaRPr lang="en-US" sz="1300" dirty="0"/>
          </a:p>
        </p:txBody>
      </p:sp>
      <p:sp>
        <p:nvSpPr>
          <p:cNvPr id="14" name="Arrow 2"/>
          <p:cNvSpPr txBox="1"/>
          <p:nvPr/>
        </p:nvSpPr>
        <p:spPr>
          <a:xfrm>
            <a:off x="4462272" y="2286000"/>
            <a:ext cx="219456" cy="457200"/>
          </a:xfrm>
          <a:prstGeom prst="rect">
            <a:avLst/>
          </a:prstGeom>
          <a:noFill/>
          <a:ln/>
        </p:spPr>
        <p:txBody>
          <a:bodyPr wrap="square" lIns="0" tIns="0" rIns="0" bIns="0" rtlCol="0" anchor="ctr"/>
          <a:lstStyle/>
          <a:p>
            <a:pPr algn="ctr" indent="0" marL="0">
              <a:buNone/>
            </a:pPr>
            <a:r>
              <a:rPr lang="en-US" sz="2400" dirty="0">
                <a:solidFill>
                  <a:srgbClr val="9AA0AA"/>
                </a:solidFill>
                <a:latin typeface="Calibri" pitchFamily="34" charset="0"/>
                <a:ea typeface="Calibri" pitchFamily="34" charset="-122"/>
                <a:cs typeface="Calibri" pitchFamily="34" charset="-120"/>
              </a:rPr>
              <a:t>›</a:t>
            </a:r>
            <a:endParaRPr lang="en-US" sz="2400" dirty="0"/>
          </a:p>
        </p:txBody>
      </p:sp>
      <p:sp>
        <p:nvSpPr>
          <p:cNvPr id="15" name="Step card 3"/>
          <p:cNvSpPr/>
          <p:nvPr/>
        </p:nvSpPr>
        <p:spPr>
          <a:xfrm>
            <a:off x="4663440" y="1097280"/>
            <a:ext cx="1920240" cy="2971800"/>
          </a:xfrm>
          <a:prstGeom prst="roundRect">
            <a:avLst>
              <a:gd name="adj" fmla="val 4762"/>
            </a:avLst>
          </a:prstGeom>
          <a:solidFill>
            <a:srgbClr val="161A22"/>
          </a:solidFill>
          <a:ln w="9525">
            <a:solidFill>
              <a:srgbClr val="232834"/>
            </a:solidFill>
            <a:prstDash val="solid"/>
          </a:ln>
        </p:spPr>
      </p:sp>
      <p:sp>
        <p:nvSpPr>
          <p:cNvPr id="16" name="Step circle 3"/>
          <p:cNvSpPr/>
          <p:nvPr/>
        </p:nvSpPr>
        <p:spPr>
          <a:xfrm>
            <a:off x="4846320" y="1371600"/>
            <a:ext cx="548640" cy="548640"/>
          </a:xfrm>
          <a:prstGeom prst="ellipse">
            <a:avLst/>
          </a:prstGeom>
          <a:solidFill>
            <a:srgbClr val="3DD68C"/>
          </a:solidFill>
          <a:ln w="12700">
            <a:solidFill>
              <a:srgbClr val="3DD68C"/>
            </a:solidFill>
            <a:prstDash val="solid"/>
          </a:ln>
        </p:spPr>
      </p:sp>
      <p:sp>
        <p:nvSpPr>
          <p:cNvPr id="17" name="Step num 3"/>
          <p:cNvSpPr txBox="1"/>
          <p:nvPr/>
        </p:nvSpPr>
        <p:spPr>
          <a:xfrm>
            <a:off x="4846320" y="1371600"/>
            <a:ext cx="548640" cy="54864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3</a:t>
            </a:r>
            <a:endParaRPr lang="en-US" sz="2200" dirty="0"/>
          </a:p>
        </p:txBody>
      </p:sp>
      <p:sp>
        <p:nvSpPr>
          <p:cNvPr id="18" name="Step name 3"/>
          <p:cNvSpPr txBox="1"/>
          <p:nvPr/>
        </p:nvSpPr>
        <p:spPr>
          <a:xfrm>
            <a:off x="4846320" y="2057400"/>
            <a:ext cx="1554480" cy="365760"/>
          </a:xfrm>
          <a:prstGeom prst="rect">
            <a:avLst/>
          </a:prstGeom>
          <a:noFill/>
          <a:ln/>
        </p:spPr>
        <p:txBody>
          <a:bodyPr wrap="square" lIns="0" tIns="0" rIns="0" bIns="0" rtlCol="0" anchor="ctr"/>
          <a:lstStyle/>
          <a:p>
            <a:pPr indent="0" marL="0">
              <a:buNone/>
            </a:pPr>
            <a:r>
              <a:rPr lang="en-US" sz="2000" b="1" dirty="0">
                <a:solidFill>
                  <a:srgbClr val="EDEDED"/>
                </a:solidFill>
                <a:latin typeface="Calibri" pitchFamily="34" charset="0"/>
                <a:ea typeface="Calibri" pitchFamily="34" charset="-122"/>
                <a:cs typeface="Calibri" pitchFamily="34" charset="-120"/>
              </a:rPr>
              <a:t>Pack</a:t>
            </a:r>
            <a:endParaRPr lang="en-US" sz="2000" dirty="0"/>
          </a:p>
        </p:txBody>
      </p:sp>
      <p:sp>
        <p:nvSpPr>
          <p:cNvPr id="19" name="Step text 3"/>
          <p:cNvSpPr txBox="1"/>
          <p:nvPr/>
        </p:nvSpPr>
        <p:spPr>
          <a:xfrm>
            <a:off x="4846320" y="2468880"/>
            <a:ext cx="1600200" cy="13716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Task-specific context: original requirements verbatim, the session where a feature was first asked for, files with evidence lines, STALE flags.</a:t>
            </a:r>
            <a:endParaRPr lang="en-US" sz="1300" dirty="0"/>
          </a:p>
        </p:txBody>
      </p:sp>
      <p:sp>
        <p:nvSpPr>
          <p:cNvPr id="20" name="Arrow 3"/>
          <p:cNvSpPr txBox="1"/>
          <p:nvPr/>
        </p:nvSpPr>
        <p:spPr>
          <a:xfrm>
            <a:off x="6565392" y="2286000"/>
            <a:ext cx="219456" cy="457200"/>
          </a:xfrm>
          <a:prstGeom prst="rect">
            <a:avLst/>
          </a:prstGeom>
          <a:noFill/>
          <a:ln/>
        </p:spPr>
        <p:txBody>
          <a:bodyPr wrap="square" lIns="0" tIns="0" rIns="0" bIns="0" rtlCol="0" anchor="ctr"/>
          <a:lstStyle/>
          <a:p>
            <a:pPr algn="ctr" indent="0" marL="0">
              <a:buNone/>
            </a:pPr>
            <a:r>
              <a:rPr lang="en-US" sz="2400" dirty="0">
                <a:solidFill>
                  <a:srgbClr val="9AA0AA"/>
                </a:solidFill>
                <a:latin typeface="Calibri" pitchFamily="34" charset="0"/>
                <a:ea typeface="Calibri" pitchFamily="34" charset="-122"/>
                <a:cs typeface="Calibri" pitchFamily="34" charset="-120"/>
              </a:rPr>
              <a:t>›</a:t>
            </a:r>
            <a:endParaRPr lang="en-US" sz="2400" dirty="0"/>
          </a:p>
        </p:txBody>
      </p:sp>
      <p:sp>
        <p:nvSpPr>
          <p:cNvPr id="21" name="Step card 4"/>
          <p:cNvSpPr/>
          <p:nvPr/>
        </p:nvSpPr>
        <p:spPr>
          <a:xfrm>
            <a:off x="6766560" y="1097280"/>
            <a:ext cx="1920240" cy="2971800"/>
          </a:xfrm>
          <a:prstGeom prst="roundRect">
            <a:avLst>
              <a:gd name="adj" fmla="val 4762"/>
            </a:avLst>
          </a:prstGeom>
          <a:solidFill>
            <a:srgbClr val="161A22"/>
          </a:solidFill>
          <a:ln w="9525">
            <a:solidFill>
              <a:srgbClr val="232834"/>
            </a:solidFill>
            <a:prstDash val="solid"/>
          </a:ln>
        </p:spPr>
      </p:sp>
      <p:sp>
        <p:nvSpPr>
          <p:cNvPr id="22" name="Step circle 4"/>
          <p:cNvSpPr/>
          <p:nvPr/>
        </p:nvSpPr>
        <p:spPr>
          <a:xfrm>
            <a:off x="6949440" y="1371600"/>
            <a:ext cx="548640" cy="548640"/>
          </a:xfrm>
          <a:prstGeom prst="ellipse">
            <a:avLst/>
          </a:prstGeom>
          <a:solidFill>
            <a:srgbClr val="F5A524"/>
          </a:solidFill>
          <a:ln w="12700">
            <a:solidFill>
              <a:srgbClr val="F5A524"/>
            </a:solidFill>
            <a:prstDash val="solid"/>
          </a:ln>
        </p:spPr>
      </p:sp>
      <p:sp>
        <p:nvSpPr>
          <p:cNvPr id="23" name="Step num 4"/>
          <p:cNvSpPr txBox="1"/>
          <p:nvPr/>
        </p:nvSpPr>
        <p:spPr>
          <a:xfrm>
            <a:off x="6949440" y="1371600"/>
            <a:ext cx="548640" cy="54864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4</a:t>
            </a:r>
            <a:endParaRPr lang="en-US" sz="2200" dirty="0"/>
          </a:p>
        </p:txBody>
      </p:sp>
      <p:sp>
        <p:nvSpPr>
          <p:cNvPr id="24" name="Step name 4"/>
          <p:cNvSpPr txBox="1"/>
          <p:nvPr/>
        </p:nvSpPr>
        <p:spPr>
          <a:xfrm>
            <a:off x="6949440" y="2057400"/>
            <a:ext cx="1554480" cy="365760"/>
          </a:xfrm>
          <a:prstGeom prst="rect">
            <a:avLst/>
          </a:prstGeom>
          <a:noFill/>
          <a:ln/>
        </p:spPr>
        <p:txBody>
          <a:bodyPr wrap="square" lIns="0" tIns="0" rIns="0" bIns="0" rtlCol="0" anchor="ctr"/>
          <a:lstStyle/>
          <a:p>
            <a:pPr indent="0" marL="0">
              <a:buNone/>
            </a:pPr>
            <a:r>
              <a:rPr lang="en-US" sz="2000" b="1" dirty="0">
                <a:solidFill>
                  <a:srgbClr val="EDEDED"/>
                </a:solidFill>
                <a:latin typeface="Calibri" pitchFamily="34" charset="0"/>
                <a:ea typeface="Calibri" pitchFamily="34" charset="-122"/>
                <a:cs typeface="Calibri" pitchFamily="34" charset="-120"/>
              </a:rPr>
              <a:t>Deliver</a:t>
            </a:r>
            <a:endParaRPr lang="en-US" sz="2000" dirty="0"/>
          </a:p>
        </p:txBody>
      </p:sp>
      <p:sp>
        <p:nvSpPr>
          <p:cNvPr id="25" name="Step text 4"/>
          <p:cNvSpPr txBox="1"/>
          <p:nvPr/>
        </p:nvSpPr>
        <p:spPr>
          <a:xfrm>
            <a:off x="6949440" y="2468880"/>
            <a:ext cx="1600200" cy="13716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Claude Code hook or --append-system-prompt. About 1k tokens.</a:t>
            </a:r>
            <a:endParaRPr lang="en-US" sz="1300" dirty="0"/>
          </a:p>
        </p:txBody>
      </p:sp>
      <p:sp>
        <p:nvSpPr>
          <p:cNvPr id="26" name="Tagline"/>
          <p:cNvSpPr txBox="1"/>
          <p:nvPr/>
        </p:nvSpPr>
        <p:spPr>
          <a:xfrm>
            <a:off x="457200" y="4206240"/>
            <a:ext cx="8229600" cy="548640"/>
          </a:xfrm>
          <a:prstGeom prst="rect">
            <a:avLst/>
          </a:prstGeom>
          <a:noFill/>
          <a:ln/>
        </p:spPr>
        <p:txBody>
          <a:bodyPr wrap="square" lIns="0" tIns="0" rIns="0" bIns="0" rtlCol="0" anchor="ctr"/>
          <a:lstStyle/>
          <a:p>
            <a:pPr algn="ctr" indent="0" marL="0">
              <a:buNone/>
            </a:pPr>
            <a:r>
              <a:rPr lang="en-US" sz="2400" b="1" i="1" dirty="0">
                <a:solidFill>
                  <a:srgbClr val="8B7CF6"/>
                </a:solidFill>
                <a:latin typeface="Calibri" pitchFamily="34" charset="0"/>
                <a:ea typeface="Calibri" pitchFamily="34" charset="-122"/>
                <a:cs typeface="Calibri" pitchFamily="34" charset="-120"/>
              </a:rPr>
              <a:t>Preserve everything, send only what earns its tokens.</a:t>
            </a:r>
            <a:endParaRPr lang="en-US" sz="24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What a context pack looks like</a:t>
            </a:r>
            <a:endParaRPr lang="en-US" sz="3200" dirty="0"/>
          </a:p>
        </p:txBody>
      </p:sp>
      <p:sp>
        <p:nvSpPr>
          <p:cNvPr id="3" name="Subtitle"/>
          <p:cNvSpPr txBox="1"/>
          <p:nvPr/>
        </p:nvSpPr>
        <p:spPr>
          <a:xfrm>
            <a:off x="457200" y="868680"/>
            <a:ext cx="8229600" cy="320040"/>
          </a:xfrm>
          <a:prstGeom prst="rect">
            <a:avLst/>
          </a:prstGeom>
          <a:noFill/>
          <a:ln/>
        </p:spPr>
        <p:txBody>
          <a:bodyPr wrap="square" lIns="0" tIns="0" rIns="0" bIns="0" rtlCol="0" anchor="ctr"/>
          <a:lstStyle/>
          <a:p>
            <a:pPr indent="0" marL="0">
              <a:buNone/>
            </a:pPr>
            <a:r>
              <a:rPr lang="en-US" sz="1500" dirty="0">
                <a:solidFill>
                  <a:srgbClr val="9AA0AA"/>
                </a:solidFill>
                <a:latin typeface="Calibri" pitchFamily="34" charset="0"/>
                <a:ea typeface="Calibri" pitchFamily="34" charset="-122"/>
                <a:cs typeface="Calibri" pitchFamily="34" charset="-120"/>
              </a:rPr>
              <a:t>Real excerpt from a Roblox benchmark project</a:t>
            </a:r>
            <a:endParaRPr lang="en-US" sz="1500" dirty="0"/>
          </a:p>
        </p:txBody>
      </p:sp>
      <p:sp>
        <p:nvSpPr>
          <p:cNvPr id="4" name="Code panel"/>
          <p:cNvSpPr/>
          <p:nvPr/>
        </p:nvSpPr>
        <p:spPr>
          <a:xfrm>
            <a:off x="457200" y="1325880"/>
            <a:ext cx="5029200" cy="3108960"/>
          </a:xfrm>
          <a:prstGeom prst="roundRect">
            <a:avLst>
              <a:gd name="adj" fmla="val 2941"/>
            </a:avLst>
          </a:prstGeom>
          <a:solidFill>
            <a:srgbClr val="0B0D12"/>
          </a:solidFill>
          <a:ln w="9525">
            <a:solidFill>
              <a:srgbClr val="232834"/>
            </a:solidFill>
            <a:prstDash val="solid"/>
          </a:ln>
        </p:spPr>
      </p:sp>
      <p:sp>
        <p:nvSpPr>
          <p:cNvPr id="5" name="Pack excerpt"/>
          <p:cNvSpPr txBox="1"/>
          <p:nvPr/>
        </p:nvSpPr>
        <p:spPr>
          <a:xfrm>
            <a:off x="640080" y="1463040"/>
            <a:ext cx="4663440" cy="2834640"/>
          </a:xfrm>
          <a:prstGeom prst="rect">
            <a:avLst/>
          </a:prstGeom>
          <a:noFill/>
          <a:ln/>
        </p:spPr>
        <p:txBody>
          <a:bodyPr wrap="square" lIns="0" tIns="0" rIns="0" bIns="0" rtlCol="0" anchor="t"/>
          <a:lstStyle/>
          <a:p>
            <a:pPr indent="0" marL="0">
              <a:spcAft>
                <a:spcPts val="600"/>
              </a:spcAft>
              <a:buNone/>
            </a:pPr>
            <a:r>
              <a:rPr lang="en-US" sz="1100" b="1" dirty="0">
                <a:solidFill>
                  <a:srgbClr val="38D6E8"/>
                </a:solidFill>
                <a:latin typeface="Courier New" pitchFamily="34" charset="0"/>
                <a:ea typeface="Courier New" pitchFamily="34" charset="-122"/>
                <a:cs typeface="Courier New" pitchFamily="34" charset="-120"/>
              </a:rPr>
              <a:t>## Relevant past sessions</a:t>
            </a:r>
            <a:endParaRPr lang="en-US" sz="1100" dirty="0"/>
          </a:p>
          <a:p>
            <a:pPr indent="0" marL="0">
              <a:spcAft>
                <a:spcPts val="600"/>
              </a:spcAft>
              <a:buNone/>
            </a:pPr>
            <a:r>
              <a:rPr lang="en-US" sz="1100" dirty="0">
                <a:solidFill>
                  <a:srgbClr val="F5A524"/>
                </a:solidFill>
                <a:latin typeface="Courier New" pitchFamily="34" charset="0"/>
                <a:ea typeface="Courier New" pitchFamily="34" charset="-122"/>
                <a:cs typeface="Courier New" pitchFamily="34" charset="-120"/>
              </a:rPr>
              <a:t>- [session 68c540e0] **STALE**: edits no longer present in EnemyService.luau — verify current code</a:t>
            </a:r>
            <a:endParaRPr lang="en-US" sz="1100" dirty="0"/>
          </a:p>
          <a:p>
            <a:pPr indent="0" marL="0">
              <a:spcAft>
                <a:spcPts val="600"/>
              </a:spcAft>
              <a:buNone/>
            </a:pPr>
            <a:r>
              <a:rPr lang="en-US" sz="1100" dirty="0">
                <a:solidFill>
                  <a:srgbClr val="3DD68C"/>
                </a:solidFill>
                <a:latin typeface="Courier New" pitchFamily="34" charset="0"/>
                <a:ea typeface="Courier New" pitchFamily="34" charset="-122"/>
                <a:cs typeface="Courier New" pitchFamily="34" charset="-120"/>
              </a:rPr>
              <a:t>  - User asked: "Raise Grunt damage from 10 to 12. Brute damage stays at 25."</a:t>
            </a:r>
            <a:endParaRPr lang="en-US" sz="1100" dirty="0"/>
          </a:p>
          <a:p>
            <a:pPr indent="0" marL="0">
              <a:spcAft>
                <a:spcPts val="600"/>
              </a:spcAft>
              <a:buNone/>
            </a:pPr>
            <a:r>
              <a:rPr lang="en-US" sz="1100" b="1" dirty="0">
                <a:solidFill>
                  <a:srgbClr val="38D6E8"/>
                </a:solidFill>
                <a:latin typeface="Courier New" pitchFamily="34" charset="0"/>
                <a:ea typeface="Courier New" pitchFamily="34" charset="-122"/>
                <a:cs typeface="Courier New" pitchFamily="34" charset="-120"/>
              </a:rPr>
              <a:t>## Relevant files</a:t>
            </a:r>
            <a:endParaRPr lang="en-US" sz="1100" dirty="0"/>
          </a:p>
          <a:p>
            <a:pPr indent="0" marL="0">
              <a:spcAft>
                <a:spcPts val="600"/>
              </a:spcAft>
              <a:buNone/>
            </a:pPr>
            <a:r>
              <a:rPr lang="en-US" sz="1100" dirty="0">
                <a:solidFill>
                  <a:srgbClr val="EDEDED"/>
                </a:solidFill>
                <a:latin typeface="Courier New" pitchFamily="34" charset="0"/>
                <a:ea typeface="Courier New" pitchFamily="34" charset="-122"/>
                <a:cs typeface="Courier New" pitchFamily="34" charset="-120"/>
              </a:rPr>
              <a:t>- src/shared/Config.luau — L40: Brute = { health = 200, speed = 8, damage = 25 }</a:t>
            </a:r>
            <a:endParaRPr lang="en-US" sz="1100" dirty="0"/>
          </a:p>
        </p:txBody>
      </p:sp>
      <p:sp>
        <p:nvSpPr>
          <p:cNvPr id="6" name="Point card 1"/>
          <p:cNvSpPr/>
          <p:nvPr/>
        </p:nvSpPr>
        <p:spPr>
          <a:xfrm>
            <a:off x="5715000" y="1325880"/>
            <a:ext cx="2971800" cy="960120"/>
          </a:xfrm>
          <a:prstGeom prst="roundRect">
            <a:avLst>
              <a:gd name="adj" fmla="val 9524"/>
            </a:avLst>
          </a:prstGeom>
          <a:solidFill>
            <a:srgbClr val="161A22"/>
          </a:solidFill>
          <a:ln w="9525">
            <a:solidFill>
              <a:srgbClr val="232834"/>
            </a:solidFill>
            <a:prstDash val="solid"/>
          </a:ln>
        </p:spPr>
      </p:sp>
      <p:sp>
        <p:nvSpPr>
          <p:cNvPr id="7" name="Point 1"/>
          <p:cNvSpPr txBox="1"/>
          <p:nvPr/>
        </p:nvSpPr>
        <p:spPr>
          <a:xfrm>
            <a:off x="5897880" y="1435608"/>
            <a:ext cx="2651760" cy="320040"/>
          </a:xfrm>
          <a:prstGeom prst="rect">
            <a:avLst/>
          </a:prstGeom>
          <a:noFill/>
          <a:ln/>
        </p:spPr>
        <p:txBody>
          <a:bodyPr wrap="square" lIns="0" tIns="0" rIns="0" bIns="0" rtlCol="0" anchor="ctr"/>
          <a:lstStyle/>
          <a:p>
            <a:pPr indent="0" marL="0">
              <a:buNone/>
            </a:pPr>
            <a:r>
              <a:rPr lang="en-US" sz="1600" b="1" dirty="0">
                <a:solidFill>
                  <a:srgbClr val="8B7CF6"/>
                </a:solidFill>
                <a:latin typeface="Calibri" pitchFamily="34" charset="0"/>
                <a:ea typeface="Calibri" pitchFamily="34" charset="-122"/>
                <a:cs typeface="Calibri" pitchFamily="34" charset="-120"/>
              </a:rPr>
              <a:t>Deterministic &amp; local.</a:t>
            </a:r>
            <a:endParaRPr lang="en-US" sz="1600" dirty="0"/>
          </a:p>
        </p:txBody>
      </p:sp>
      <p:sp>
        <p:nvSpPr>
          <p:cNvPr id="8" name="Point text 1"/>
          <p:cNvSpPr txBox="1"/>
          <p:nvPr/>
        </p:nvSpPr>
        <p:spPr>
          <a:xfrm>
            <a:off x="5897880" y="1783080"/>
            <a:ext cx="2651760" cy="4572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Plain files, no vector DB, no LLM in the loop.</a:t>
            </a:r>
            <a:endParaRPr lang="en-US" sz="1300" dirty="0"/>
          </a:p>
        </p:txBody>
      </p:sp>
      <p:sp>
        <p:nvSpPr>
          <p:cNvPr id="9" name="Point card 2"/>
          <p:cNvSpPr/>
          <p:nvPr/>
        </p:nvSpPr>
        <p:spPr>
          <a:xfrm>
            <a:off x="5715000" y="2404872"/>
            <a:ext cx="2971800" cy="960120"/>
          </a:xfrm>
          <a:prstGeom prst="roundRect">
            <a:avLst>
              <a:gd name="adj" fmla="val 9524"/>
            </a:avLst>
          </a:prstGeom>
          <a:solidFill>
            <a:srgbClr val="161A22"/>
          </a:solidFill>
          <a:ln w="9525">
            <a:solidFill>
              <a:srgbClr val="232834"/>
            </a:solidFill>
            <a:prstDash val="solid"/>
          </a:ln>
        </p:spPr>
      </p:sp>
      <p:sp>
        <p:nvSpPr>
          <p:cNvPr id="10" name="Point 2"/>
          <p:cNvSpPr txBox="1"/>
          <p:nvPr/>
        </p:nvSpPr>
        <p:spPr>
          <a:xfrm>
            <a:off x="5897880" y="2514600"/>
            <a:ext cx="2651760" cy="320040"/>
          </a:xfrm>
          <a:prstGeom prst="rect">
            <a:avLst/>
          </a:prstGeom>
          <a:noFill/>
          <a:ln/>
        </p:spPr>
        <p:txBody>
          <a:bodyPr wrap="square" lIns="0" tIns="0" rIns="0" bIns="0" rtlCol="0" anchor="ctr"/>
          <a:lstStyle/>
          <a:p>
            <a:pPr indent="0" marL="0">
              <a:buNone/>
            </a:pPr>
            <a:r>
              <a:rPr lang="en-US" sz="1600" b="1" dirty="0">
                <a:solidFill>
                  <a:srgbClr val="38D6E8"/>
                </a:solidFill>
                <a:latin typeface="Calibri" pitchFamily="34" charset="0"/>
                <a:ea typeface="Calibri" pitchFamily="34" charset="-122"/>
                <a:cs typeface="Calibri" pitchFamily="34" charset="-120"/>
              </a:rPr>
              <a:t>Line-level freshness.</a:t>
            </a:r>
            <a:endParaRPr lang="en-US" sz="1600" dirty="0"/>
          </a:p>
        </p:txBody>
      </p:sp>
      <p:sp>
        <p:nvSpPr>
          <p:cNvPr id="11" name="Point text 2"/>
          <p:cNvSpPr txBox="1"/>
          <p:nvPr/>
        </p:nvSpPr>
        <p:spPr>
          <a:xfrm>
            <a:off x="5897880" y="2862072"/>
            <a:ext cx="2651760" cy="4572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Memory is checked against the current code.</a:t>
            </a:r>
            <a:endParaRPr lang="en-US" sz="1300" dirty="0"/>
          </a:p>
        </p:txBody>
      </p:sp>
      <p:sp>
        <p:nvSpPr>
          <p:cNvPr id="12" name="Point card 3"/>
          <p:cNvSpPr/>
          <p:nvPr/>
        </p:nvSpPr>
        <p:spPr>
          <a:xfrm>
            <a:off x="5715000" y="3483864"/>
            <a:ext cx="2971800" cy="960120"/>
          </a:xfrm>
          <a:prstGeom prst="roundRect">
            <a:avLst>
              <a:gd name="adj" fmla="val 9524"/>
            </a:avLst>
          </a:prstGeom>
          <a:solidFill>
            <a:srgbClr val="161A22"/>
          </a:solidFill>
          <a:ln w="9525">
            <a:solidFill>
              <a:srgbClr val="232834"/>
            </a:solidFill>
            <a:prstDash val="solid"/>
          </a:ln>
        </p:spPr>
      </p:sp>
      <p:sp>
        <p:nvSpPr>
          <p:cNvPr id="13" name="Point 3"/>
          <p:cNvSpPr txBox="1"/>
          <p:nvPr/>
        </p:nvSpPr>
        <p:spPr>
          <a:xfrm>
            <a:off x="5897880" y="3593592"/>
            <a:ext cx="2651760" cy="320040"/>
          </a:xfrm>
          <a:prstGeom prst="rect">
            <a:avLst/>
          </a:prstGeom>
          <a:noFill/>
          <a:ln/>
        </p:spPr>
        <p:txBody>
          <a:bodyPr wrap="square" lIns="0" tIns="0" rIns="0" bIns="0" rtlCol="0" anchor="ctr"/>
          <a:lstStyle/>
          <a:p>
            <a:pPr indent="0" marL="0">
              <a:buNone/>
            </a:pPr>
            <a:r>
              <a:rPr lang="en-US" sz="1600" b="1" dirty="0">
                <a:solidFill>
                  <a:srgbClr val="3DD68C"/>
                </a:solidFill>
                <a:latin typeface="Calibri" pitchFamily="34" charset="0"/>
                <a:ea typeface="Calibri" pitchFamily="34" charset="-122"/>
                <a:cs typeface="Calibri" pitchFamily="34" charset="-120"/>
              </a:rPr>
              <a:t>Verbatim requirements.</a:t>
            </a:r>
            <a:endParaRPr lang="en-US" sz="1600" dirty="0"/>
          </a:p>
        </p:txBody>
      </p:sp>
      <p:sp>
        <p:nvSpPr>
          <p:cNvPr id="14" name="Point text 3"/>
          <p:cNvSpPr txBox="1"/>
          <p:nvPr/>
        </p:nvSpPr>
        <p:spPr>
          <a:xfrm>
            <a:off x="5897880" y="3941064"/>
            <a:ext cx="2651760" cy="457200"/>
          </a:xfrm>
          <a:prstGeom prst="rect">
            <a:avLst/>
          </a:prstGeom>
          <a:noFill/>
          <a:ln/>
        </p:spPr>
        <p:txBody>
          <a:bodyPr wrap="square" lIns="0" tIns="0" rIns="0" bIns="0" rtlCol="0" anchor="t"/>
          <a:lstStyle/>
          <a:p>
            <a:pPr indent="0" marL="0">
              <a:buNone/>
            </a:pPr>
            <a:r>
              <a:rPr lang="en-US" sz="1300" dirty="0">
                <a:solidFill>
                  <a:srgbClr val="9AA0AA"/>
                </a:solidFill>
                <a:latin typeface="Calibri" pitchFamily="34" charset="0"/>
                <a:ea typeface="Calibri" pitchFamily="34" charset="-122"/>
                <a:cs typeface="Calibri" pitchFamily="34" charset="-120"/>
              </a:rPr>
              <a:t>The user's words are never paraphrased.</a:t>
            </a:r>
            <a:endParaRPr lang="en-US" sz="13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What we built</a:t>
            </a:r>
            <a:endParaRPr lang="en-US" sz="3200" dirty="0"/>
          </a:p>
        </p:txBody>
      </p:sp>
      <p:sp>
        <p:nvSpPr>
          <p:cNvPr id="3" name="DevMemory session note frame"/>
          <p:cNvSpPr/>
          <p:nvPr/>
        </p:nvSpPr>
        <p:spPr>
          <a:xfrm>
            <a:off x="420624" y="1051560"/>
            <a:ext cx="4919472" cy="3108960"/>
          </a:xfrm>
          <a:prstGeom prst="roundRect">
            <a:avLst>
              <a:gd name="adj" fmla="val 2353"/>
            </a:avLst>
          </a:prstGeom>
          <a:solidFill>
            <a:srgbClr val="161A22"/>
          </a:solidFill>
          <a:ln w="9525">
            <a:solidFill>
              <a:srgbClr val="5A606B"/>
            </a:solidFill>
            <a:prstDash val="solid"/>
          </a:ln>
        </p:spPr>
      </p:sp>
      <p:pic>
        <p:nvPicPr>
          <p:cNvPr id="4" name="DevMemory session note" descr="DevMemory session note">    </p:cNvPr>
          <p:cNvPicPr>
            <a:picLocks noChangeAspect="1"/>
          </p:cNvPicPr>
          <p:nvPr/>
        </p:nvPicPr>
        <p:blipFill>
          <a:blip r:embed="rId1"/>
          <a:stretch>
            <a:fillRect/>
          </a:stretch>
        </p:blipFill>
        <p:spPr>
          <a:xfrm>
            <a:off x="466344" y="1097280"/>
            <a:ext cx="4828032" cy="3017520"/>
          </a:xfrm>
          <a:prstGeom prst="rect">
            <a:avLst/>
          </a:prstGeom>
        </p:spPr>
      </p:pic>
      <p:sp>
        <p:nvSpPr>
          <p:cNvPr id="5" name="Caption"/>
          <p:cNvSpPr txBox="1"/>
          <p:nvPr/>
        </p:nvSpPr>
        <p:spPr>
          <a:xfrm>
            <a:off x="457200" y="4206240"/>
            <a:ext cx="4846320" cy="457200"/>
          </a:xfrm>
          <a:prstGeom prst="rect">
            <a:avLst/>
          </a:prstGeom>
          <a:noFill/>
          <a:ln/>
        </p:spPr>
        <p:txBody>
          <a:bodyPr wrap="square" lIns="0" tIns="0" rIns="0" bIns="0" rtlCol="0" anchor="ctr"/>
          <a:lstStyle/>
          <a:p>
            <a:pPr indent="0" marL="0">
              <a:buNone/>
            </a:pPr>
            <a:r>
              <a:rPr lang="en-US" sz="1200" dirty="0">
                <a:solidFill>
                  <a:srgbClr val="9AA0AA"/>
                </a:solidFill>
                <a:latin typeface="Calibri" pitchFamily="34" charset="0"/>
                <a:ea typeface="Calibri" pitchFamily="34" charset="-122"/>
                <a:cs typeface="Calibri" pitchFamily="34" charset="-120"/>
              </a:rPr>
              <a:t>Obsidian-style memory vault: sessions, prompts, edits, freshness, graph</a:t>
            </a:r>
            <a:endParaRPr lang="en-US" sz="1200" dirty="0"/>
          </a:p>
        </p:txBody>
      </p:sp>
      <p:sp>
        <p:nvSpPr>
          <p:cNvPr id="6" name="Built list panel"/>
          <p:cNvSpPr/>
          <p:nvPr/>
        </p:nvSpPr>
        <p:spPr>
          <a:xfrm>
            <a:off x="5532120" y="1097280"/>
            <a:ext cx="3154680" cy="3566160"/>
          </a:xfrm>
          <a:prstGeom prst="roundRect">
            <a:avLst>
              <a:gd name="adj" fmla="val 2899"/>
            </a:avLst>
          </a:prstGeom>
          <a:solidFill>
            <a:srgbClr val="161A22"/>
          </a:solidFill>
          <a:ln w="9525">
            <a:solidFill>
              <a:srgbClr val="232834"/>
            </a:solidFill>
            <a:prstDash val="solid"/>
          </a:ln>
        </p:spPr>
      </p:sp>
      <p:sp>
        <p:nvSpPr>
          <p:cNvPr id="7" name="Built list"/>
          <p:cNvSpPr txBox="1"/>
          <p:nvPr/>
        </p:nvSpPr>
        <p:spPr>
          <a:xfrm>
            <a:off x="5715000" y="1280160"/>
            <a:ext cx="2788920" cy="3200400"/>
          </a:xfrm>
          <a:prstGeom prst="rect">
            <a:avLst/>
          </a:prstGeom>
          <a:noFill/>
          <a:ln/>
        </p:spPr>
        <p:txBody>
          <a:bodyPr wrap="square" lIns="0" tIns="0" rIns="0" bIns="0" rtlCol="0" anchor="t"/>
          <a:lstStyle/>
          <a:p>
            <a:pPr marL="342900" indent="-342900">
              <a:spcAft>
                <a:spcPts val="800"/>
              </a:spcAft>
              <a:buSzPct val="100000"/>
              <a:buChar char="•"/>
            </a:pPr>
            <a:r>
              <a:rPr lang="en-US" sz="1500" b="1" dirty="0">
                <a:solidFill>
                  <a:srgbClr val="38D6E8"/>
                </a:solidFill>
                <a:latin typeface="Calibri" pitchFamily="34" charset="0"/>
                <a:ea typeface="Calibri" pitchFamily="34" charset="-122"/>
                <a:cs typeface="Calibri" pitchFamily="34" charset="-120"/>
              </a:rPr>
              <a:t>CLI: </a:t>
            </a:r>
            <a:pPr indent="0" marL="0">
              <a:buNone/>
            </a:pPr>
            <a:r>
              <a:rPr lang="en-US" sz="1500" dirty="0">
                <a:solidFill>
                  <a:srgbClr val="EDEDED"/>
                </a:solidFill>
                <a:latin typeface="Calibri" pitchFamily="34" charset="0"/>
                <a:ea typeface="Calibri" pitchFamily="34" charset="-122"/>
                <a:cs typeface="Calibri" pitchFamily="34" charset="-120"/>
              </a:rPr>
              <a:t>scan / run / pack / status / hook / app</a:t>
            </a:r>
            <a:endParaRPr lang="en-US" sz="1500" dirty="0"/>
          </a:p>
          <a:p>
            <a:pPr marL="342900" indent="-342900">
              <a:spcAft>
                <a:spcPts val="800"/>
              </a:spcAft>
              <a:buSzPct val="100000"/>
              <a:buChar char="•"/>
            </a:pPr>
            <a:r>
              <a:rPr lang="en-US" sz="1500" b="1" dirty="0">
                <a:solidFill>
                  <a:srgbClr val="38D6E8"/>
                </a:solidFill>
                <a:latin typeface="Calibri" pitchFamily="34" charset="0"/>
                <a:ea typeface="Calibri" pitchFamily="34" charset="-122"/>
                <a:cs typeface="Calibri" pitchFamily="34" charset="-120"/>
              </a:rPr>
              <a:t>Desktop app: </a:t>
            </a:r>
            <a:pPr indent="0" marL="0">
              <a:buNone/>
            </a:pPr>
            <a:r>
              <a:rPr lang="en-US" sz="1500" dirty="0">
                <a:solidFill>
                  <a:srgbClr val="EDEDED"/>
                </a:solidFill>
                <a:latin typeface="Calibri" pitchFamily="34" charset="0"/>
                <a:ea typeface="Calibri" pitchFamily="34" charset="-122"/>
                <a:cs typeface="Calibri" pitchFamily="34" charset="-120"/>
              </a:rPr>
              <a:t>browse the memory vault</a:t>
            </a:r>
            <a:endParaRPr lang="en-US" sz="1500" dirty="0"/>
          </a:p>
          <a:p>
            <a:pPr marL="342900" indent="-342900">
              <a:spcAft>
                <a:spcPts val="800"/>
              </a:spcAft>
              <a:buSzPct val="100000"/>
              <a:buChar char="•"/>
            </a:pPr>
            <a:r>
              <a:rPr lang="en-US" sz="1500" b="1" dirty="0">
                <a:solidFill>
                  <a:srgbClr val="38D6E8"/>
                </a:solidFill>
                <a:latin typeface="Calibri" pitchFamily="34" charset="0"/>
                <a:ea typeface="Calibri" pitchFamily="34" charset="-122"/>
                <a:cs typeface="Calibri" pitchFamily="34" charset="-120"/>
              </a:rPr>
              <a:t>Roblox Studio MCP: </a:t>
            </a:r>
            <a:pPr indent="0" marL="0">
              <a:buNone/>
            </a:pPr>
            <a:r>
              <a:rPr lang="en-US" sz="1500" dirty="0">
                <a:solidFill>
                  <a:srgbClr val="EDEDED"/>
                </a:solidFill>
                <a:latin typeface="Calibri" pitchFamily="34" charset="0"/>
                <a:ea typeface="Calibri" pitchFamily="34" charset="-122"/>
                <a:cs typeface="Calibri" pitchFamily="34" charset="-120"/>
              </a:rPr>
              <a:t>automated playtests</a:t>
            </a:r>
            <a:endParaRPr lang="en-US" sz="1500" dirty="0"/>
          </a:p>
          <a:p>
            <a:pPr marL="342900" indent="-342900">
              <a:spcAft>
                <a:spcPts val="800"/>
              </a:spcAft>
              <a:buSzPct val="100000"/>
              <a:buChar char="•"/>
            </a:pPr>
            <a:r>
              <a:rPr lang="en-US" sz="1500" b="1" dirty="0">
                <a:solidFill>
                  <a:srgbClr val="38D6E8"/>
                </a:solidFill>
                <a:latin typeface="Calibri" pitchFamily="34" charset="0"/>
                <a:ea typeface="Calibri" pitchFamily="34" charset="-122"/>
                <a:cs typeface="Calibri" pitchFamily="34" charset="-120"/>
              </a:rPr>
              <a:t>Benchmark harness: </a:t>
            </a:r>
            <a:pPr indent="0" marL="0">
              <a:buNone/>
            </a:pPr>
            <a:r>
              <a:rPr lang="en-US" sz="1500" dirty="0">
                <a:solidFill>
                  <a:srgbClr val="EDEDED"/>
                </a:solidFill>
                <a:latin typeface="Calibri" pitchFamily="34" charset="0"/>
                <a:ea typeface="Calibri" pitchFamily="34" charset="-122"/>
                <a:cs typeface="Calibri" pitchFamily="34" charset="-120"/>
              </a:rPr>
              <a:t>runner, graders, reports, regrade</a:t>
            </a:r>
            <a:endParaRPr lang="en-US" sz="15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How we tested</a:t>
            </a:r>
            <a:endParaRPr lang="en-US" sz="3200" dirty="0"/>
          </a:p>
        </p:txBody>
      </p:sp>
      <p:sp>
        <p:nvSpPr>
          <p:cNvPr id="3" name="Fixed benchmark panel"/>
          <p:cNvSpPr/>
          <p:nvPr/>
        </p:nvSpPr>
        <p:spPr>
          <a:xfrm>
            <a:off x="457200" y="1097280"/>
            <a:ext cx="4023360" cy="3611880"/>
          </a:xfrm>
          <a:prstGeom prst="roundRect">
            <a:avLst>
              <a:gd name="adj" fmla="val 2532"/>
            </a:avLst>
          </a:prstGeom>
          <a:solidFill>
            <a:srgbClr val="161A22"/>
          </a:solidFill>
          <a:ln w="9525">
            <a:solidFill>
              <a:srgbClr val="232834"/>
            </a:solidFill>
            <a:prstDash val="solid"/>
          </a:ln>
        </p:spPr>
      </p:sp>
      <p:sp>
        <p:nvSpPr>
          <p:cNvPr id="4" name="Col A head"/>
          <p:cNvSpPr txBox="1"/>
          <p:nvPr/>
        </p:nvSpPr>
        <p:spPr>
          <a:xfrm>
            <a:off x="640080" y="1207008"/>
            <a:ext cx="3657600" cy="365760"/>
          </a:xfrm>
          <a:prstGeom prst="rect">
            <a:avLst/>
          </a:prstGeom>
          <a:noFill/>
          <a:ln/>
        </p:spPr>
        <p:txBody>
          <a:bodyPr wrap="square" lIns="0" tIns="0" rIns="0" bIns="0" rtlCol="0" anchor="ctr"/>
          <a:lstStyle/>
          <a:p>
            <a:pPr indent="0" marL="0">
              <a:buNone/>
            </a:pPr>
            <a:r>
              <a:rPr lang="en-US" sz="1800" b="1" dirty="0">
                <a:solidFill>
                  <a:srgbClr val="8B7CF6"/>
                </a:solidFill>
                <a:latin typeface="Calibri" pitchFamily="34" charset="0"/>
                <a:ea typeface="Calibri" pitchFamily="34" charset="-122"/>
                <a:cs typeface="Calibri" pitchFamily="34" charset="-120"/>
              </a:rPr>
              <a:t>A  Fixed benchmark</a:t>
            </a:r>
            <a:endParaRPr lang="en-US" sz="1800" dirty="0"/>
          </a:p>
        </p:txBody>
      </p:sp>
      <p:sp>
        <p:nvSpPr>
          <p:cNvPr id="5" name="Col A list"/>
          <p:cNvSpPr txBox="1"/>
          <p:nvPr/>
        </p:nvSpPr>
        <p:spPr>
          <a:xfrm>
            <a:off x="640080" y="1645920"/>
            <a:ext cx="3657600" cy="3017520"/>
          </a:xfrm>
          <a:prstGeom prst="rect">
            <a:avLst/>
          </a:prstGeom>
          <a:noFill/>
          <a:ln/>
        </p:spPr>
        <p:txBody>
          <a:bodyPr wrap="square" lIns="0" tIns="0" rIns="0" bIns="0" rtlCol="0" anchor="t"/>
          <a:lstStyle/>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Conditions: </a:t>
            </a:r>
            <a:pPr indent="0" marL="0">
              <a:buNone/>
            </a:pPr>
            <a:r>
              <a:rPr lang="en-US" sz="1250" dirty="0">
                <a:solidFill>
                  <a:srgbClr val="EDEDED"/>
                </a:solidFill>
                <a:latin typeface="Calibri" pitchFamily="34" charset="0"/>
                <a:ea typeface="Calibri" pitchFamily="34" charset="-122"/>
                <a:cs typeface="Calibri" pitchFamily="34" charset="-120"/>
              </a:rPr>
              <a:t>C0 bare, C1 hand-written CLAUDE.md (the simple alternative), C2 map only, C3 full DevMemory; plus Sonnet without memory</a:t>
            </a:r>
            <a:endParaRPr lang="en-US" sz="1250" dirty="0"/>
          </a:p>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Tasks: </a:t>
            </a:r>
            <a:pPr indent="0" marL="0">
              <a:buNone/>
            </a:pPr>
            <a:r>
              <a:rPr lang="en-US" sz="1250" dirty="0">
                <a:solidFill>
                  <a:srgbClr val="EDEDED"/>
                </a:solidFill>
                <a:latin typeface="Calibri" pitchFamily="34" charset="0"/>
                <a:ea typeface="Calibri" pitchFamily="34" charset="-122"/>
                <a:cs typeface="Calibri" pitchFamily="34" charset="-120"/>
              </a:rPr>
              <a:t>8 dev tasks for tuning; 12 held-out on 2 projects (Roblox + Python), written by a separate agent, hash-frozen before tuning</a:t>
            </a:r>
            <a:endParaRPr lang="en-US" sz="1250" dirty="0"/>
          </a:p>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Graders: </a:t>
            </a:r>
            <a:pPr indent="0" marL="0">
              <a:buNone/>
            </a:pPr>
            <a:r>
              <a:rPr lang="en-US" sz="1250" dirty="0">
                <a:solidFill>
                  <a:srgbClr val="EDEDED"/>
                </a:solidFill>
                <a:latin typeface="Calibri" pitchFamily="34" charset="0"/>
                <a:ea typeface="Calibri" pitchFamily="34" charset="-122"/>
                <a:cs typeface="Calibri" pitchFamily="34" charset="-120"/>
              </a:rPr>
              <a:t>validated: unmodified project fails, reference passes</a:t>
            </a:r>
            <a:endParaRPr lang="en-US" sz="1250" dirty="0"/>
          </a:p>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Metric: </a:t>
            </a:r>
            <a:pPr indent="0" marL="0">
              <a:buNone/>
            </a:pPr>
            <a:r>
              <a:rPr lang="en-US" sz="1250" dirty="0">
                <a:solidFill>
                  <a:srgbClr val="EDEDED"/>
                </a:solidFill>
                <a:latin typeface="Calibri" pitchFamily="34" charset="0"/>
                <a:ea typeface="Calibri" pitchFamily="34" charset="-122"/>
                <a:cs typeface="Calibri" pitchFamily="34" charset="-120"/>
              </a:rPr>
              <a:t>cost per successful task at an 80% accuracy floor</a:t>
            </a:r>
            <a:endParaRPr lang="en-US" sz="1250" dirty="0"/>
          </a:p>
        </p:txBody>
      </p:sp>
      <p:sp>
        <p:nvSpPr>
          <p:cNvPr id="6" name="Multi-session panel"/>
          <p:cNvSpPr/>
          <p:nvPr/>
        </p:nvSpPr>
        <p:spPr>
          <a:xfrm>
            <a:off x="4663440" y="1097280"/>
            <a:ext cx="4023360" cy="3611880"/>
          </a:xfrm>
          <a:prstGeom prst="roundRect">
            <a:avLst>
              <a:gd name="adj" fmla="val 2532"/>
            </a:avLst>
          </a:prstGeom>
          <a:solidFill>
            <a:srgbClr val="161A22"/>
          </a:solidFill>
          <a:ln w="9525">
            <a:solidFill>
              <a:srgbClr val="232834"/>
            </a:solidFill>
            <a:prstDash val="solid"/>
          </a:ln>
        </p:spPr>
      </p:sp>
      <p:sp>
        <p:nvSpPr>
          <p:cNvPr id="7" name="Col B head"/>
          <p:cNvSpPr txBox="1"/>
          <p:nvPr/>
        </p:nvSpPr>
        <p:spPr>
          <a:xfrm>
            <a:off x="4846320" y="1207008"/>
            <a:ext cx="3657600" cy="365760"/>
          </a:xfrm>
          <a:prstGeom prst="rect">
            <a:avLst/>
          </a:prstGeom>
          <a:noFill/>
          <a:ln/>
        </p:spPr>
        <p:txBody>
          <a:bodyPr wrap="square" lIns="0" tIns="0" rIns="0" bIns="0" rtlCol="0" anchor="ctr"/>
          <a:lstStyle/>
          <a:p>
            <a:pPr indent="0" marL="0">
              <a:buNone/>
            </a:pPr>
            <a:r>
              <a:rPr lang="en-US" sz="1800" b="1" dirty="0">
                <a:solidFill>
                  <a:srgbClr val="38D6E8"/>
                </a:solidFill>
                <a:latin typeface="Calibri" pitchFamily="34" charset="0"/>
                <a:ea typeface="Calibri" pitchFamily="34" charset="-122"/>
                <a:cs typeface="Calibri" pitchFamily="34" charset="-120"/>
              </a:rPr>
              <a:t>B  Multi-session builds</a:t>
            </a:r>
            <a:endParaRPr lang="en-US" sz="1800" dirty="0"/>
          </a:p>
        </p:txBody>
      </p:sp>
      <p:sp>
        <p:nvSpPr>
          <p:cNvPr id="8" name="Col B list"/>
          <p:cNvSpPr txBox="1"/>
          <p:nvPr/>
        </p:nvSpPr>
        <p:spPr>
          <a:xfrm>
            <a:off x="4846320" y="1645920"/>
            <a:ext cx="3657600" cy="3017520"/>
          </a:xfrm>
          <a:prstGeom prst="rect">
            <a:avLst/>
          </a:prstGeom>
          <a:noFill/>
          <a:ln/>
        </p:spPr>
        <p:txBody>
          <a:bodyPr wrap="square" lIns="0" tIns="0" rIns="0" bIns="0" rtlCol="0" anchor="t"/>
          <a:lstStyle/>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Setup: </a:t>
            </a:r>
            <a:pPr indent="0" marL="0">
              <a:buNone/>
            </a:pPr>
            <a:r>
              <a:rPr lang="en-US" sz="1250" dirty="0">
                <a:solidFill>
                  <a:srgbClr val="EDEDED"/>
                </a:solidFill>
                <a:latin typeface="Calibri" pitchFamily="34" charset="0"/>
                <a:ea typeface="Calibri" pitchFamily="34" charset="-122"/>
                <a:cs typeface="Calibri" pitchFamily="34" charset="-120"/>
              </a:rPr>
              <a:t>8–16 fresh sessions building a game or web app from prompts</a:t>
            </a:r>
            <a:endParaRPr lang="en-US" sz="1250" dirty="0"/>
          </a:p>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Check: </a:t>
            </a:r>
            <a:pPr indent="0" marL="0">
              <a:buNone/>
            </a:pPr>
            <a:r>
              <a:rPr lang="en-US" sz="1250" dirty="0">
                <a:solidFill>
                  <a:srgbClr val="EDEDED"/>
                </a:solidFill>
                <a:latin typeface="Calibri" pitchFamily="34" charset="0"/>
                <a:ea typeface="Calibri" pitchFamily="34" charset="-122"/>
                <a:cs typeface="Calibri" pitchFamily="34" charset="-120"/>
              </a:rPr>
              <a:t>automated playtest after every prompt (Roblox Studio MCP / headless Chrome)</a:t>
            </a:r>
            <a:endParaRPr lang="en-US" sz="1250" dirty="0"/>
          </a:p>
          <a:p>
            <a:pPr marL="342900" indent="-342900">
              <a:spcAft>
                <a:spcPts val="800"/>
              </a:spcAft>
              <a:buSzPct val="100000"/>
              <a:buChar char="•"/>
            </a:pPr>
            <a:r>
              <a:rPr lang="en-US" sz="1250" b="1" dirty="0">
                <a:solidFill>
                  <a:srgbClr val="38D6E8"/>
                </a:solidFill>
                <a:latin typeface="Calibri" pitchFamily="34" charset="0"/>
                <a:ea typeface="Calibri" pitchFamily="34" charset="-122"/>
                <a:cs typeface="Calibri" pitchFamily="34" charset="-120"/>
              </a:rPr>
              <a:t>Next prompt: </a:t>
            </a:r>
            <a:pPr indent="0" marL="0">
              <a:buNone/>
            </a:pPr>
            <a:r>
              <a:rPr lang="en-US" sz="1250" dirty="0">
                <a:solidFill>
                  <a:srgbClr val="EDEDED"/>
                </a:solidFill>
                <a:latin typeface="Calibri" pitchFamily="34" charset="0"/>
                <a:ea typeface="Calibri" pitchFamily="34" charset="-122"/>
                <a:cs typeface="Calibri" pitchFamily="34" charset="-120"/>
              </a:rPr>
              <a:t>chosen by a fixed rule: bug report from failed checks, else next feature</a:t>
            </a:r>
            <a:endParaRPr lang="en-US" sz="125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Held-out results: only C3 clears the 80% floor</a:t>
            </a:r>
            <a:endParaRPr lang="en-US" sz="3200" dirty="0"/>
          </a:p>
        </p:txBody>
      </p:sp>
      <p:graphicFrame>
        <p:nvGraphicFramePr>
          <p:cNvPr id="3" name="Pass rate on 12 unseen tasks (%)" descr=""/>
          <p:cNvGraphicFramePr/>
          <p:nvPr/>
        </p:nvGraphicFramePr>
        <p:xfrm>
          <a:off x="365760" y="1143000"/>
          <a:ext cx="4572000" cy="3200400"/>
        </p:xfrm>
        <a:graphic xmlns:a="http://schemas.openxmlformats.org/drawingml/2006/main">
          <a:graphicData uri="http://schemas.openxmlformats.org/drawingml/2006/chart">
            <c:chart xmlns:c="http://schemas.openxmlformats.org/drawingml/2006/chart" r:id="rId1"/>
          </a:graphicData>
        </a:graphic>
      </p:graphicFrame>
      <p:sp>
        <p:nvSpPr>
          <p:cNvPr id="4" name="Floor note"/>
          <p:cNvSpPr txBox="1"/>
          <p:nvPr/>
        </p:nvSpPr>
        <p:spPr>
          <a:xfrm>
            <a:off x="457200" y="4389120"/>
            <a:ext cx="4389120" cy="274320"/>
          </a:xfrm>
          <a:prstGeom prst="rect">
            <a:avLst/>
          </a:prstGeom>
          <a:noFill/>
          <a:ln/>
        </p:spPr>
        <p:txBody>
          <a:bodyPr wrap="square" lIns="0" tIns="0" rIns="0" bIns="0" rtlCol="0" anchor="ctr"/>
          <a:lstStyle/>
          <a:p>
            <a:pPr indent="0" marL="0">
              <a:buNone/>
            </a:pPr>
            <a:r>
              <a:rPr lang="en-US" sz="1300" dirty="0">
                <a:solidFill>
                  <a:srgbClr val="F5A524"/>
                </a:solidFill>
                <a:latin typeface="Calibri" pitchFamily="34" charset="0"/>
                <a:ea typeface="Calibri" pitchFamily="34" charset="-122"/>
                <a:cs typeface="Calibri" pitchFamily="34" charset="-120"/>
              </a:rPr>
              <a:t>Accuracy floor: 80%. Only C3 DevMemory (86%) is above it.</a:t>
            </a:r>
            <a:endParaRPr lang="en-US" sz="1300" dirty="0"/>
          </a:p>
        </p:txBody>
      </p:sp>
      <p:graphicFrame>
        <p:nvGraphicFramePr>
          <p:cNvPr id="5" name="Cost per successful task (US$, list price)" descr=""/>
          <p:cNvGraphicFramePr/>
          <p:nvPr/>
        </p:nvGraphicFramePr>
        <p:xfrm>
          <a:off x="5029200" y="1143000"/>
          <a:ext cx="3749040" cy="2468880"/>
        </p:xfrm>
        <a:graphic xmlns:a="http://schemas.openxmlformats.org/drawingml/2006/main">
          <a:graphicData uri="http://schemas.openxmlformats.org/drawingml/2006/chart">
            <c:chart xmlns:c="http://schemas.openxmlformats.org/drawingml/2006/chart" r:id="rId2"/>
          </a:graphicData>
        </a:graphic>
      </p:graphicFrame>
      <p:sp>
        <p:nvSpPr>
          <p:cNvPr id="6" name="Sonnet callout"/>
          <p:cNvSpPr/>
          <p:nvPr/>
        </p:nvSpPr>
        <p:spPr>
          <a:xfrm>
            <a:off x="5120640" y="3703320"/>
            <a:ext cx="3566160" cy="960120"/>
          </a:xfrm>
          <a:prstGeom prst="roundRect">
            <a:avLst>
              <a:gd name="adj" fmla="val 9524"/>
            </a:avLst>
          </a:prstGeom>
          <a:solidFill>
            <a:srgbClr val="161A22"/>
          </a:solidFill>
          <a:ln w="9525">
            <a:solidFill>
              <a:srgbClr val="232834"/>
            </a:solidFill>
            <a:prstDash val="solid"/>
          </a:ln>
        </p:spPr>
      </p:sp>
      <p:sp>
        <p:nvSpPr>
          <p:cNvPr id="7" name="Sonnet callout text"/>
          <p:cNvSpPr txBox="1"/>
          <p:nvPr/>
        </p:nvSpPr>
        <p:spPr>
          <a:xfrm>
            <a:off x="5303520" y="3767328"/>
            <a:ext cx="3291840" cy="822960"/>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Sonnet without memory: $0.092</a:t>
            </a:r>
            <a:endParaRPr lang="en-US" sz="1500" dirty="0"/>
          </a:p>
          <a:p>
            <a:pPr indent="0" marL="0">
              <a:buNone/>
            </a:pPr>
            <a:r>
              <a:rPr lang="en-US" sz="1200" dirty="0">
                <a:solidFill>
                  <a:srgbClr val="9AA0AA"/>
                </a:solidFill>
                <a:latin typeface="Calibri" pitchFamily="34" charset="0"/>
                <a:ea typeface="Calibri" pitchFamily="34" charset="-122"/>
                <a:cs typeface="Calibri" pitchFamily="34" charset="-120"/>
              </a:rPr>
              <a:t>11× more per success, and still under the floor (75%)</a:t>
            </a:r>
            <a:endParaRPr lang="en-US" sz="15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Multi-session builds: about half the tokens</a:t>
            </a:r>
            <a:endParaRPr lang="en-US" sz="3200" dirty="0"/>
          </a:p>
        </p:txBody>
      </p:sp>
      <p:graphicFrame>
        <p:nvGraphicFramePr>
          <p:cNvPr id="3" name="Input tokens, same game (M, 16 sessions)" descr=""/>
          <p:cNvGraphicFramePr/>
          <p:nvPr/>
        </p:nvGraphicFramePr>
        <p:xfrm>
          <a:off x="365760" y="1097280"/>
          <a:ext cx="420624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Build stats table"/>
          <p:cNvGraphicFramePr>
            <a:graphicFrameLocks noGrp="1"/>
          </p:cNvGraphicFramePr>
          <p:nvPr>
            <p:extLst>
              <p:ext uri="{D42A27DB-BD31-4B8C-83A1-F6EECF244321}">
                <p14:modId xmlns:p14="http://schemas.microsoft.com/office/powerpoint/2010/main" val="1579011935"/>
              </p:ext>
            </p:extLst>
          </p:nvPr>
        </p:nvGraphicFramePr>
        <p:xfrm>
          <a:off x="457200" y="3566160"/>
          <a:ext cx="4114800" cy="914400"/>
        </p:xfrm>
        <a:graphic>
          <a:graphicData uri="http://schemas.openxmlformats.org/drawingml/2006/table">
            <a:tbl>
              <a:tblPr/>
              <a:tblGrid>
                <a:gridCol w="1371600"/>
                <a:gridCol w="731520"/>
                <a:gridCol w="1005840"/>
                <a:gridCol w="1005840"/>
              </a:tblGrid>
              <a:tr h="274320">
                <a:tc>
                  <a:txBody>
                    <a:bodyPr/>
                    <a:lstStyle/>
                    <a:p>
                      <a:pPr algn="l" indent="0" marL="0">
                        <a:buNone/>
                      </a:pP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200" b="1" dirty="0">
                          <a:solidFill>
                            <a:srgbClr val="9AA0AA"/>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200" b="1" dirty="0">
                          <a:solidFill>
                            <a:srgbClr val="9AA0AA"/>
                          </a:solidFill>
                          <a:latin typeface="Calibri" pitchFamily="34" charset="0"/>
                          <a:ea typeface="Calibri" pitchFamily="34" charset="-122"/>
                          <a:cs typeface="Calibri" pitchFamily="34" charset="-120"/>
                        </a:rPr>
                        <a:t>AGENTS.md</a:t>
                      </a: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200" b="1" dirty="0">
                          <a:solidFill>
                            <a:srgbClr val="8B7CF6"/>
                          </a:solidFill>
                          <a:latin typeface="Calibri" pitchFamily="34" charset="0"/>
                          <a:ea typeface="Calibri" pitchFamily="34" charset="-122"/>
                          <a:cs typeface="Calibri" pitchFamily="34" charset="-120"/>
                        </a:rPr>
                        <a:t>DevMemory</a:t>
                      </a: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r>
              <a:tr h="274320">
                <a:tc>
                  <a:txBody>
                    <a:bodyPr/>
                    <a:lstStyle/>
                    <a:p>
                      <a:pPr indent="0" marL="0">
                        <a:buNone/>
                      </a:pPr>
                      <a:r>
                        <a:rPr lang="en-US" sz="1200" dirty="0">
                          <a:solidFill>
                            <a:srgbClr val="EDEDED"/>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dirty="0">
                          <a:solidFill>
                            <a:srgbClr val="EDEDED"/>
                          </a:solidFill>
                          <a:latin typeface="Calibri" pitchFamily="34" charset="0"/>
                          <a:ea typeface="Calibri" pitchFamily="34" charset="-122"/>
                          <a:cs typeface="Calibri" pitchFamily="34" charset="-120"/>
                        </a:rPr>
                        <a:t>$3.41</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dirty="0">
                          <a:solidFill>
                            <a:srgbClr val="EDEDED"/>
                          </a:solidFill>
                          <a:latin typeface="Calibri" pitchFamily="34" charset="0"/>
                          <a:ea typeface="Calibri" pitchFamily="34" charset="-122"/>
                          <a:cs typeface="Calibri" pitchFamily="34" charset="-120"/>
                        </a:rPr>
                        <a:t>$2.88</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b="1" dirty="0">
                          <a:solidFill>
                            <a:srgbClr val="8B7CF6"/>
                          </a:solidFill>
                          <a:latin typeface="Calibri" pitchFamily="34" charset="0"/>
                          <a:ea typeface="Calibri" pitchFamily="34" charset="-122"/>
                          <a:cs typeface="Calibri" pitchFamily="34" charset="-120"/>
                        </a:rPr>
                        <a:t>$2.48</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r>
              <a:tr h="274320">
                <a:tc>
                  <a:txBody>
                    <a:bodyPr/>
                    <a:lstStyle/>
                    <a:p>
                      <a:pPr indent="0" marL="0">
                        <a:buNone/>
                      </a:pPr>
                      <a:r>
                        <a:rPr lang="en-US" sz="1200" dirty="0">
                          <a:solidFill>
                            <a:srgbClr val="EDEDED"/>
                          </a:solidFill>
                          <a:latin typeface="Calibri" pitchFamily="34" charset="0"/>
                          <a:ea typeface="Calibri" pitchFamily="34" charset="-122"/>
                          <a:cs typeface="Calibri" pitchFamily="34" charset="-120"/>
                        </a:rPr>
                        <a:t>Features (of 10)</a:t>
                      </a:r>
                      <a:endParaRPr lang="en-US" sz="12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dirty="0">
                          <a:solidFill>
                            <a:srgbClr val="EDEDED"/>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dirty="0">
                          <a:solidFill>
                            <a:srgbClr val="EDEDED"/>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c>
                  <a:txBody>
                    <a:bodyPr/>
                    <a:lstStyle/>
                    <a:p>
                      <a:pPr algn="ctr" indent="0" marL="0">
                        <a:buNone/>
                      </a:pPr>
                      <a:r>
                        <a:rPr lang="en-US" sz="1300" b="1" dirty="0">
                          <a:solidFill>
                            <a:srgbClr val="8B7CF6"/>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lnL w="9525" cap="flat" cmpd="sng" algn="ctr">
                      <a:solidFill>
                        <a:srgbClr val="232834"/>
                      </a:solidFill>
                      <a:prstDash val="solid"/>
                      <a:round/>
                      <a:headEnd type="none" w="med" len="med"/>
                      <a:tailEnd type="none" w="med" len="med"/>
                    </a:lnL>
                    <a:lnR w="9525" cap="flat" cmpd="sng" algn="ctr">
                      <a:solidFill>
                        <a:srgbClr val="232834"/>
                      </a:solidFill>
                      <a:prstDash val="solid"/>
                      <a:round/>
                      <a:headEnd type="none" w="med" len="med"/>
                      <a:tailEnd type="none" w="med" len="med"/>
                    </a:lnR>
                    <a:lnT w="9525" cap="flat" cmpd="sng" algn="ctr">
                      <a:solidFill>
                        <a:srgbClr val="232834"/>
                      </a:solidFill>
                      <a:prstDash val="solid"/>
                      <a:round/>
                      <a:headEnd type="none" w="med" len="med"/>
                      <a:tailEnd type="none" w="med" len="med"/>
                    </a:lnT>
                    <a:lnB w="9525" cap="flat" cmpd="sng" algn="ctr">
                      <a:solidFill>
                        <a:srgbClr val="232834"/>
                      </a:solidFill>
                      <a:prstDash val="solid"/>
                      <a:round/>
                      <a:headEnd type="none" w="med" len="med"/>
                      <a:tailEnd type="none" w="med" len="med"/>
                    </a:lnB>
                    <a:solidFill>
                      <a:srgbClr val="161A22"/>
                    </a:solidFill>
                  </a:tcPr>
                </a:tc>
              </a:tr>
            </a:tbl>
          </a:graphicData>
        </a:graphic>
      </p:graphicFrame>
      <p:sp>
        <p:nvSpPr>
          <p:cNvPr id="5" name="Scripted note"/>
          <p:cNvSpPr txBox="1"/>
          <p:nvPr/>
        </p:nvSpPr>
        <p:spPr>
          <a:xfrm>
            <a:off x="4846320" y="1143000"/>
            <a:ext cx="3840480" cy="914400"/>
          </a:xfrm>
          <a:prstGeom prst="rect">
            <a:avLst/>
          </a:prstGeom>
          <a:noFill/>
          <a:ln/>
        </p:spPr>
        <p:txBody>
          <a:bodyPr wrap="square" lIns="0" tIns="0" rIns="0" bIns="0" rtlCol="0" anchor="t"/>
          <a:lstStyle/>
          <a:p>
            <a:pPr indent="0" marL="0">
              <a:buNone/>
            </a:pPr>
            <a:r>
              <a:rPr lang="en-US" sz="1400" b="1" dirty="0">
                <a:solidFill>
                  <a:srgbClr val="38D6E8"/>
                </a:solidFill>
                <a:latin typeface="Calibri" pitchFamily="34" charset="0"/>
                <a:ea typeface="Calibri" pitchFamily="34" charset="-122"/>
                <a:cs typeface="Calibri" pitchFamily="34" charset="-120"/>
              </a:rPr>
              <a:t>Scripted 8-prompt build</a:t>
            </a:r>
            <a:endParaRPr lang="en-US" sz="1400" dirty="0"/>
          </a:p>
          <a:p>
            <a:pPr indent="0" marL="0">
              <a:buNone/>
            </a:pPr>
            <a:r>
              <a:rPr lang="en-US" sz="1200" dirty="0">
                <a:solidFill>
                  <a:srgbClr val="9AA0AA"/>
                </a:solidFill>
                <a:latin typeface="Calibri" pitchFamily="34" charset="0"/>
                <a:ea typeface="Calibri" pitchFamily="34" charset="-122"/>
                <a:cs typeface="Calibri" pitchFamily="34" charset="-120"/>
              </a:rPr>
              <a:t>DevMemory 0.61M tokens vs 1.06M / 1.20M. The AGENTS.md build crashed in Studio.</a:t>
            </a:r>
            <a:endParaRPr lang="en-US" sz="1400" dirty="0"/>
          </a:p>
        </p:txBody>
      </p:sp>
      <p:sp>
        <p:nvSpPr>
          <p:cNvPr id="6" name="Game built with DevMemory-assisted sessions frame"/>
          <p:cNvSpPr/>
          <p:nvPr/>
        </p:nvSpPr>
        <p:spPr>
          <a:xfrm>
            <a:off x="4800600" y="2206345"/>
            <a:ext cx="3931920" cy="1439470"/>
          </a:xfrm>
          <a:prstGeom prst="roundRect">
            <a:avLst>
              <a:gd name="adj" fmla="val 5082"/>
            </a:avLst>
          </a:prstGeom>
          <a:solidFill>
            <a:srgbClr val="161A22"/>
          </a:solidFill>
          <a:ln w="9525">
            <a:solidFill>
              <a:srgbClr val="5A606B"/>
            </a:solidFill>
            <a:prstDash val="solid"/>
          </a:ln>
        </p:spPr>
      </p:sp>
      <p:pic>
        <p:nvPicPr>
          <p:cNvPr id="7" name="Game built with DevMemory-assisted sessions" descr="Game built with DevMemory-assisted sessions">    </p:cNvPr>
          <p:cNvPicPr>
            <a:picLocks noChangeAspect="1"/>
          </p:cNvPicPr>
          <p:nvPr/>
        </p:nvPicPr>
        <p:blipFill>
          <a:blip r:embed="rId2"/>
          <a:stretch>
            <a:fillRect/>
          </a:stretch>
        </p:blipFill>
        <p:spPr>
          <a:xfrm>
            <a:off x="4846320" y="2252065"/>
            <a:ext cx="3840480" cy="1348030"/>
          </a:xfrm>
          <a:prstGeom prst="rect">
            <a:avLst/>
          </a:prstGeom>
        </p:spPr>
      </p:pic>
      <p:sp>
        <p:nvSpPr>
          <p:cNvPr id="8" name="Caption"/>
          <p:cNvSpPr txBox="1"/>
          <p:nvPr/>
        </p:nvSpPr>
        <p:spPr>
          <a:xfrm>
            <a:off x="4846320" y="3794760"/>
            <a:ext cx="3840480" cy="365760"/>
          </a:xfrm>
          <a:prstGeom prst="rect">
            <a:avLst/>
          </a:prstGeom>
          <a:noFill/>
          <a:ln/>
        </p:spPr>
        <p:txBody>
          <a:bodyPr wrap="square" lIns="0" tIns="0" rIns="0" bIns="0" rtlCol="0" anchor="ctr"/>
          <a:lstStyle/>
          <a:p>
            <a:pPr indent="0" marL="0">
              <a:buNone/>
            </a:pPr>
            <a:r>
              <a:rPr lang="en-US" sz="1100" dirty="0">
                <a:solidFill>
                  <a:srgbClr val="9AA0AA"/>
                </a:solidFill>
                <a:latin typeface="Calibri" pitchFamily="34" charset="0"/>
                <a:ea typeface="Calibri" pitchFamily="34" charset="-122"/>
                <a:cs typeface="Calibri" pitchFamily="34" charset="-120"/>
              </a:rPr>
              <a:t>Game built by DevMemory-assisted sessions (graveyard arena)</a:t>
            </a:r>
            <a:endParaRPr lang="en-US" sz="11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What failed, and what we changed</a:t>
            </a:r>
            <a:endParaRPr lang="en-US" sz="3200" dirty="0"/>
          </a:p>
        </p:txBody>
      </p:sp>
      <p:sp>
        <p:nvSpPr>
          <p:cNvPr id="3" name="Round 1 loss panel"/>
          <p:cNvSpPr/>
          <p:nvPr/>
        </p:nvSpPr>
        <p:spPr>
          <a:xfrm>
            <a:off x="457200" y="1097280"/>
            <a:ext cx="4114800" cy="1874520"/>
          </a:xfrm>
          <a:prstGeom prst="roundRect">
            <a:avLst>
              <a:gd name="adj" fmla="val 4878"/>
            </a:avLst>
          </a:prstGeom>
          <a:solidFill>
            <a:srgbClr val="161A22"/>
          </a:solidFill>
          <a:ln w="9525">
            <a:solidFill>
              <a:srgbClr val="232834"/>
            </a:solidFill>
            <a:prstDash val="solid"/>
          </a:ln>
        </p:spPr>
      </p:sp>
      <p:sp>
        <p:nvSpPr>
          <p:cNvPr id="4" name="Loss head"/>
          <p:cNvSpPr txBox="1"/>
          <p:nvPr/>
        </p:nvSpPr>
        <p:spPr>
          <a:xfrm>
            <a:off x="640080" y="1188720"/>
            <a:ext cx="3749040" cy="320040"/>
          </a:xfrm>
          <a:prstGeom prst="rect">
            <a:avLst/>
          </a:prstGeom>
          <a:noFill/>
          <a:ln/>
        </p:spPr>
        <p:txBody>
          <a:bodyPr wrap="square" lIns="0" tIns="0" rIns="0" bIns="0" rtlCol="0" anchor="ctr"/>
          <a:lstStyle/>
          <a:p>
            <a:pPr indent="0" marL="0">
              <a:buNone/>
            </a:pPr>
            <a:r>
              <a:rPr lang="en-US" sz="1600" b="1" dirty="0">
                <a:solidFill>
                  <a:srgbClr val="E5484D"/>
                </a:solidFill>
                <a:latin typeface="Calibri" pitchFamily="34" charset="0"/>
                <a:ea typeface="Calibri" pitchFamily="34" charset="-122"/>
                <a:cs typeface="Calibri" pitchFamily="34" charset="-120"/>
              </a:rPr>
              <a:t>Web-app race, round 1: we lost</a:t>
            </a:r>
            <a:endParaRPr lang="en-US" sz="1600" dirty="0"/>
          </a:p>
        </p:txBody>
      </p:sp>
      <p:sp>
        <p:nvSpPr>
          <p:cNvPr id="5" name="Loss text"/>
          <p:cNvSpPr txBox="1"/>
          <p:nvPr/>
        </p:nvSpPr>
        <p:spPr>
          <a:xfrm>
            <a:off x="640080" y="1554480"/>
            <a:ext cx="3749040" cy="1371600"/>
          </a:xfrm>
          <a:prstGeom prst="rect">
            <a:avLst/>
          </a:prstGeom>
          <a:noFill/>
          <a:ln/>
        </p:spPr>
        <p:txBody>
          <a:bodyPr wrap="square" lIns="0" tIns="0" rIns="0" bIns="0" rtlCol="0" anchor="t"/>
          <a:lstStyle/>
          <a:p>
            <a:pPr indent="0" marL="0">
              <a:buNone/>
            </a:pPr>
            <a:r>
              <a:rPr lang="en-US" sz="1400" dirty="0">
                <a:solidFill>
                  <a:srgbClr val="EDEDED"/>
                </a:solidFill>
                <a:latin typeface="Calibri" pitchFamily="34" charset="0"/>
                <a:ea typeface="Calibri" pitchFamily="34" charset="-122"/>
                <a:cs typeface="Calibri" pitchFamily="34" charset="-120"/>
              </a:rPr>
              <a:t>DevMemory 3/8 features vs 8/8. The bug report never repeated the label colors, and the pack did not carry the session where the user specified them. Fix: origin lineage + verbatim requirement memory.</a:t>
            </a:r>
            <a:endParaRPr lang="en-US" sz="1400" dirty="0"/>
          </a:p>
        </p:txBody>
      </p:sp>
      <p:sp>
        <p:nvSpPr>
          <p:cNvPr id="6" name="Round 2 panel"/>
          <p:cNvSpPr/>
          <p:nvPr/>
        </p:nvSpPr>
        <p:spPr>
          <a:xfrm>
            <a:off x="457200" y="3108960"/>
            <a:ext cx="4114800" cy="777240"/>
          </a:xfrm>
          <a:prstGeom prst="roundRect">
            <a:avLst>
              <a:gd name="adj" fmla="val 11765"/>
            </a:avLst>
          </a:prstGeom>
          <a:solidFill>
            <a:srgbClr val="161A22"/>
          </a:solidFill>
          <a:ln w="9525">
            <a:solidFill>
              <a:srgbClr val="232834"/>
            </a:solidFill>
            <a:prstDash val="solid"/>
          </a:ln>
        </p:spPr>
      </p:sp>
      <p:sp>
        <p:nvSpPr>
          <p:cNvPr id="7" name="Round 2"/>
          <p:cNvSpPr txBox="1"/>
          <p:nvPr/>
        </p:nvSpPr>
        <p:spPr>
          <a:xfrm>
            <a:off x="640080" y="3154680"/>
            <a:ext cx="3749040" cy="685800"/>
          </a:xfrm>
          <a:prstGeom prst="rect">
            <a:avLst/>
          </a:prstGeom>
          <a:noFill/>
          <a:ln/>
        </p:spPr>
        <p:txBody>
          <a:bodyPr wrap="square" lIns="0" tIns="0" rIns="0" bIns="0" rtlCol="0" anchor="ctr"/>
          <a:lstStyle/>
          <a:p>
            <a:pPr indent="0" marL="0">
              <a:buNone/>
            </a:pPr>
            <a:r>
              <a:rPr lang="en-US" sz="1300" b="1" dirty="0">
                <a:solidFill>
                  <a:srgbClr val="F5A524"/>
                </a:solidFill>
                <a:latin typeface="Calibri" pitchFamily="34" charset="0"/>
                <a:ea typeface="Calibri" pitchFamily="34" charset="-122"/>
                <a:cs typeface="Calibri" pitchFamily="34" charset="-120"/>
              </a:rPr>
              <a:t>Status: </a:t>
            </a:r>
            <a:pPr indent="0" marL="0">
              <a:buNone/>
            </a:pPr>
            <a:r>
              <a:rPr lang="en-US" sz="1300" dirty="0">
                <a:solidFill>
                  <a:srgbClr val="EDEDED"/>
                </a:solidFill>
                <a:latin typeface="Calibri" pitchFamily="34" charset="0"/>
                <a:ea typeface="Calibri" pitchFamily="34" charset="-122"/>
                <a:cs typeface="Calibri" pitchFamily="34" charset="-120"/>
              </a:rPr>
              <a:t>Round 2 (fixed retrieval) is running — result to be added</a:t>
            </a:r>
            <a:endParaRPr lang="en-US" sz="1300" dirty="0"/>
          </a:p>
        </p:txBody>
      </p:sp>
      <p:sp>
        <p:nvSpPr>
          <p:cNvPr id="8" name="Python note"/>
          <p:cNvSpPr txBox="1"/>
          <p:nvPr/>
        </p:nvSpPr>
        <p:spPr>
          <a:xfrm>
            <a:off x="457200" y="4023360"/>
            <a:ext cx="4114800" cy="685800"/>
          </a:xfrm>
          <a:prstGeom prst="rect">
            <a:avLst/>
          </a:prstGeom>
          <a:noFill/>
          <a:ln/>
        </p:spPr>
        <p:txBody>
          <a:bodyPr wrap="square" lIns="0" tIns="0" rIns="0" bIns="0" rtlCol="0" anchor="t"/>
          <a:lstStyle/>
          <a:p>
            <a:pPr indent="0" marL="0">
              <a:buNone/>
            </a:pPr>
            <a:r>
              <a:rPr lang="en-US" sz="1250" b="1" dirty="0">
                <a:solidFill>
                  <a:srgbClr val="38D6E8"/>
                </a:solidFill>
                <a:latin typeface="Calibri" pitchFamily="34" charset="0"/>
                <a:ea typeface="Calibri" pitchFamily="34" charset="-122"/>
                <a:cs typeface="Calibri" pitchFamily="34" charset="-120"/>
              </a:rPr>
              <a:t>Also: </a:t>
            </a:r>
            <a:pPr indent="0" marL="0">
              <a:buNone/>
            </a:pPr>
            <a:r>
              <a:rPr lang="en-US" sz="1250" dirty="0">
                <a:solidFill>
                  <a:srgbClr val="EDEDED"/>
                </a:solidFill>
                <a:latin typeface="Calibri" pitchFamily="34" charset="0"/>
                <a:ea typeface="Calibri" pitchFamily="34" charset="-122"/>
                <a:cs typeface="Calibri" pitchFamily="34" charset="-120"/>
              </a:rPr>
              <a:t>On the Python held-out project the hand-written file matched DevMemory (20 vs 19 of 24).</a:t>
            </a:r>
            <a:endParaRPr lang="en-US" sz="1250" dirty="0"/>
          </a:p>
        </p:txBody>
      </p:sp>
      <p:sp>
        <p:nvSpPr>
          <p:cNvPr id="9" name="AGENTS.md build, broken frame"/>
          <p:cNvSpPr/>
          <p:nvPr/>
        </p:nvSpPr>
        <p:spPr>
          <a:xfrm>
            <a:off x="4754880" y="1078181"/>
            <a:ext cx="3977640" cy="1455518"/>
          </a:xfrm>
          <a:prstGeom prst="roundRect">
            <a:avLst>
              <a:gd name="adj" fmla="val 5026"/>
            </a:avLst>
          </a:prstGeom>
          <a:solidFill>
            <a:srgbClr val="161A22"/>
          </a:solidFill>
          <a:ln w="9525">
            <a:solidFill>
              <a:srgbClr val="5A606B"/>
            </a:solidFill>
            <a:prstDash val="solid"/>
          </a:ln>
        </p:spPr>
      </p:sp>
      <p:pic>
        <p:nvPicPr>
          <p:cNvPr id="10" name="AGENTS.md build, broken" descr="AGENTS.md build, broken">    </p:cNvPr>
          <p:cNvPicPr>
            <a:picLocks noChangeAspect="1"/>
          </p:cNvPicPr>
          <p:nvPr/>
        </p:nvPicPr>
        <p:blipFill>
          <a:blip r:embed="rId1"/>
          <a:stretch>
            <a:fillRect/>
          </a:stretch>
        </p:blipFill>
        <p:spPr>
          <a:xfrm>
            <a:off x="4800600" y="1123901"/>
            <a:ext cx="3886200" cy="1364078"/>
          </a:xfrm>
          <a:prstGeom prst="rect">
            <a:avLst/>
          </a:prstGeom>
        </p:spPr>
      </p:pic>
      <p:sp>
        <p:nvSpPr>
          <p:cNvPr id="11" name="Agents caption"/>
          <p:cNvSpPr txBox="1"/>
          <p:nvPr/>
        </p:nvSpPr>
        <p:spPr>
          <a:xfrm>
            <a:off x="4800600" y="2606040"/>
            <a:ext cx="3886200" cy="640080"/>
          </a:xfrm>
          <a:prstGeom prst="rect">
            <a:avLst/>
          </a:prstGeom>
          <a:noFill/>
          <a:ln/>
        </p:spPr>
        <p:txBody>
          <a:bodyPr wrap="square" lIns="0" tIns="0" rIns="0" bIns="0" rtlCol="0" anchor="t"/>
          <a:lstStyle/>
          <a:p>
            <a:pPr indent="0" marL="0">
              <a:buNone/>
            </a:pPr>
            <a:r>
              <a:rPr lang="en-US" sz="1250" dirty="0">
                <a:solidFill>
                  <a:srgbClr val="EDEDED"/>
                </a:solidFill>
                <a:latin typeface="Calibri" pitchFamily="34" charset="0"/>
                <a:ea typeface="Calibri" pitchFamily="34" charset="-122"/>
                <a:cs typeface="Calibri" pitchFamily="34" charset="-120"/>
              </a:rPr>
              <a:t>AGENTS.md build passed every static check, yet shows WAVE 0 and no blades. The playtest gate matters.</a:t>
            </a:r>
            <a:endParaRPr lang="en-US" sz="1250" dirty="0"/>
          </a:p>
        </p:txBody>
      </p:sp>
      <p:sp>
        <p:nvSpPr>
          <p:cNvPr id="12" name="Limitations panel"/>
          <p:cNvSpPr/>
          <p:nvPr/>
        </p:nvSpPr>
        <p:spPr>
          <a:xfrm>
            <a:off x="4800600" y="3337560"/>
            <a:ext cx="3886200" cy="1371600"/>
          </a:xfrm>
          <a:prstGeom prst="roundRect">
            <a:avLst>
              <a:gd name="adj" fmla="val 6667"/>
            </a:avLst>
          </a:prstGeom>
          <a:solidFill>
            <a:srgbClr val="161A22"/>
          </a:solidFill>
          <a:ln w="9525">
            <a:solidFill>
              <a:srgbClr val="232834"/>
            </a:solidFill>
            <a:prstDash val="solid"/>
          </a:ln>
        </p:spPr>
      </p:sp>
      <p:sp>
        <p:nvSpPr>
          <p:cNvPr id="13" name="Limits head"/>
          <p:cNvSpPr txBox="1"/>
          <p:nvPr/>
        </p:nvSpPr>
        <p:spPr>
          <a:xfrm>
            <a:off x="4983480" y="3401568"/>
            <a:ext cx="3566160" cy="274320"/>
          </a:xfrm>
          <a:prstGeom prst="rect">
            <a:avLst/>
          </a:prstGeom>
          <a:noFill/>
          <a:ln/>
        </p:spPr>
        <p:txBody>
          <a:bodyPr wrap="square" lIns="0" tIns="0" rIns="0" bIns="0" rtlCol="0" anchor="ctr"/>
          <a:lstStyle/>
          <a:p>
            <a:pPr indent="0" marL="0">
              <a:buNone/>
            </a:pPr>
            <a:r>
              <a:rPr lang="en-US" sz="1300" b="1" dirty="0">
                <a:solidFill>
                  <a:srgbClr val="F5A524"/>
                </a:solidFill>
                <a:latin typeface="Calibri" pitchFamily="34" charset="0"/>
                <a:ea typeface="Calibri" pitchFamily="34" charset="-122"/>
                <a:cs typeface="Calibri" pitchFamily="34" charset="-120"/>
              </a:rPr>
              <a:t>Limitations (all disclosed in RESULTS.md)</a:t>
            </a:r>
            <a:endParaRPr lang="en-US" sz="1300" dirty="0"/>
          </a:p>
        </p:txBody>
      </p:sp>
      <p:sp>
        <p:nvSpPr>
          <p:cNvPr id="14" name="Limits list"/>
          <p:cNvSpPr txBox="1"/>
          <p:nvPr/>
        </p:nvSpPr>
        <p:spPr>
          <a:xfrm>
            <a:off x="4983480" y="3703320"/>
            <a:ext cx="3566160" cy="9144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EDEDED"/>
                </a:solidFill>
                <a:latin typeface="Calibri" pitchFamily="34" charset="0"/>
                <a:ea typeface="Calibri" pitchFamily="34" charset="-122"/>
                <a:cs typeface="Calibri" pitchFamily="34" charset="-120"/>
              </a:rPr>
              <a:t>Synthetic projects</a:t>
            </a:r>
            <a:endParaRPr lang="en-US" sz="1200" dirty="0"/>
          </a:p>
          <a:p>
            <a:pPr marL="342900" indent="-342900">
              <a:spcAft>
                <a:spcPts val="800"/>
              </a:spcAft>
              <a:buSzPct val="100000"/>
              <a:buChar char="•"/>
            </a:pPr>
            <a:r>
              <a:rPr lang="en-US" sz="1200" dirty="0">
                <a:solidFill>
                  <a:srgbClr val="EDEDED"/>
                </a:solidFill>
                <a:latin typeface="Calibri" pitchFamily="34" charset="0"/>
                <a:ea typeface="Calibri" pitchFamily="34" charset="-122"/>
                <a:cs typeface="Calibri" pitchFamily="34" charset="-120"/>
              </a:rPr>
              <a:t>One run per multi-session condition</a:t>
            </a:r>
            <a:endParaRPr lang="en-US" sz="1200" dirty="0"/>
          </a:p>
          <a:p>
            <a:pPr marL="342900" indent="-342900">
              <a:spcAft>
                <a:spcPts val="800"/>
              </a:spcAft>
              <a:buSzPct val="100000"/>
              <a:buChar char="•"/>
            </a:pPr>
            <a:r>
              <a:rPr lang="en-US" sz="1200" dirty="0">
                <a:solidFill>
                  <a:srgbClr val="EDEDED"/>
                </a:solidFill>
                <a:latin typeface="Calibri" pitchFamily="34" charset="0"/>
                <a:ea typeface="Calibri" pitchFamily="34" charset="-122"/>
                <a:cs typeface="Calibri" pitchFamily="34" charset="-120"/>
              </a:rPr>
              <a:t>Playtest protocol revised during the race</a:t>
            </a:r>
            <a:endParaRPr lang="en-US" sz="12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200" b="1" dirty="0">
                <a:solidFill>
                  <a:srgbClr val="EDEDED"/>
                </a:solidFill>
                <a:latin typeface="Calibri" pitchFamily="34" charset="0"/>
                <a:ea typeface="Calibri" pitchFamily="34" charset="-122"/>
                <a:cs typeface="Calibri" pitchFamily="34" charset="-120"/>
              </a:rPr>
              <a:t>Less compute, same or better results</a:t>
            </a:r>
            <a:endParaRPr lang="en-US" sz="3200" dirty="0"/>
          </a:p>
        </p:txBody>
      </p:sp>
      <p:sp>
        <p:nvSpPr>
          <p:cNvPr id="3" name="Takeaway card 1"/>
          <p:cNvSpPr/>
          <p:nvPr/>
        </p:nvSpPr>
        <p:spPr>
          <a:xfrm>
            <a:off x="457200" y="1097280"/>
            <a:ext cx="2606040" cy="1417320"/>
          </a:xfrm>
          <a:prstGeom prst="roundRect">
            <a:avLst>
              <a:gd name="adj" fmla="val 6452"/>
            </a:avLst>
          </a:prstGeom>
          <a:solidFill>
            <a:srgbClr val="161A22"/>
          </a:solidFill>
          <a:ln w="9525">
            <a:solidFill>
              <a:srgbClr val="232834"/>
            </a:solidFill>
            <a:prstDash val="solid"/>
          </a:ln>
        </p:spPr>
      </p:sp>
      <p:sp>
        <p:nvSpPr>
          <p:cNvPr id="4" name="Takeaway 1"/>
          <p:cNvSpPr txBox="1"/>
          <p:nvPr/>
        </p:nvSpPr>
        <p:spPr>
          <a:xfrm>
            <a:off x="640080" y="1188720"/>
            <a:ext cx="2240280" cy="640080"/>
          </a:xfrm>
          <a:prstGeom prst="rect">
            <a:avLst/>
          </a:prstGeom>
          <a:noFill/>
          <a:ln/>
        </p:spPr>
        <p:txBody>
          <a:bodyPr wrap="square" lIns="0" tIns="0" rIns="0" bIns="0" rtlCol="0" anchor="ctr"/>
          <a:lstStyle/>
          <a:p>
            <a:pPr indent="0" marL="0">
              <a:buNone/>
            </a:pPr>
            <a:r>
              <a:rPr lang="en-US" sz="2000" b="1" dirty="0">
                <a:solidFill>
                  <a:srgbClr val="8B7CF6"/>
                </a:solidFill>
                <a:latin typeface="Calibri" pitchFamily="34" charset="0"/>
                <a:ea typeface="Calibri" pitchFamily="34" charset="-122"/>
                <a:cs typeface="Calibri" pitchFamily="34" charset="-120"/>
              </a:rPr>
              <a:t>Cheaper model + memory</a:t>
            </a:r>
            <a:endParaRPr lang="en-US" sz="2000" dirty="0"/>
          </a:p>
        </p:txBody>
      </p:sp>
      <p:sp>
        <p:nvSpPr>
          <p:cNvPr id="5" name="Takeaway text 1"/>
          <p:cNvSpPr txBox="1"/>
          <p:nvPr/>
        </p:nvSpPr>
        <p:spPr>
          <a:xfrm>
            <a:off x="640080" y="1874520"/>
            <a:ext cx="2240280" cy="548640"/>
          </a:xfrm>
          <a:prstGeom prst="rect">
            <a:avLst/>
          </a:prstGeom>
          <a:noFill/>
          <a:ln/>
        </p:spPr>
        <p:txBody>
          <a:bodyPr wrap="square" lIns="0" tIns="0" rIns="0" bIns="0" rtlCol="0" anchor="t"/>
          <a:lstStyle/>
          <a:p>
            <a:pPr indent="0" marL="0">
              <a:buNone/>
            </a:pPr>
            <a:r>
              <a:rPr lang="en-US" sz="1400" dirty="0">
                <a:solidFill>
                  <a:srgbClr val="EDEDED"/>
                </a:solidFill>
                <a:latin typeface="Calibri" pitchFamily="34" charset="0"/>
                <a:ea typeface="Calibri" pitchFamily="34" charset="-122"/>
                <a:cs typeface="Calibri" pitchFamily="34" charset="-120"/>
              </a:rPr>
              <a:t>beat a bigger model without it</a:t>
            </a:r>
            <a:endParaRPr lang="en-US" sz="1400" dirty="0"/>
          </a:p>
        </p:txBody>
      </p:sp>
      <p:sp>
        <p:nvSpPr>
          <p:cNvPr id="6" name="Takeaway card 2"/>
          <p:cNvSpPr/>
          <p:nvPr/>
        </p:nvSpPr>
        <p:spPr>
          <a:xfrm>
            <a:off x="3246120" y="1097280"/>
            <a:ext cx="2606040" cy="1417320"/>
          </a:xfrm>
          <a:prstGeom prst="roundRect">
            <a:avLst>
              <a:gd name="adj" fmla="val 6452"/>
            </a:avLst>
          </a:prstGeom>
          <a:solidFill>
            <a:srgbClr val="161A22"/>
          </a:solidFill>
          <a:ln w="9525">
            <a:solidFill>
              <a:srgbClr val="232834"/>
            </a:solidFill>
            <a:prstDash val="solid"/>
          </a:ln>
        </p:spPr>
      </p:sp>
      <p:sp>
        <p:nvSpPr>
          <p:cNvPr id="7" name="Takeaway 2"/>
          <p:cNvSpPr txBox="1"/>
          <p:nvPr/>
        </p:nvSpPr>
        <p:spPr>
          <a:xfrm>
            <a:off x="3429000" y="1188720"/>
            <a:ext cx="2240280" cy="640080"/>
          </a:xfrm>
          <a:prstGeom prst="rect">
            <a:avLst/>
          </a:prstGeom>
          <a:noFill/>
          <a:ln/>
        </p:spPr>
        <p:txBody>
          <a:bodyPr wrap="square" lIns="0" tIns="0" rIns="0" bIns="0" rtlCol="0" anchor="ctr"/>
          <a:lstStyle/>
          <a:p>
            <a:pPr indent="0" marL="0">
              <a:buNone/>
            </a:pPr>
            <a:r>
              <a:rPr lang="en-US" sz="2000" b="1" dirty="0">
                <a:solidFill>
                  <a:srgbClr val="38D6E8"/>
                </a:solidFill>
                <a:latin typeface="Calibri" pitchFamily="34" charset="0"/>
                <a:ea typeface="Calibri" pitchFamily="34" charset="-122"/>
                <a:cs typeface="Calibri" pitchFamily="34" charset="-120"/>
              </a:rPr>
              <a:t>~Half the tokens</a:t>
            </a:r>
            <a:endParaRPr lang="en-US" sz="2000" dirty="0"/>
          </a:p>
        </p:txBody>
      </p:sp>
      <p:sp>
        <p:nvSpPr>
          <p:cNvPr id="8" name="Takeaway text 2"/>
          <p:cNvSpPr txBox="1"/>
          <p:nvPr/>
        </p:nvSpPr>
        <p:spPr>
          <a:xfrm>
            <a:off x="3429000" y="1874520"/>
            <a:ext cx="2240280" cy="548640"/>
          </a:xfrm>
          <a:prstGeom prst="rect">
            <a:avLst/>
          </a:prstGeom>
          <a:noFill/>
          <a:ln/>
        </p:spPr>
        <p:txBody>
          <a:bodyPr wrap="square" lIns="0" tIns="0" rIns="0" bIns="0" rtlCol="0" anchor="t"/>
          <a:lstStyle/>
          <a:p>
            <a:pPr indent="0" marL="0">
              <a:buNone/>
            </a:pPr>
            <a:r>
              <a:rPr lang="en-US" sz="1400" dirty="0">
                <a:solidFill>
                  <a:srgbClr val="EDEDED"/>
                </a:solidFill>
                <a:latin typeface="Calibri" pitchFamily="34" charset="0"/>
                <a:ea typeface="Calibri" pitchFamily="34" charset="-122"/>
                <a:cs typeface="Calibri" pitchFamily="34" charset="-120"/>
              </a:rPr>
              <a:t>over multi-session work</a:t>
            </a:r>
            <a:endParaRPr lang="en-US" sz="1400" dirty="0"/>
          </a:p>
        </p:txBody>
      </p:sp>
      <p:sp>
        <p:nvSpPr>
          <p:cNvPr id="9" name="Takeaway card 3"/>
          <p:cNvSpPr/>
          <p:nvPr/>
        </p:nvSpPr>
        <p:spPr>
          <a:xfrm>
            <a:off x="6035040" y="1097280"/>
            <a:ext cx="2606040" cy="1417320"/>
          </a:xfrm>
          <a:prstGeom prst="roundRect">
            <a:avLst>
              <a:gd name="adj" fmla="val 6452"/>
            </a:avLst>
          </a:prstGeom>
          <a:solidFill>
            <a:srgbClr val="161A22"/>
          </a:solidFill>
          <a:ln w="9525">
            <a:solidFill>
              <a:srgbClr val="232834"/>
            </a:solidFill>
            <a:prstDash val="solid"/>
          </a:ln>
        </p:spPr>
      </p:sp>
      <p:sp>
        <p:nvSpPr>
          <p:cNvPr id="10" name="Takeaway 3"/>
          <p:cNvSpPr txBox="1"/>
          <p:nvPr/>
        </p:nvSpPr>
        <p:spPr>
          <a:xfrm>
            <a:off x="6217920" y="1188720"/>
            <a:ext cx="2240280" cy="640080"/>
          </a:xfrm>
          <a:prstGeom prst="rect">
            <a:avLst/>
          </a:prstGeom>
          <a:noFill/>
          <a:ln/>
        </p:spPr>
        <p:txBody>
          <a:bodyPr wrap="square" lIns="0" tIns="0" rIns="0" bIns="0" rtlCol="0" anchor="ctr"/>
          <a:lstStyle/>
          <a:p>
            <a:pPr indent="0" marL="0">
              <a:buNone/>
            </a:pPr>
            <a:r>
              <a:rPr lang="en-US" sz="2000" b="1" dirty="0">
                <a:solidFill>
                  <a:srgbClr val="3DD68C"/>
                </a:solidFill>
                <a:latin typeface="Calibri" pitchFamily="34" charset="0"/>
                <a:ea typeface="Calibri" pitchFamily="34" charset="-122"/>
                <a:cs typeface="Calibri" pitchFamily="34" charset="-120"/>
              </a:rPr>
              <a:t>The user's own words</a:t>
            </a:r>
            <a:endParaRPr lang="en-US" sz="2000" dirty="0"/>
          </a:p>
        </p:txBody>
      </p:sp>
      <p:sp>
        <p:nvSpPr>
          <p:cNvPr id="11" name="Takeaway text 3"/>
          <p:cNvSpPr txBox="1"/>
          <p:nvPr/>
        </p:nvSpPr>
        <p:spPr>
          <a:xfrm>
            <a:off x="6217920" y="1874520"/>
            <a:ext cx="2240280" cy="548640"/>
          </a:xfrm>
          <a:prstGeom prst="rect">
            <a:avLst/>
          </a:prstGeom>
          <a:noFill/>
          <a:ln/>
        </p:spPr>
        <p:txBody>
          <a:bodyPr wrap="square" lIns="0" tIns="0" rIns="0" bIns="0" rtlCol="0" anchor="t"/>
          <a:lstStyle/>
          <a:p>
            <a:pPr indent="0" marL="0">
              <a:buNone/>
            </a:pPr>
            <a:r>
              <a:rPr lang="en-US" sz="1400" dirty="0">
                <a:solidFill>
                  <a:srgbClr val="EDEDED"/>
                </a:solidFill>
                <a:latin typeface="Calibri" pitchFamily="34" charset="0"/>
                <a:ea typeface="Calibri" pitchFamily="34" charset="-122"/>
                <a:cs typeface="Calibri" pitchFamily="34" charset="-120"/>
              </a:rPr>
              <a:t>are what make memory useful</a:t>
            </a:r>
            <a:endParaRPr lang="en-US" sz="1400" dirty="0"/>
          </a:p>
        </p:txBody>
      </p:sp>
      <p:sp>
        <p:nvSpPr>
          <p:cNvPr id="12" name="Next head"/>
          <p:cNvSpPr txBox="1"/>
          <p:nvPr/>
        </p:nvSpPr>
        <p:spPr>
          <a:xfrm>
            <a:off x="457200" y="2743200"/>
            <a:ext cx="1828800" cy="320040"/>
          </a:xfrm>
          <a:prstGeom prst="rect">
            <a:avLst/>
          </a:prstGeom>
          <a:noFill/>
          <a:ln/>
        </p:spPr>
        <p:txBody>
          <a:bodyPr wrap="square" lIns="0" tIns="0" rIns="0" bIns="0" rtlCol="0" anchor="ctr"/>
          <a:lstStyle/>
          <a:p>
            <a:pPr indent="0" marL="0">
              <a:buNone/>
            </a:pPr>
            <a:r>
              <a:rPr lang="en-US" sz="1800" b="1" dirty="0">
                <a:solidFill>
                  <a:srgbClr val="EDEDED"/>
                </a:solidFill>
                <a:latin typeface="Calibri" pitchFamily="34" charset="0"/>
                <a:ea typeface="Calibri" pitchFamily="34" charset="-122"/>
                <a:cs typeface="Calibri" pitchFamily="34" charset="-120"/>
              </a:rPr>
              <a:t>Next</a:t>
            </a:r>
            <a:endParaRPr lang="en-US" sz="1800" dirty="0"/>
          </a:p>
        </p:txBody>
      </p:sp>
      <p:sp>
        <p:nvSpPr>
          <p:cNvPr id="13" name="Next list"/>
          <p:cNvSpPr txBox="1"/>
          <p:nvPr/>
        </p:nvSpPr>
        <p:spPr>
          <a:xfrm>
            <a:off x="457200" y="3108960"/>
            <a:ext cx="4572000" cy="1371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DEDED"/>
                </a:solidFill>
                <a:latin typeface="Calibri" pitchFamily="34" charset="0"/>
                <a:ea typeface="Calibri" pitchFamily="34" charset="-122"/>
                <a:cs typeface="Calibri" pitchFamily="34" charset="-120"/>
              </a:rPr>
              <a:t>Claude Code plugin: one-command install</a:t>
            </a:r>
            <a:endParaRPr lang="en-US" sz="1400" dirty="0"/>
          </a:p>
          <a:p>
            <a:pPr marL="342900" indent="-342900">
              <a:spcAft>
                <a:spcPts val="800"/>
              </a:spcAft>
              <a:buSzPct val="100000"/>
              <a:buChar char="•"/>
            </a:pPr>
            <a:r>
              <a:rPr lang="en-US" sz="1400" dirty="0">
                <a:solidFill>
                  <a:srgbClr val="EDEDED"/>
                </a:solidFill>
                <a:latin typeface="Calibri" pitchFamily="34" charset="0"/>
                <a:ea typeface="Calibri" pitchFamily="34" charset="-122"/>
                <a:cs typeface="Calibri" pitchFamily="34" charset="-120"/>
              </a:rPr>
              <a:t>Hook-based capture for interactive sessions</a:t>
            </a:r>
            <a:endParaRPr lang="en-US" sz="1400" dirty="0"/>
          </a:p>
          <a:p>
            <a:pPr marL="342900" indent="-342900">
              <a:spcAft>
                <a:spcPts val="800"/>
              </a:spcAft>
              <a:buSzPct val="100000"/>
              <a:buChar char="•"/>
            </a:pPr>
            <a:r>
              <a:rPr lang="en-US" sz="1400" dirty="0">
                <a:solidFill>
                  <a:srgbClr val="EDEDED"/>
                </a:solidFill>
                <a:latin typeface="Calibri" pitchFamily="34" charset="0"/>
                <a:ea typeface="Calibri" pitchFamily="34" charset="-122"/>
                <a:cs typeface="Calibri" pitchFamily="34" charset="-120"/>
              </a:rPr>
              <a:t>Studio playtest gate in the loop</a:t>
            </a:r>
            <a:endParaRPr lang="en-US" sz="1400" dirty="0"/>
          </a:p>
          <a:p>
            <a:pPr marL="342900" indent="-342900">
              <a:spcAft>
                <a:spcPts val="800"/>
              </a:spcAft>
              <a:buSzPct val="100000"/>
              <a:buChar char="•"/>
            </a:pPr>
            <a:r>
              <a:rPr lang="en-US" sz="1400" dirty="0">
                <a:solidFill>
                  <a:srgbClr val="EDEDED"/>
                </a:solidFill>
                <a:latin typeface="Calibri" pitchFamily="34" charset="0"/>
                <a:ea typeface="Calibri" pitchFamily="34" charset="-122"/>
                <a:cs typeface="Calibri" pitchFamily="34" charset="-120"/>
              </a:rPr>
              <a:t>More engines</a:t>
            </a:r>
            <a:endParaRPr lang="en-US" sz="1400" dirty="0"/>
          </a:p>
        </p:txBody>
      </p:sp>
      <p:sp>
        <p:nvSpPr>
          <p:cNvPr id="14" name="Blade Swarm showcase game frame"/>
          <p:cNvSpPr/>
          <p:nvPr/>
        </p:nvSpPr>
        <p:spPr>
          <a:xfrm>
            <a:off x="5257800" y="2789505"/>
            <a:ext cx="3474720" cy="1278990"/>
          </a:xfrm>
          <a:prstGeom prst="roundRect">
            <a:avLst>
              <a:gd name="adj" fmla="val 5720"/>
            </a:avLst>
          </a:prstGeom>
          <a:solidFill>
            <a:srgbClr val="161A22"/>
          </a:solidFill>
          <a:ln w="9525">
            <a:solidFill>
              <a:srgbClr val="5A606B"/>
            </a:solidFill>
            <a:prstDash val="solid"/>
          </a:ln>
        </p:spPr>
      </p:sp>
      <p:pic>
        <p:nvPicPr>
          <p:cNvPr id="15" name="Blade Swarm showcase game" descr="Blade Swarm showcase game">    </p:cNvPr>
          <p:cNvPicPr>
            <a:picLocks noChangeAspect="1"/>
          </p:cNvPicPr>
          <p:nvPr/>
        </p:nvPicPr>
        <p:blipFill>
          <a:blip r:embed="rId1"/>
          <a:stretch>
            <a:fillRect/>
          </a:stretch>
        </p:blipFill>
        <p:spPr>
          <a:xfrm>
            <a:off x="5303520" y="2835225"/>
            <a:ext cx="3383280" cy="1187550"/>
          </a:xfrm>
          <a:prstGeom prst="rect">
            <a:avLst/>
          </a:prstGeom>
        </p:spPr>
      </p:pic>
      <p:sp>
        <p:nvSpPr>
          <p:cNvPr id="16" name="Footer"/>
          <p:cNvSpPr txBox="1"/>
          <p:nvPr/>
        </p:nvSpPr>
        <p:spPr>
          <a:xfrm>
            <a:off x="457200" y="4617720"/>
            <a:ext cx="7863840" cy="274320"/>
          </a:xfrm>
          <a:prstGeom prst="rect">
            <a:avLst/>
          </a:prstGeom>
          <a:noFill/>
          <a:ln/>
        </p:spPr>
        <p:txBody>
          <a:bodyPr wrap="square" lIns="0" tIns="0" rIns="0" bIns="0" rtlCol="0" anchor="ctr"/>
          <a:lstStyle/>
          <a:p>
            <a:pPr indent="0" marL="0">
              <a:buNone/>
            </a:pPr>
            <a:r>
              <a:rPr lang="en-US" sz="1100" dirty="0">
                <a:solidFill>
                  <a:srgbClr val="9AA0AA"/>
                </a:solidFill>
                <a:latin typeface="Calibri" pitchFamily="34" charset="0"/>
                <a:ea typeface="Calibri" pitchFamily="34" charset="-122"/>
                <a:cs typeface="Calibri" pitchFamily="34" charset="-120"/>
              </a:rPr>
              <a:t>Repo: DevMemory (source, benchmark, results) · RESULTS.md · bench/METHODOLOGY.md</a:t>
            </a:r>
            <a:endParaRPr lang="en-US" sz="1100" dirty="0"/>
          </a:p>
        </p:txBody>
      </p:sp>
      <p:sp>
        <p:nvSpPr>
          <p:cNvPr id="25" name="Slide Number Placeholder 0"/>
          <p:cNvSpPr>
            <a:spLocks noGrp="1"/>
          </p:cNvSpPr>
          <p:nvPr>
            <p:ph type="sldNum" sz="quarter" idx="4294967295"/>
          </p:nvPr>
        </p:nvSpPr>
        <p:spPr>
          <a:xfrm>
            <a:off x="841248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0A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DevMemory Dark">
  <a:themeElements>
    <a:clrScheme name="DevMemory Dark">
      <a:dk1>
        <a:srgbClr val="0F1115"/>
      </a:dk1>
      <a:lt1>
        <a:srgbClr val="EDEDED"/>
      </a:lt1>
      <a:dk2>
        <a:srgbClr val="161A22"/>
      </a:dk2>
      <a:lt2>
        <a:srgbClr val="9AA0AA"/>
      </a:lt2>
      <a:accent1>
        <a:srgbClr val="8B7CF6"/>
      </a:accent1>
      <a:accent2>
        <a:srgbClr val="38D6E8"/>
      </a:accent2>
      <a:accent3>
        <a:srgbClr val="3DD68C"/>
      </a:accent3>
      <a:accent4>
        <a:srgbClr val="F5A524"/>
      </a:accent4>
      <a:accent5>
        <a:srgbClr val="5A606B"/>
      </a:accent5>
      <a:accent6>
        <a:srgbClr val="E5484D"/>
      </a:accent6>
      <a:hlink>
        <a:srgbClr val="38D6E8"/>
      </a:hlink>
      <a:folHlink>
        <a:srgbClr val="8B7CF6"/>
      </a:folHlink>
    </a:clrScheme>
    <a:fontScheme name="DevMemory Dark">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DevMemory — Challenge 2</dc:title>
  <dc:subject>PptxGenJS Presentation</dc:subject>
  <dc:creator>PptxGenJS</dc:creator>
  <cp:lastModifiedBy>PptxGenJS</cp:lastModifiedBy>
  <cp:revision>1</cp:revision>
  <dcterms:created xsi:type="dcterms:W3CDTF">2026-10-31T02:27:49Z</dcterms:created>
  <dcterms:modified xsi:type="dcterms:W3CDTF">2026-10-31T02:27:49Z</dcterms:modified>
</cp:coreProperties>
</file>