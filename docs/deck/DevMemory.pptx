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DEDED"/>
                </a:solidFill>
                <a:latin typeface="Calibri"/>
              </a:defRPr>
            </a:pPr>
            <a:r>
              <a:rPr sz="1300" b="0" i="0" u="none" strike="noStrike">
                <a:solidFill>
                  <a:srgbClr val="EDEDED"/>
                </a:solidFill>
                <a:latin typeface="Calibri"/>
              </a:rPr>
              <a:t>Pass rate on held-out tasks (%)</a:t>
            </a:r>
          </a:p>
        </c:rich>
      </c:tx>
      <c:layout/>
      <c:overlay val="0"/>
    </c:title>
    <c:autoTitleDeleted val="0"/>
    <c:plotArea>
      <c:layout/>
      <c:barChart>
        <c:barDir val="col"/>
        <c:grouping val="clustered"/>
        <c:varyColors val="0"/>
        <c:ser>
          <c:idx val="0"/>
          <c:order val="0"/>
          <c:tx>
            <c:strRef>
              <c:f>Sheet1!$B$1</c:f>
              <c:strCache>
                <c:ptCount val="1"/>
                <c:pt idx="0">
                  <c:v>Set 1 (12 tasks)</c:v>
                </c:pt>
              </c:strCache>
            </c:strRef>
          </c:tx>
          <c:spPr>
            <a:solidFill>
              <a:srgbClr val="5A606B"/>
            </a:solidFill>
            <a:effectLst/>
          </c:spPr>
          <c:invertIfNegative val="0"/>
          <c:dLbls>
            <c:numFmt formatCode="0" sourceLinked="0"/>
            <c:txPr>
              <a:bodyPr/>
              <a:lstStyle/>
              <a:p>
                <a:pPr>
                  <a:defRPr b="0" i="0" strike="noStrike" sz="1100" u="none">
                    <a:solidFill>
                      <a:srgbClr val="EDEDE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C0 bare</c:v>
                  </c:pt>
                  <c:pt idx="1">
                    <c:v>C1 CLAUDE.md</c:v>
                  </c:pt>
                  <c:pt idx="2">
                    <c:v>C2 map only</c:v>
                  </c:pt>
                  <c:pt idx="3">
                    <c:v>C3 DevMemory</c:v>
                  </c:pt>
                </c:lvl>
              </c:multiLvlStrCache>
            </c:multiLvlStrRef>
          </c:cat>
          <c:val>
            <c:numRef>
              <c:f>Sheet1!$B$2:$B$5</c:f>
              <c:numCache>
                <c:formatCode>General</c:formatCode>
                <c:ptCount val="4"/>
                <c:pt idx="0">
                  <c:v>67</c:v>
                </c:pt>
                <c:pt idx="1">
                  <c:v>72</c:v>
                </c:pt>
                <c:pt idx="2">
                  <c:v>64</c:v>
                </c:pt>
                <c:pt idx="3">
                  <c:v>83</c:v>
                </c:pt>
              </c:numCache>
            </c:numRef>
          </c:val>
        </c:ser>
        <c:ser>
          <c:idx val="1"/>
          <c:order val="1"/>
          <c:tx>
            <c:strRef>
              <c:f>Sheet1!$C$1</c:f>
              <c:strCache>
                <c:ptCount val="1"/>
                <c:pt idx="0">
                  <c:v>Set 2 (16 tasks)</c:v>
                </c:pt>
              </c:strCache>
            </c:strRef>
          </c:tx>
          <c:spPr>
            <a:solidFill>
              <a:srgbClr val="8B7CF6"/>
            </a:solidFill>
            <a:effectLst/>
          </c:spPr>
          <c:invertIfNegative val="0"/>
          <c:dLbls>
            <c:numFmt formatCode="0" sourceLinked="0"/>
            <c:txPr>
              <a:bodyPr/>
              <a:lstStyle/>
              <a:p>
                <a:pPr>
                  <a:defRPr b="0" i="0" strike="noStrike" sz="1100" u="none">
                    <a:solidFill>
                      <a:srgbClr val="EDEDED"/>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C0 bare</c:v>
                  </c:pt>
                  <c:pt idx="1">
                    <c:v>C1 CLAUDE.md</c:v>
                  </c:pt>
                  <c:pt idx="2">
                    <c:v>C2 map only</c:v>
                  </c:pt>
                  <c:pt idx="3">
                    <c:v>C3 DevMemory</c:v>
                  </c:pt>
                </c:lvl>
              </c:multiLvlStrCache>
            </c:multiLvlStrRef>
          </c:cat>
          <c:val>
            <c:numRef>
              <c:f>Sheet1!$C$2:$C$5</c:f>
              <c:numCache>
                <c:formatCode>General</c:formatCode>
                <c:ptCount val="4"/>
                <c:pt idx="0">
                  <c:v>79</c:v>
                </c:pt>
                <c:pt idx="1">
                  <c:v>79</c:v>
                </c:pt>
                <c:pt idx="2">
                  <c:v>81</c:v>
                </c:pt>
                <c:pt idx="3">
                  <c:v>98</c:v>
                </c:pt>
              </c:numCache>
            </c:numRef>
          </c:val>
        </c:ser>
        <c:dLbls>
          <c:numFmt formatCode="0" sourceLinked="0"/>
          <c:txPr>
            <a:bodyPr/>
            <a:lstStyle/>
            <a:p>
              <a:pPr>
                <a:defRPr b="0" i="0" strike="noStrike" sz="1100" u="none">
                  <a:solidFill>
                    <a:srgbClr val="EDEDED"/>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A0AA"/>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9AA0A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DEDED"/>
                </a:solidFill>
                <a:latin typeface="Calibri"/>
              </a:defRPr>
            </a:pPr>
            <a:r>
              <a:rPr sz="1200" b="0" i="0" u="none" strike="noStrike">
                <a:solidFill>
                  <a:srgbClr val="EDEDED"/>
                </a:solidFill>
                <a:latin typeface="Calibri"/>
              </a:rPr>
              <a:t>Cost per successful task, set 2 (US$)</a:t>
            </a:r>
          </a:p>
        </c:rich>
      </c:tx>
      <c:layout/>
      <c:overlay val="0"/>
    </c:title>
    <c:autoTitleDeleted val="0"/>
    <c:plotArea>
      <c:layout/>
      <c:barChart>
        <c:barDir val="col"/>
        <c:grouping val="clustered"/>
        <c:varyColors val="0"/>
        <c:ser>
          <c:idx val="0"/>
          <c:order val="0"/>
          <c:tx>
            <c:strRef>
              <c:f>Sheet1!$B$1</c:f>
              <c:strCache>
                <c:ptCount val="1"/>
                <c:pt idx="0">
                  <c:v>Cost per successful task, set 2 (US$)</c:v>
                </c:pt>
              </c:strCache>
            </c:strRef>
          </c:tx>
          <c:spPr>
            <a:solidFill>
              <a:srgbClr val="5A606B"/>
            </a:solidFill>
            <a:effectLst/>
          </c:spPr>
          <c:invertIfNegative val="0"/>
          <c:dLbls>
            <c:numFmt formatCode="$0.0000" sourceLinked="0"/>
            <c:txPr>
              <a:bodyPr/>
              <a:lstStyle/>
              <a:p>
                <a:pPr>
                  <a:defRPr b="0" i="0" strike="noStrike" sz="950" u="none">
                    <a:solidFill>
                      <a:srgbClr val="EDEDED"/>
                    </a:solidFill>
                    <a:latin typeface="Calibri"/>
                  </a:defRPr>
                </a:pPr>
              </a:p>
            </c:txPr>
            <c:showLegendKey val="0"/>
            <c:showVal val="1"/>
            <c:showCatName val="0"/>
            <c:showSerName val="0"/>
            <c:showPercent val="0"/>
            <c:showBubbleSize val="0"/>
            <c:showLeaderLines val="0"/>
          </c:dLbls>
          <c:dPt>
            <c:idx val="0"/>
            <c:invertIfNegative val="0"/>
            <c:bubble3D val="0"/>
            <c:spPr>
              <a:solidFill>
                <a:srgbClr val="5A606B"/>
              </a:solidFill>
              <a:effectLst/>
            </c:spPr>
          </c:dPt>
          <c:dPt>
            <c:idx val="1"/>
            <c:invertIfNegative val="0"/>
            <c:bubble3D val="0"/>
            <c:spPr>
              <a:solidFill>
                <a:srgbClr val="5A606B"/>
              </a:solidFill>
              <a:effectLst/>
            </c:spPr>
          </c:dPt>
          <c:dPt>
            <c:idx val="2"/>
            <c:invertIfNegative val="0"/>
            <c:bubble3D val="0"/>
            <c:spPr>
              <a:solidFill>
                <a:srgbClr val="5A606B"/>
              </a:solidFill>
              <a:effectLst/>
            </c:spPr>
          </c:dPt>
          <c:dPt>
            <c:idx val="3"/>
            <c:invertIfNegative val="0"/>
            <c:bubble3D val="0"/>
            <c:spPr>
              <a:solidFill>
                <a:srgbClr val="8B7CF6"/>
              </a:solidFill>
              <a:effectLst/>
            </c:spPr>
          </c:dPt>
          <c:cat>
            <c:multiLvlStrRef>
              <c:f>Sheet1!$A$2:$A$5</c:f>
              <c:multiLvlStrCache>
                <c:ptCount val="4"/>
                <c:lvl>
                  <c:pt idx="0">
                    <c:v>C0 bare</c:v>
                  </c:pt>
                  <c:pt idx="1">
                    <c:v>C1 CLAUDE.md</c:v>
                  </c:pt>
                  <c:pt idx="2">
                    <c:v>C2 map only</c:v>
                  </c:pt>
                  <c:pt idx="3">
                    <c:v>C3 DevMemory</c:v>
                  </c:pt>
                </c:lvl>
              </c:multiLvlStrCache>
            </c:multiLvlStrRef>
          </c:cat>
          <c:val>
            <c:numRef>
              <c:f>Sheet1!$B$2:$B$5</c:f>
              <c:numCache>
                <c:formatCode>General</c:formatCode>
                <c:ptCount val="4"/>
                <c:pt idx="0">
                  <c:v>0.0095</c:v>
                </c:pt>
                <c:pt idx="1">
                  <c:v>0.0106</c:v>
                </c:pt>
                <c:pt idx="2">
                  <c:v>0.0093</c:v>
                </c:pt>
                <c:pt idx="3">
                  <c:v>0.0076</c:v>
                </c:pt>
              </c:numCache>
            </c:numRef>
          </c:val>
        </c:ser>
        <c:dLbls>
          <c:numFmt formatCode="$0.0000" sourceLinked="0"/>
          <c:txPr>
            <a:bodyPr/>
            <a:lstStyle/>
            <a:p>
              <a:pPr>
                <a:defRPr b="0" i="0" strike="noStrike" sz="950" u="none">
                  <a:solidFill>
                    <a:srgbClr val="EDEDED"/>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A0AA"/>
                </a:solidFill>
                <a:latin typeface="Calibri"/>
              </a:defRPr>
            </a:pPr>
            <a:endParaRPr lang="en-US"/>
          </a:p>
        </c:txPr>
        <c:crossAx val="2094734552"/>
        <c:crosses val="autoZero"/>
        <c:auto val="1"/>
        <c:lblAlgn val="ctr"/>
        <c:noMultiLvlLbl val="1"/>
      </c:catAx>
      <c:valAx>
        <c:axId val="2094734552"/>
        <c:scaling>
          <c:orientation val="minMax"/>
          <c:max val="0.013"/>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AA0A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DEDED"/>
                </a:solidFill>
                <a:latin typeface="Calibri"/>
              </a:defRPr>
            </a:pPr>
            <a:r>
              <a:rPr sz="1200" b="0" i="0" u="none" strike="noStrike">
                <a:solidFill>
                  <a:srgbClr val="EDEDED"/>
                </a:solidFill>
                <a:latin typeface="Calibri"/>
              </a:rPr>
              <a:t>Input tokens, Blade Swarm (millions, 16 sessions)</a:t>
            </a:r>
          </a:p>
        </c:rich>
      </c:tx>
      <c:layout/>
      <c:overlay val="0"/>
    </c:title>
    <c:autoTitleDeleted val="0"/>
    <c:plotArea>
      <c:layout/>
      <c:barChart>
        <c:barDir val="col"/>
        <c:grouping val="clustered"/>
        <c:varyColors val="0"/>
        <c:ser>
          <c:idx val="0"/>
          <c:order val="0"/>
          <c:tx>
            <c:strRef>
              <c:f>Sheet1!$B$1</c:f>
              <c:strCache>
                <c:ptCount val="1"/>
                <c:pt idx="0">
                  <c:v>Input tokens, Blade Swarm (millions, 16 sessions)</c:v>
                </c:pt>
              </c:strCache>
            </c:strRef>
          </c:tx>
          <c:spPr>
            <a:solidFill>
              <a:srgbClr val="5A606B"/>
            </a:solidFill>
            <a:effectLst/>
          </c:spPr>
          <c:invertIfNegative val="0"/>
          <c:dLbls>
            <c:numFmt formatCode="0.00" sourceLinked="0"/>
            <c:txPr>
              <a:bodyPr/>
              <a:lstStyle/>
              <a:p>
                <a:pPr>
                  <a:defRPr b="0" i="0" strike="noStrike" sz="1200" u="none">
                    <a:solidFill>
                      <a:srgbClr val="EDEDED"/>
                    </a:solidFill>
                    <a:latin typeface="Calibri"/>
                  </a:defRPr>
                </a:pPr>
              </a:p>
            </c:txPr>
            <c:showLegendKey val="0"/>
            <c:showVal val="1"/>
            <c:showCatName val="0"/>
            <c:showSerName val="0"/>
            <c:showPercent val="0"/>
            <c:showBubbleSize val="0"/>
            <c:showLeaderLines val="0"/>
          </c:dLbls>
          <c:dPt>
            <c:idx val="0"/>
            <c:invertIfNegative val="0"/>
            <c:bubble3D val="0"/>
            <c:spPr>
              <a:solidFill>
                <a:srgbClr val="5A606B"/>
              </a:solidFill>
              <a:effectLst/>
            </c:spPr>
          </c:dPt>
          <c:dPt>
            <c:idx val="1"/>
            <c:invertIfNegative val="0"/>
            <c:bubble3D val="0"/>
            <c:spPr>
              <a:solidFill>
                <a:srgbClr val="5A606B"/>
              </a:solidFill>
              <a:effectLst/>
            </c:spPr>
          </c:dPt>
          <c:dPt>
            <c:idx val="2"/>
            <c:invertIfNegative val="0"/>
            <c:bubble3D val="0"/>
            <c:spPr>
              <a:solidFill>
                <a:srgbClr val="8B7CF6"/>
              </a:solidFill>
              <a:effectLst/>
            </c:spPr>
          </c:dPt>
          <c:cat>
            <c:multiLvlStrRef>
              <c:f>Sheet1!$A$2:$A$4</c:f>
              <c:multiLvlStrCache>
                <c:ptCount val="3"/>
                <c:lvl>
                  <c:pt idx="0">
                    <c:v>No memory</c:v>
                  </c:pt>
                  <c:pt idx="1">
                    <c:v>AGENTS.md</c:v>
                  </c:pt>
                  <c:pt idx="2">
                    <c:v>DevMemory</c:v>
                  </c:pt>
                </c:lvl>
              </c:multiLvlStrCache>
            </c:multiLvlStrRef>
          </c:cat>
          <c:val>
            <c:numRef>
              <c:f>Sheet1!$B$2:$B$4</c:f>
              <c:numCache>
                <c:formatCode>General</c:formatCode>
                <c:ptCount val="3"/>
                <c:pt idx="0">
                  <c:v>3.08</c:v>
                </c:pt>
                <c:pt idx="1">
                  <c:v>3.41</c:v>
                </c:pt>
                <c:pt idx="2">
                  <c:v>1.85</c:v>
                </c:pt>
              </c:numCache>
            </c:numRef>
          </c:val>
        </c:ser>
        <c:dLbls>
          <c:numFmt formatCode="0.00" sourceLinked="0"/>
          <c:txPr>
            <a:bodyPr/>
            <a:lstStyle/>
            <a:p>
              <a:pPr>
                <a:defRPr b="0" i="0" strike="noStrike" sz="1200" u="none">
                  <a:solidFill>
                    <a:srgbClr val="EDEDED"/>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A0AA"/>
                </a:solidFill>
                <a:latin typeface="Calibri"/>
              </a:defRPr>
            </a:pPr>
            <a:endParaRPr lang="en-US"/>
          </a:p>
        </c:txPr>
        <c:crossAx val="2094734552"/>
        <c:crosses val="autoZero"/>
        <c:auto val="1"/>
        <c:lblAlgn val="ctr"/>
        <c:noMultiLvlLbl val="1"/>
      </c:catAx>
      <c:valAx>
        <c:axId val="2094734552"/>
        <c:scaling>
          <c:orientation val="minMax"/>
          <c:max val="4.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AA0AA"/>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DevMemory gives every new AI coding session a warm start by remembering the project and what the user asked for earlier, and sending only what the next task needs. The screenshot is the desktop app that browses the captured memory. Challenge 2: less compute at equal or better task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unseen tasks whose answer depends on an earlier decision, agents without memory solved 3 of 12. Codex without memory never recovered colors a user had picked earlier. A bigger model without memory cost about 11 times more per success and still missed the accuracy bar. The information is in past conversations, not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A deterministic scan builds the project map with no model calls. Capture records each session through documented interfaces of whichever AI tool is used. A pack selects only what the next request needs, with sources and freshness. Delivery injects it through a hook, an MCP server or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pack from the Blade Swarm build. The request refers to colors chosen in an earlier session. DevMemory brings back that session and the shop-design session verbatim, plus where the code keeps the colors. Claude Code then went straight to the right file. The other builds also got this prompt right by reading the code; the point is what DevMemory delivers, without any AI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 drives scanning, capture and packs; a desktop app shows the memory as a vault with a graph and Pack Lab; an MCP server and adapters let any AI tool use and add to the memory; and a benchmark harness with validated graders and automated playtests produced the numbers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evaluation. The fixed benchmark compares four setups on 28 held-out tasks frozen before any run, with validated graders and cost per success at an 80% floor. The multi-session builds test whether memory helps over a whole project: a Roblox game, a web app, and a cross-tool test with Codex. All methods and disclosures are in RESULTS.md and bench/METHODOLOGY.md.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held-out sets, 28 tasks, written by a separate agent and frozen before any run. DevMemory is the only setup above the 80% floor on both: 83% on set 1 with the shipped code and 98% on set 2, against 64 to 81% for the others. It is the cheapest per success on set 2. The gap comes from history tasks, where the answer lives in an earlier session. A bigger model without memory costs about 11 times more per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 16 sessions building Blade Swarm, DevMemory used 1.85M input tokens versus 3.08M with no memory and 3.41M with a self-maintained AGENTS.md, at the lowest cost. A human playtest found all three games playable. The automated playtest was flaky and triggered phantom-bug fixes in every setup, so the gap is indicative. In the scripted 8-prompt build, DevMemory used 0.61M tokens against 1.06M and 1.20M.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the loss. In web race round 1 DevMemory built 3 of 8 features because the pack missed the session where the user specified label colors; origin lineage and verbatim requirement memory fixed it, and round 2 was the re-test. Limitations are stated up front and detailed in RESULTS.md.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a cheaper model with memory beat a bigger model without it; memory roughly halved tokens over a real multi-session build; memory recorded in one tool helped another; and keeping the user's own words is what makes memory useful. Next: a one-command install, more MCP clients, a Studio playtest gate, and larger real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F1115"/>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jp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502920"/>
            <a:ext cx="4023360" cy="777240"/>
          </a:xfrm>
          <a:prstGeom prst="rect">
            <a:avLst/>
          </a:prstGeom>
          <a:noFill/>
          <a:ln/>
        </p:spPr>
        <p:txBody>
          <a:bodyPr wrap="square" lIns="0" tIns="0" rIns="0" bIns="0" rtlCol="0" anchor="ctr"/>
          <a:lstStyle/>
          <a:p>
            <a:pPr indent="0" marL="0">
              <a:buNone/>
            </a:pPr>
            <a:r>
              <a:rPr lang="en-US" sz="5200" b="1" dirty="0">
                <a:solidFill>
                  <a:srgbClr val="EDEDED"/>
                </a:solidFill>
                <a:latin typeface="Calibri" pitchFamily="34" charset="0"/>
                <a:ea typeface="Calibri" pitchFamily="34" charset="-122"/>
                <a:cs typeface="Calibri" pitchFamily="34" charset="-120"/>
              </a:rPr>
              <a:t>DevMemory</a:t>
            </a:r>
            <a:endParaRPr lang="en-US" sz="5200" dirty="0"/>
          </a:p>
        </p:txBody>
      </p:sp>
      <p:sp>
        <p:nvSpPr>
          <p:cNvPr id="3" name="Subtitle"/>
          <p:cNvSpPr txBox="1"/>
          <p:nvPr/>
        </p:nvSpPr>
        <p:spPr>
          <a:xfrm>
            <a:off x="548640" y="1325880"/>
            <a:ext cx="3840480" cy="685800"/>
          </a:xfrm>
          <a:prstGeom prst="rect">
            <a:avLst/>
          </a:prstGeom>
          <a:noFill/>
          <a:ln/>
        </p:spPr>
        <p:txBody>
          <a:bodyPr wrap="square" lIns="0" tIns="0" rIns="0" bIns="0" rtlCol="0" anchor="t"/>
          <a:lstStyle/>
          <a:p>
            <a:pPr indent="0" marL="0">
              <a:buNone/>
            </a:pPr>
            <a:r>
              <a:rPr lang="en-US" sz="1900" b="1" dirty="0">
                <a:solidFill>
                  <a:srgbClr val="8B7CF6"/>
                </a:solidFill>
                <a:latin typeface="Calibri" pitchFamily="34" charset="0"/>
                <a:ea typeface="Calibri" pitchFamily="34" charset="-122"/>
                <a:cs typeface="Calibri" pitchFamily="34" charset="-120"/>
              </a:rPr>
              <a:t>Memory that lets every new AI coding session start warm</a:t>
            </a:r>
            <a:endParaRPr lang="en-US" sz="1900" dirty="0"/>
          </a:p>
        </p:txBody>
      </p:sp>
      <p:sp>
        <p:nvSpPr>
          <p:cNvPr id="4" name="Summary"/>
          <p:cNvSpPr txBox="1"/>
          <p:nvPr/>
        </p:nvSpPr>
        <p:spPr>
          <a:xfrm>
            <a:off x="548640" y="2103120"/>
            <a:ext cx="3840480" cy="1417320"/>
          </a:xfrm>
          <a:prstGeom prst="rect">
            <a:avLst/>
          </a:prstGeom>
          <a:noFill/>
          <a:ln/>
        </p:spPr>
        <p:txBody>
          <a:bodyPr wrap="square" lIns="0" tIns="0" rIns="0" bIns="0" rtlCol="0" anchor="t"/>
          <a:lstStyle/>
          <a:p>
            <a:pPr indent="0" marL="0">
              <a:buNone/>
            </a:pPr>
            <a:r>
              <a:rPr lang="en-US" sz="1250" dirty="0">
                <a:solidFill>
                  <a:srgbClr val="EDEDED"/>
                </a:solidFill>
                <a:latin typeface="Calibri" pitchFamily="34" charset="0"/>
                <a:ea typeface="Calibri" pitchFamily="34" charset="-122"/>
                <a:cs typeface="Calibri" pitchFamily="34" charset="-120"/>
              </a:rPr>
              <a:t>A local-first memory layer for AI coding tools. It records every AI session as plain files, and before each new session it hands the model a small, sourced briefing of about 1,000 tokens: the user's earlier decisions in their own words, the files that matter, and warnings where the code has changed since. No AI is used to build the briefing.</a:t>
            </a:r>
            <a:endParaRPr lang="en-US" sz="1250" dirty="0"/>
          </a:p>
        </p:txBody>
      </p:sp>
      <p:sp>
        <p:nvSpPr>
          <p:cNvPr id="5" name="Author and event"/>
          <p:cNvSpPr txBox="1"/>
          <p:nvPr/>
        </p:nvSpPr>
        <p:spPr>
          <a:xfrm>
            <a:off x="548640" y="3749040"/>
            <a:ext cx="3840480" cy="731520"/>
          </a:xfrm>
          <a:prstGeom prst="rect">
            <a:avLst/>
          </a:prstGeom>
          <a:noFill/>
          <a:ln/>
        </p:spPr>
        <p:txBody>
          <a:bodyPr wrap="square" lIns="0" tIns="0" rIns="0" bIns="0" rtlCol="0" anchor="t"/>
          <a:lstStyle/>
          <a:p>
            <a:pPr indent="0" marL="0">
              <a:buNone/>
            </a:pPr>
            <a:r>
              <a:rPr lang="en-US" sz="1200" b="1" dirty="0">
                <a:solidFill>
                  <a:srgbClr val="EDEDED"/>
                </a:solidFill>
                <a:latin typeface="Calibri" pitchFamily="34" charset="0"/>
                <a:ea typeface="Calibri" pitchFamily="34" charset="-122"/>
                <a:cs typeface="Calibri" pitchFamily="34" charset="-120"/>
              </a:rPr>
              <a:t>Thamer Alhussain</a:t>
            </a:r>
            <a:endParaRPr lang="en-US" sz="1200" dirty="0"/>
          </a:p>
          <a:p>
            <a:pPr indent="0" marL="0">
              <a:buNone/>
            </a:pPr>
            <a:r>
              <a:rPr lang="en-US" sz="1200" dirty="0">
                <a:solidFill>
                  <a:srgbClr val="9AA0AA"/>
                </a:solidFill>
                <a:latin typeface="Calibri" pitchFamily="34" charset="0"/>
                <a:ea typeface="Calibri" pitchFamily="34" charset="-122"/>
                <a:cs typeface="Calibri" pitchFamily="34" charset="-120"/>
              </a:rPr>
              <a:t>HUMAIN–Misk Future AI Builders Hackathon · Challenge 2: Deliver AI with Less Compute</a:t>
            </a:r>
            <a:endParaRPr lang="en-US" sz="1200" dirty="0"/>
          </a:p>
        </p:txBody>
      </p:sp>
      <p:sp>
        <p:nvSpPr>
          <p:cNvPr id="6" name="DevMemory app overview frame"/>
          <p:cNvSpPr/>
          <p:nvPr/>
        </p:nvSpPr>
        <p:spPr>
          <a:xfrm>
            <a:off x="4572000" y="1100138"/>
            <a:ext cx="4251960" cy="2691765"/>
          </a:xfrm>
          <a:prstGeom prst="roundRect">
            <a:avLst>
              <a:gd name="adj" fmla="val 2718"/>
            </a:avLst>
          </a:prstGeom>
          <a:solidFill>
            <a:srgbClr val="161A22"/>
          </a:solidFill>
          <a:ln w="9525">
            <a:solidFill>
              <a:srgbClr val="5A606B"/>
            </a:solidFill>
            <a:prstDash val="solid"/>
          </a:ln>
        </p:spPr>
      </p:sp>
      <p:pic>
        <p:nvPicPr>
          <p:cNvPr id="7" name="DevMemory app overview" descr="DevMemory app overview">    </p:cNvPr>
          <p:cNvPicPr>
            <a:picLocks noChangeAspect="1"/>
          </p:cNvPicPr>
          <p:nvPr/>
        </p:nvPicPr>
        <p:blipFill>
          <a:blip r:embed="rId1"/>
          <a:stretch>
            <a:fillRect/>
          </a:stretch>
        </p:blipFill>
        <p:spPr>
          <a:xfrm>
            <a:off x="4617720" y="1145858"/>
            <a:ext cx="4160520" cy="2600325"/>
          </a:xfrm>
          <a:prstGeom prst="rect">
            <a:avLst/>
          </a:prstGeom>
        </p:spPr>
      </p:pic>
      <p:sp>
        <p:nvSpPr>
          <p:cNvPr id="8" name="Screenshot caption"/>
          <p:cNvSpPr txBox="1"/>
          <p:nvPr/>
        </p:nvSpPr>
        <p:spPr>
          <a:xfrm>
            <a:off x="4617720" y="4206240"/>
            <a:ext cx="4160520" cy="320040"/>
          </a:xfrm>
          <a:prstGeom prst="rect">
            <a:avLst/>
          </a:prstGeom>
          <a:noFill/>
          <a:ln/>
        </p:spPr>
        <p:txBody>
          <a:bodyPr wrap="square" lIns="0" tIns="0" rIns="0" bIns="0" rtlCol="0" anchor="ctr"/>
          <a:lstStyle/>
          <a:p>
            <a:pPr algn="ctr" indent="0" marL="0">
              <a:buNone/>
            </a:pPr>
            <a:r>
              <a:rPr lang="en-US" sz="1050" dirty="0">
                <a:solidFill>
                  <a:srgbClr val="9AA0AA"/>
                </a:solidFill>
                <a:latin typeface="Calibri" pitchFamily="34" charset="0"/>
                <a:ea typeface="Calibri" pitchFamily="34" charset="-122"/>
                <a:cs typeface="Calibri" pitchFamily="34" charset="-120"/>
              </a:rPr>
              <a:t>The DevMemory desktop app: a project's memory, browsable like a notes vault</a:t>
            </a:r>
            <a:endParaRPr lang="en-US" sz="10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EDEDED"/>
                </a:solidFill>
                <a:latin typeface="Calibri" pitchFamily="34" charset="0"/>
                <a:ea typeface="Calibri" pitchFamily="34" charset="-122"/>
                <a:cs typeface="Calibri" pitchFamily="34" charset="-120"/>
              </a:rPr>
              <a:t>Every AI coding session starts cold</a:t>
            </a:r>
            <a:endParaRPr lang="en-US" sz="3200" dirty="0"/>
          </a:p>
        </p:txBody>
      </p:sp>
      <p:sp>
        <p:nvSpPr>
          <p:cNvPr id="3" name="Subtitle"/>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500" dirty="0">
                <a:solidFill>
                  <a:srgbClr val="9AA0AA"/>
                </a:solidFill>
                <a:latin typeface="Calibri" pitchFamily="34" charset="0"/>
                <a:ea typeface="Calibri" pitchFamily="34" charset="-122"/>
                <a:cs typeface="Calibri" pitchFamily="34" charset="-120"/>
              </a:rPr>
              <a:t>It re-reads the project, forgets earlier decisions, and guesses what the user meant</a:t>
            </a:r>
            <a:endParaRPr lang="en-US" sz="1500" dirty="0"/>
          </a:p>
        </p:txBody>
      </p:sp>
      <p:sp>
        <p:nvSpPr>
          <p:cNvPr id="4" name="Stat card 1"/>
          <p:cNvSpPr/>
          <p:nvPr/>
        </p:nvSpPr>
        <p:spPr>
          <a:xfrm>
            <a:off x="457200" y="1325880"/>
            <a:ext cx="2606040" cy="2011680"/>
          </a:xfrm>
          <a:prstGeom prst="roundRect">
            <a:avLst>
              <a:gd name="adj" fmla="val 4545"/>
            </a:avLst>
          </a:prstGeom>
          <a:solidFill>
            <a:srgbClr val="161A22"/>
          </a:solidFill>
          <a:ln w="9525">
            <a:solidFill>
              <a:srgbClr val="232834"/>
            </a:solidFill>
            <a:prstDash val="solid"/>
          </a:ln>
        </p:spPr>
      </p:sp>
      <p:sp>
        <p:nvSpPr>
          <p:cNvPr id="5" name="Stat 1"/>
          <p:cNvSpPr txBox="1"/>
          <p:nvPr/>
        </p:nvSpPr>
        <p:spPr>
          <a:xfrm>
            <a:off x="640080" y="1417320"/>
            <a:ext cx="2240280" cy="731520"/>
          </a:xfrm>
          <a:prstGeom prst="rect">
            <a:avLst/>
          </a:prstGeom>
          <a:noFill/>
          <a:ln/>
        </p:spPr>
        <p:txBody>
          <a:bodyPr wrap="square" lIns="0" tIns="0" rIns="0" bIns="0" rtlCol="0" anchor="ctr"/>
          <a:lstStyle/>
          <a:p>
            <a:pPr indent="0" marL="0">
              <a:buNone/>
            </a:pPr>
            <a:r>
              <a:rPr lang="en-US" sz="4400" b="1" dirty="0">
                <a:solidFill>
                  <a:srgbClr val="8B7CF6"/>
                </a:solidFill>
                <a:latin typeface="Calibri" pitchFamily="34" charset="0"/>
                <a:ea typeface="Calibri" pitchFamily="34" charset="-122"/>
                <a:cs typeface="Calibri" pitchFamily="34" charset="-120"/>
              </a:rPr>
              <a:t>0 of 3</a:t>
            </a:r>
            <a:endParaRPr lang="en-US" sz="4400" dirty="0"/>
          </a:p>
        </p:txBody>
      </p:sp>
      <p:sp>
        <p:nvSpPr>
          <p:cNvPr id="6" name="Stat label 1"/>
          <p:cNvSpPr txBox="1"/>
          <p:nvPr/>
        </p:nvSpPr>
        <p:spPr>
          <a:xfrm>
            <a:off x="640080" y="2176272"/>
            <a:ext cx="2240280" cy="320040"/>
          </a:xfrm>
          <a:prstGeom prst="rect">
            <a:avLst/>
          </a:prstGeom>
          <a:noFill/>
          <a:ln/>
        </p:spPr>
        <p:txBody>
          <a:bodyPr wrap="square" lIns="0" tIns="0" rIns="0" bIns="0" rtlCol="0" anchor="ctr"/>
          <a:lstStyle/>
          <a:p>
            <a:pPr indent="0" marL="0">
              <a:buNone/>
            </a:pPr>
            <a:r>
              <a:rPr lang="en-US" sz="1500" b="1" dirty="0">
                <a:solidFill>
                  <a:srgbClr val="EDEDED"/>
                </a:solidFill>
                <a:latin typeface="Calibri" pitchFamily="34" charset="0"/>
                <a:ea typeface="Calibri" pitchFamily="34" charset="-122"/>
                <a:cs typeface="Calibri" pitchFamily="34" charset="-120"/>
              </a:rPr>
              <a:t>restored the spec</a:t>
            </a:r>
            <a:endParaRPr lang="en-US" sz="1500" dirty="0"/>
          </a:p>
        </p:txBody>
      </p:sp>
      <p:sp>
        <p:nvSpPr>
          <p:cNvPr id="7" name="Stat sub 1"/>
          <p:cNvSpPr txBox="1"/>
          <p:nvPr/>
        </p:nvSpPr>
        <p:spPr>
          <a:xfrm>
            <a:off x="640080" y="2514600"/>
            <a:ext cx="2286000" cy="777240"/>
          </a:xfrm>
          <a:prstGeom prst="rect">
            <a:avLst/>
          </a:prstGeom>
          <a:noFill/>
          <a:ln/>
        </p:spPr>
        <p:txBody>
          <a:bodyPr wrap="square" lIns="0" tIns="0" rIns="0" bIns="0" rtlCol="0" anchor="t"/>
          <a:lstStyle/>
          <a:p>
            <a:pPr indent="0" marL="0">
              <a:buNone/>
            </a:pPr>
            <a:r>
              <a:rPr lang="en-US" sz="1150" dirty="0">
                <a:solidFill>
                  <a:srgbClr val="9AA0AA"/>
                </a:solidFill>
                <a:latin typeface="Calibri" pitchFamily="34" charset="0"/>
                <a:ea typeface="Calibri" pitchFamily="34" charset="-122"/>
                <a:cs typeface="Calibri" pitchFamily="34" charset="-120"/>
              </a:rPr>
              <a:t>Codex runs without memory, asked to put back colors the user chose earlier</a:t>
            </a:r>
            <a:endParaRPr lang="en-US" sz="1150" dirty="0"/>
          </a:p>
        </p:txBody>
      </p:sp>
      <p:sp>
        <p:nvSpPr>
          <p:cNvPr id="8" name="Stat card 2"/>
          <p:cNvSpPr/>
          <p:nvPr/>
        </p:nvSpPr>
        <p:spPr>
          <a:xfrm>
            <a:off x="3246120" y="1325880"/>
            <a:ext cx="2606040" cy="2011680"/>
          </a:xfrm>
          <a:prstGeom prst="roundRect">
            <a:avLst>
              <a:gd name="adj" fmla="val 4545"/>
            </a:avLst>
          </a:prstGeom>
          <a:solidFill>
            <a:srgbClr val="161A22"/>
          </a:solidFill>
          <a:ln w="9525">
            <a:solidFill>
              <a:srgbClr val="232834"/>
            </a:solidFill>
            <a:prstDash val="solid"/>
          </a:ln>
        </p:spPr>
      </p:sp>
      <p:sp>
        <p:nvSpPr>
          <p:cNvPr id="9" name="Stat 2"/>
          <p:cNvSpPr txBox="1"/>
          <p:nvPr/>
        </p:nvSpPr>
        <p:spPr>
          <a:xfrm>
            <a:off x="3429000" y="1417320"/>
            <a:ext cx="2240280" cy="731520"/>
          </a:xfrm>
          <a:prstGeom prst="rect">
            <a:avLst/>
          </a:prstGeom>
          <a:noFill/>
          <a:ln/>
        </p:spPr>
        <p:txBody>
          <a:bodyPr wrap="square" lIns="0" tIns="0" rIns="0" bIns="0" rtlCol="0" anchor="ctr"/>
          <a:lstStyle/>
          <a:p>
            <a:pPr indent="0" marL="0">
              <a:buNone/>
            </a:pPr>
            <a:r>
              <a:rPr lang="en-US" sz="4400" b="1" dirty="0">
                <a:solidFill>
                  <a:srgbClr val="38D6E8"/>
                </a:solidFill>
                <a:latin typeface="Calibri" pitchFamily="34" charset="0"/>
                <a:ea typeface="Calibri" pitchFamily="34" charset="-122"/>
                <a:cs typeface="Calibri" pitchFamily="34" charset="-120"/>
              </a:rPr>
              <a:t>3 of 12</a:t>
            </a:r>
            <a:endParaRPr lang="en-US" sz="4400" dirty="0"/>
          </a:p>
        </p:txBody>
      </p:sp>
      <p:sp>
        <p:nvSpPr>
          <p:cNvPr id="10" name="Stat label 2"/>
          <p:cNvSpPr txBox="1"/>
          <p:nvPr/>
        </p:nvSpPr>
        <p:spPr>
          <a:xfrm>
            <a:off x="3429000" y="2176272"/>
            <a:ext cx="2240280" cy="320040"/>
          </a:xfrm>
          <a:prstGeom prst="rect">
            <a:avLst/>
          </a:prstGeom>
          <a:noFill/>
          <a:ln/>
        </p:spPr>
        <p:txBody>
          <a:bodyPr wrap="square" lIns="0" tIns="0" rIns="0" bIns="0" rtlCol="0" anchor="ctr"/>
          <a:lstStyle/>
          <a:p>
            <a:pPr indent="0" marL="0">
              <a:buNone/>
            </a:pPr>
            <a:r>
              <a:rPr lang="en-US" sz="1500" b="1" dirty="0">
                <a:solidFill>
                  <a:srgbClr val="EDEDED"/>
                </a:solidFill>
                <a:latin typeface="Calibri" pitchFamily="34" charset="0"/>
                <a:ea typeface="Calibri" pitchFamily="34" charset="-122"/>
                <a:cs typeface="Calibri" pitchFamily="34" charset="-120"/>
              </a:rPr>
              <a:t>history tasks solved</a:t>
            </a:r>
            <a:endParaRPr lang="en-US" sz="1500" dirty="0"/>
          </a:p>
        </p:txBody>
      </p:sp>
      <p:sp>
        <p:nvSpPr>
          <p:cNvPr id="11" name="Stat sub 2"/>
          <p:cNvSpPr txBox="1"/>
          <p:nvPr/>
        </p:nvSpPr>
        <p:spPr>
          <a:xfrm>
            <a:off x="3429000" y="2514600"/>
            <a:ext cx="2286000" cy="777240"/>
          </a:xfrm>
          <a:prstGeom prst="rect">
            <a:avLst/>
          </a:prstGeom>
          <a:noFill/>
          <a:ln/>
        </p:spPr>
        <p:txBody>
          <a:bodyPr wrap="square" lIns="0" tIns="0" rIns="0" bIns="0" rtlCol="0" anchor="t"/>
          <a:lstStyle/>
          <a:p>
            <a:pPr indent="0" marL="0">
              <a:buNone/>
            </a:pPr>
            <a:r>
              <a:rPr lang="en-US" sz="1150" dirty="0">
                <a:solidFill>
                  <a:srgbClr val="9AA0AA"/>
                </a:solidFill>
                <a:latin typeface="Calibri" pitchFamily="34" charset="0"/>
                <a:ea typeface="Calibri" pitchFamily="34" charset="-122"/>
                <a:cs typeface="Calibri" pitchFamily="34" charset="-120"/>
              </a:rPr>
              <a:t>without memory, on unseen tasks that need an earlier decision</a:t>
            </a:r>
            <a:endParaRPr lang="en-US" sz="1150" dirty="0"/>
          </a:p>
        </p:txBody>
      </p:sp>
      <p:sp>
        <p:nvSpPr>
          <p:cNvPr id="12" name="Stat card 3"/>
          <p:cNvSpPr/>
          <p:nvPr/>
        </p:nvSpPr>
        <p:spPr>
          <a:xfrm>
            <a:off x="6035040" y="1325880"/>
            <a:ext cx="2606040" cy="2011680"/>
          </a:xfrm>
          <a:prstGeom prst="roundRect">
            <a:avLst>
              <a:gd name="adj" fmla="val 4545"/>
            </a:avLst>
          </a:prstGeom>
          <a:solidFill>
            <a:srgbClr val="161A22"/>
          </a:solidFill>
          <a:ln w="9525">
            <a:solidFill>
              <a:srgbClr val="232834"/>
            </a:solidFill>
            <a:prstDash val="solid"/>
          </a:ln>
        </p:spPr>
      </p:sp>
      <p:sp>
        <p:nvSpPr>
          <p:cNvPr id="13" name="Stat 3"/>
          <p:cNvSpPr txBox="1"/>
          <p:nvPr/>
        </p:nvSpPr>
        <p:spPr>
          <a:xfrm>
            <a:off x="6217920" y="1417320"/>
            <a:ext cx="2240280" cy="731520"/>
          </a:xfrm>
          <a:prstGeom prst="rect">
            <a:avLst/>
          </a:prstGeom>
          <a:noFill/>
          <a:ln/>
        </p:spPr>
        <p:txBody>
          <a:bodyPr wrap="square" lIns="0" tIns="0" rIns="0" bIns="0" rtlCol="0" anchor="ctr"/>
          <a:lstStyle/>
          <a:p>
            <a:pPr indent="0" marL="0">
              <a:buNone/>
            </a:pPr>
            <a:r>
              <a:rPr lang="en-US" sz="4400" b="1" dirty="0">
                <a:solidFill>
                  <a:srgbClr val="F5A524"/>
                </a:solidFill>
                <a:latin typeface="Calibri" pitchFamily="34" charset="0"/>
                <a:ea typeface="Calibri" pitchFamily="34" charset="-122"/>
                <a:cs typeface="Calibri" pitchFamily="34" charset="-120"/>
              </a:rPr>
              <a:t>11×</a:t>
            </a:r>
            <a:endParaRPr lang="en-US" sz="4400" dirty="0"/>
          </a:p>
        </p:txBody>
      </p:sp>
      <p:sp>
        <p:nvSpPr>
          <p:cNvPr id="14" name="Stat label 3"/>
          <p:cNvSpPr txBox="1"/>
          <p:nvPr/>
        </p:nvSpPr>
        <p:spPr>
          <a:xfrm>
            <a:off x="6217920" y="2176272"/>
            <a:ext cx="2240280" cy="320040"/>
          </a:xfrm>
          <a:prstGeom prst="rect">
            <a:avLst/>
          </a:prstGeom>
          <a:noFill/>
          <a:ln/>
        </p:spPr>
        <p:txBody>
          <a:bodyPr wrap="square" lIns="0" tIns="0" rIns="0" bIns="0" rtlCol="0" anchor="ctr"/>
          <a:lstStyle/>
          <a:p>
            <a:pPr indent="0" marL="0">
              <a:buNone/>
            </a:pPr>
            <a:r>
              <a:rPr lang="en-US" sz="1500" b="1" dirty="0">
                <a:solidFill>
                  <a:srgbClr val="EDEDED"/>
                </a:solidFill>
                <a:latin typeface="Calibri" pitchFamily="34" charset="0"/>
                <a:ea typeface="Calibri" pitchFamily="34" charset="-122"/>
                <a:cs typeface="Calibri" pitchFamily="34" charset="-120"/>
              </a:rPr>
              <a:t>cost of a bigger model</a:t>
            </a:r>
            <a:endParaRPr lang="en-US" sz="1500" dirty="0"/>
          </a:p>
        </p:txBody>
      </p:sp>
      <p:sp>
        <p:nvSpPr>
          <p:cNvPr id="15" name="Stat sub 3"/>
          <p:cNvSpPr txBox="1"/>
          <p:nvPr/>
        </p:nvSpPr>
        <p:spPr>
          <a:xfrm>
            <a:off x="6217920" y="2514600"/>
            <a:ext cx="2286000" cy="777240"/>
          </a:xfrm>
          <a:prstGeom prst="rect">
            <a:avLst/>
          </a:prstGeom>
          <a:noFill/>
          <a:ln/>
        </p:spPr>
        <p:txBody>
          <a:bodyPr wrap="square" lIns="0" tIns="0" rIns="0" bIns="0" rtlCol="0" anchor="t"/>
          <a:lstStyle/>
          <a:p>
            <a:pPr indent="0" marL="0">
              <a:buNone/>
            </a:pPr>
            <a:r>
              <a:rPr lang="en-US" sz="1150" dirty="0">
                <a:solidFill>
                  <a:srgbClr val="9AA0AA"/>
                </a:solidFill>
                <a:latin typeface="Calibri" pitchFamily="34" charset="0"/>
                <a:ea typeface="Calibri" pitchFamily="34" charset="-122"/>
                <a:cs typeface="Calibri" pitchFamily="34" charset="-120"/>
              </a:rPr>
              <a:t>per success for Sonnet without memory, and it still missed the accuracy bar</a:t>
            </a:r>
            <a:endParaRPr lang="en-US" sz="1150" dirty="0"/>
          </a:p>
        </p:txBody>
      </p:sp>
      <p:sp>
        <p:nvSpPr>
          <p:cNvPr id="16" name="Why panel"/>
          <p:cNvSpPr/>
          <p:nvPr/>
        </p:nvSpPr>
        <p:spPr>
          <a:xfrm>
            <a:off x="457200" y="3520440"/>
            <a:ext cx="8229600" cy="1188720"/>
          </a:xfrm>
          <a:prstGeom prst="roundRect">
            <a:avLst>
              <a:gd name="adj" fmla="val 7692"/>
            </a:avLst>
          </a:prstGeom>
          <a:solidFill>
            <a:srgbClr val="161A22"/>
          </a:solidFill>
          <a:ln w="9525">
            <a:solidFill>
              <a:srgbClr val="232834"/>
            </a:solidFill>
            <a:prstDash val="solid"/>
          </a:ln>
        </p:spPr>
      </p:sp>
      <p:sp>
        <p:nvSpPr>
          <p:cNvPr id="17" name="Why text"/>
          <p:cNvSpPr txBox="1"/>
          <p:nvPr/>
        </p:nvSpPr>
        <p:spPr>
          <a:xfrm>
            <a:off x="640080" y="3611880"/>
            <a:ext cx="7863840" cy="1005840"/>
          </a:xfrm>
          <a:prstGeom prst="rect">
            <a:avLst/>
          </a:prstGeom>
          <a:noFill/>
          <a:ln/>
        </p:spPr>
        <p:txBody>
          <a:bodyPr wrap="square" lIns="0" tIns="0" rIns="0" bIns="0" rtlCol="0" anchor="ctr"/>
          <a:lstStyle/>
          <a:p>
            <a:pPr indent="0" marL="0">
              <a:buNone/>
            </a:pPr>
            <a:r>
              <a:rPr lang="en-US" sz="1250" b="1" dirty="0">
                <a:solidFill>
                  <a:srgbClr val="38D6E8"/>
                </a:solidFill>
                <a:latin typeface="Calibri" pitchFamily="34" charset="0"/>
                <a:ea typeface="Calibri" pitchFamily="34" charset="-122"/>
                <a:cs typeface="Calibri" pitchFamily="34" charset="-120"/>
              </a:rPr>
              <a:t>Why this wastes compute. </a:t>
            </a:r>
            <a:pPr indent="0" marL="0">
              <a:buNone/>
            </a:pPr>
            <a:r>
              <a:rPr lang="en-US" sz="1250" dirty="0">
                <a:solidFill>
                  <a:srgbClr val="EDEDED"/>
                </a:solidFill>
                <a:latin typeface="Calibri" pitchFamily="34" charset="0"/>
                <a:ea typeface="Calibri" pitchFamily="34" charset="-122"/>
                <a:cs typeface="Calibri" pitchFamily="34" charset="-120"/>
              </a:rPr>
              <a:t>Without memory, each session either re-explores the project (tokens spent rediscovering what was already known) or guesses (wrong results, more sessions to fix them). A bigger model or a longer context window does not fix this: the missing information is not in the code at all, it lives in earlier conversations. DevMemory keeps those conversations and sends the few lines that matter.</a:t>
            </a:r>
            <a:endParaRPr lang="en-US" sz="12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EDEDED"/>
                </a:solidFill>
                <a:latin typeface="Calibri" pitchFamily="34" charset="0"/>
                <a:ea typeface="Calibri" pitchFamily="34" charset="-122"/>
                <a:cs typeface="Calibri" pitchFamily="34" charset="-120"/>
              </a:rPr>
              <a:t>How it works: scan, capture, pack, deliver</a:t>
            </a:r>
            <a:endParaRPr lang="en-US" sz="3200" dirty="0"/>
          </a:p>
        </p:txBody>
      </p:sp>
      <p:sp>
        <p:nvSpPr>
          <p:cNvPr id="3" name="Step card 1"/>
          <p:cNvSpPr/>
          <p:nvPr/>
        </p:nvSpPr>
        <p:spPr>
          <a:xfrm>
            <a:off x="457200" y="1051560"/>
            <a:ext cx="1920240" cy="3063240"/>
          </a:xfrm>
          <a:prstGeom prst="roundRect">
            <a:avLst>
              <a:gd name="adj" fmla="val 4762"/>
            </a:avLst>
          </a:prstGeom>
          <a:solidFill>
            <a:srgbClr val="161A22"/>
          </a:solidFill>
          <a:ln w="9525">
            <a:solidFill>
              <a:srgbClr val="232834"/>
            </a:solidFill>
            <a:prstDash val="solid"/>
          </a:ln>
        </p:spPr>
      </p:sp>
      <p:sp>
        <p:nvSpPr>
          <p:cNvPr id="4" name="Step circle 1"/>
          <p:cNvSpPr/>
          <p:nvPr/>
        </p:nvSpPr>
        <p:spPr>
          <a:xfrm>
            <a:off x="621792" y="1188720"/>
            <a:ext cx="457200" cy="457200"/>
          </a:xfrm>
          <a:prstGeom prst="ellipse">
            <a:avLst/>
          </a:prstGeom>
          <a:solidFill>
            <a:srgbClr val="8B7CF6"/>
          </a:solidFill>
          <a:ln w="12700">
            <a:solidFill>
              <a:srgbClr val="8B7CF6"/>
            </a:solidFill>
            <a:prstDash val="solid"/>
          </a:ln>
        </p:spPr>
      </p:sp>
      <p:sp>
        <p:nvSpPr>
          <p:cNvPr id="5" name="Step num 1"/>
          <p:cNvSpPr txBox="1"/>
          <p:nvPr/>
        </p:nvSpPr>
        <p:spPr>
          <a:xfrm>
            <a:off x="621792" y="1188720"/>
            <a:ext cx="457200" cy="457200"/>
          </a:xfrm>
          <a:prstGeom prst="rect">
            <a:avLst/>
          </a:prstGeom>
          <a:noFill/>
          <a:ln/>
        </p:spPr>
        <p:txBody>
          <a:bodyPr wrap="square" lIns="0" tIns="0" rIns="0" bIns="0" rtlCol="0" anchor="ctr"/>
          <a:lstStyle/>
          <a:p>
            <a:pPr algn="ctr" indent="0" marL="0">
              <a:buNone/>
            </a:pPr>
            <a:r>
              <a:rPr lang="en-US" sz="1800" b="1" dirty="0">
                <a:solidFill>
                  <a:srgbClr val="0F1115"/>
                </a:solidFill>
                <a:latin typeface="Calibri" pitchFamily="34" charset="0"/>
                <a:ea typeface="Calibri" pitchFamily="34" charset="-122"/>
                <a:cs typeface="Calibri" pitchFamily="34" charset="-120"/>
              </a:rPr>
              <a:t>1</a:t>
            </a:r>
            <a:endParaRPr lang="en-US" sz="1800" dirty="0"/>
          </a:p>
        </p:txBody>
      </p:sp>
      <p:sp>
        <p:nvSpPr>
          <p:cNvPr id="6" name="Step name 1"/>
          <p:cNvSpPr txBox="1"/>
          <p:nvPr/>
        </p:nvSpPr>
        <p:spPr>
          <a:xfrm>
            <a:off x="1188720" y="1188720"/>
            <a:ext cx="1097280" cy="457200"/>
          </a:xfrm>
          <a:prstGeom prst="rect">
            <a:avLst/>
          </a:prstGeom>
          <a:noFill/>
          <a:ln/>
        </p:spPr>
        <p:txBody>
          <a:bodyPr wrap="square" lIns="0" tIns="0" rIns="0" bIns="0" rtlCol="0" anchor="ctr"/>
          <a:lstStyle/>
          <a:p>
            <a:pPr indent="0" marL="0">
              <a:buNone/>
            </a:pPr>
            <a:r>
              <a:rPr lang="en-US" sz="1800" b="1" dirty="0">
                <a:solidFill>
                  <a:srgbClr val="EDEDED"/>
                </a:solidFill>
                <a:latin typeface="Calibri" pitchFamily="34" charset="0"/>
                <a:ea typeface="Calibri" pitchFamily="34" charset="-122"/>
                <a:cs typeface="Calibri" pitchFamily="34" charset="-120"/>
              </a:rPr>
              <a:t>Scan</a:t>
            </a:r>
            <a:endParaRPr lang="en-US" sz="1800" dirty="0"/>
          </a:p>
        </p:txBody>
      </p:sp>
      <p:sp>
        <p:nvSpPr>
          <p:cNvPr id="7" name="Step text 1"/>
          <p:cNvSpPr txBox="1"/>
          <p:nvPr/>
        </p:nvSpPr>
        <p:spPr>
          <a:xfrm>
            <a:off x="621792" y="1783080"/>
            <a:ext cx="1645920" cy="2286000"/>
          </a:xfrm>
          <a:prstGeom prst="rect">
            <a:avLst/>
          </a:prstGeom>
          <a:noFill/>
          <a:ln/>
        </p:spPr>
        <p:txBody>
          <a:bodyPr wrap="square" lIns="0" tIns="0" rIns="0" bIns="0" rtlCol="0" anchor="t"/>
          <a:lstStyle/>
          <a:p>
            <a:pPr indent="0" marL="0">
              <a:buNone/>
            </a:pPr>
            <a:r>
              <a:rPr lang="en-US" sz="1100" dirty="0">
                <a:solidFill>
                  <a:srgbClr val="EDEDED"/>
                </a:solidFill>
                <a:latin typeface="Calibri" pitchFamily="34" charset="0"/>
                <a:ea typeface="Calibri" pitchFamily="34" charset="-122"/>
                <a:cs typeface="Calibri" pitchFamily="34" charset="-120"/>
              </a:rPr>
              <a:t>Builds a project map deterministically: files, symbols, the require graph, Roblox remotes and config keys, and the project's own conventions as observed in the code. 0 AI tokens; about 150 ms on Blade Swarm.</a:t>
            </a:r>
            <a:endParaRPr lang="en-US" sz="1100" dirty="0"/>
          </a:p>
        </p:txBody>
      </p:sp>
      <p:sp>
        <p:nvSpPr>
          <p:cNvPr id="8" name="Arrow 1"/>
          <p:cNvSpPr txBox="1"/>
          <p:nvPr/>
        </p:nvSpPr>
        <p:spPr>
          <a:xfrm>
            <a:off x="2359152" y="2377440"/>
            <a:ext cx="219456" cy="457200"/>
          </a:xfrm>
          <a:prstGeom prst="rect">
            <a:avLst/>
          </a:prstGeom>
          <a:noFill/>
          <a:ln/>
        </p:spPr>
        <p:txBody>
          <a:bodyPr wrap="square" lIns="0" tIns="0" rIns="0" bIns="0" rtlCol="0" anchor="ctr"/>
          <a:lstStyle/>
          <a:p>
            <a:pPr algn="ctr" indent="0" marL="0">
              <a:buNone/>
            </a:pPr>
            <a:r>
              <a:rPr lang="en-US" sz="2400" dirty="0">
                <a:solidFill>
                  <a:srgbClr val="9AA0AA"/>
                </a:solidFill>
                <a:latin typeface="Calibri" pitchFamily="34" charset="0"/>
                <a:ea typeface="Calibri" pitchFamily="34" charset="-122"/>
                <a:cs typeface="Calibri" pitchFamily="34" charset="-120"/>
              </a:rPr>
              <a:t>›</a:t>
            </a:r>
            <a:endParaRPr lang="en-US" sz="2400" dirty="0"/>
          </a:p>
        </p:txBody>
      </p:sp>
      <p:sp>
        <p:nvSpPr>
          <p:cNvPr id="9" name="Step card 2"/>
          <p:cNvSpPr/>
          <p:nvPr/>
        </p:nvSpPr>
        <p:spPr>
          <a:xfrm>
            <a:off x="2560320" y="1051560"/>
            <a:ext cx="1920240" cy="3063240"/>
          </a:xfrm>
          <a:prstGeom prst="roundRect">
            <a:avLst>
              <a:gd name="adj" fmla="val 4762"/>
            </a:avLst>
          </a:prstGeom>
          <a:solidFill>
            <a:srgbClr val="161A22"/>
          </a:solidFill>
          <a:ln w="9525">
            <a:solidFill>
              <a:srgbClr val="232834"/>
            </a:solidFill>
            <a:prstDash val="solid"/>
          </a:ln>
        </p:spPr>
      </p:sp>
      <p:sp>
        <p:nvSpPr>
          <p:cNvPr id="10" name="Step circle 2"/>
          <p:cNvSpPr/>
          <p:nvPr/>
        </p:nvSpPr>
        <p:spPr>
          <a:xfrm>
            <a:off x="2724912" y="1188720"/>
            <a:ext cx="457200" cy="457200"/>
          </a:xfrm>
          <a:prstGeom prst="ellipse">
            <a:avLst/>
          </a:prstGeom>
          <a:solidFill>
            <a:srgbClr val="38D6E8"/>
          </a:solidFill>
          <a:ln w="12700">
            <a:solidFill>
              <a:srgbClr val="38D6E8"/>
            </a:solidFill>
            <a:prstDash val="solid"/>
          </a:ln>
        </p:spPr>
      </p:sp>
      <p:sp>
        <p:nvSpPr>
          <p:cNvPr id="11" name="Step num 2"/>
          <p:cNvSpPr txBox="1"/>
          <p:nvPr/>
        </p:nvSpPr>
        <p:spPr>
          <a:xfrm>
            <a:off x="2724912" y="1188720"/>
            <a:ext cx="457200" cy="457200"/>
          </a:xfrm>
          <a:prstGeom prst="rect">
            <a:avLst/>
          </a:prstGeom>
          <a:noFill/>
          <a:ln/>
        </p:spPr>
        <p:txBody>
          <a:bodyPr wrap="square" lIns="0" tIns="0" rIns="0" bIns="0" rtlCol="0" anchor="ctr"/>
          <a:lstStyle/>
          <a:p>
            <a:pPr algn="ctr" indent="0" marL="0">
              <a:buNone/>
            </a:pPr>
            <a:r>
              <a:rPr lang="en-US" sz="1800" b="1" dirty="0">
                <a:solidFill>
                  <a:srgbClr val="0F1115"/>
                </a:solidFill>
                <a:latin typeface="Calibri" pitchFamily="34" charset="0"/>
                <a:ea typeface="Calibri" pitchFamily="34" charset="-122"/>
                <a:cs typeface="Calibri" pitchFamily="34" charset="-120"/>
              </a:rPr>
              <a:t>2</a:t>
            </a:r>
            <a:endParaRPr lang="en-US" sz="1800" dirty="0"/>
          </a:p>
        </p:txBody>
      </p:sp>
      <p:sp>
        <p:nvSpPr>
          <p:cNvPr id="12" name="Step name 2"/>
          <p:cNvSpPr txBox="1"/>
          <p:nvPr/>
        </p:nvSpPr>
        <p:spPr>
          <a:xfrm>
            <a:off x="3291840" y="1188720"/>
            <a:ext cx="1097280" cy="457200"/>
          </a:xfrm>
          <a:prstGeom prst="rect">
            <a:avLst/>
          </a:prstGeom>
          <a:noFill/>
          <a:ln/>
        </p:spPr>
        <p:txBody>
          <a:bodyPr wrap="square" lIns="0" tIns="0" rIns="0" bIns="0" rtlCol="0" anchor="ctr"/>
          <a:lstStyle/>
          <a:p>
            <a:pPr indent="0" marL="0">
              <a:buNone/>
            </a:pPr>
            <a:r>
              <a:rPr lang="en-US" sz="1800" b="1" dirty="0">
                <a:solidFill>
                  <a:srgbClr val="EDEDED"/>
                </a:solidFill>
                <a:latin typeface="Calibri" pitchFamily="34" charset="0"/>
                <a:ea typeface="Calibri" pitchFamily="34" charset="-122"/>
                <a:cs typeface="Calibri" pitchFamily="34" charset="-120"/>
              </a:rPr>
              <a:t>Capture</a:t>
            </a:r>
            <a:endParaRPr lang="en-US" sz="1800" dirty="0"/>
          </a:p>
        </p:txBody>
      </p:sp>
      <p:sp>
        <p:nvSpPr>
          <p:cNvPr id="13" name="Step text 2"/>
          <p:cNvSpPr txBox="1"/>
          <p:nvPr/>
        </p:nvSpPr>
        <p:spPr>
          <a:xfrm>
            <a:off x="2724912" y="1783080"/>
            <a:ext cx="1645920" cy="2286000"/>
          </a:xfrm>
          <a:prstGeom prst="rect">
            <a:avLst/>
          </a:prstGeom>
          <a:noFill/>
          <a:ln/>
        </p:spPr>
        <p:txBody>
          <a:bodyPr wrap="square" lIns="0" tIns="0" rIns="0" bIns="0" rtlCol="0" anchor="t"/>
          <a:lstStyle/>
          <a:p>
            <a:pPr indent="0" marL="0">
              <a:buNone/>
            </a:pPr>
            <a:r>
              <a:rPr lang="en-US" sz="1100" dirty="0">
                <a:solidFill>
                  <a:srgbClr val="EDEDED"/>
                </a:solidFill>
                <a:latin typeface="Calibri" pitchFamily="34" charset="0"/>
                <a:ea typeface="Calibri" pitchFamily="34" charset="-122"/>
                <a:cs typeface="Calibri" pitchFamily="34" charset="-120"/>
              </a:rPr>
              <a:t>Records every AI session through documented interfaces: Claude Code stream-json, Codex JSON events, or a project snapshot diff for any other tool. Prompts, visible replies, tool calls, edits and file hashes, as plain files.</a:t>
            </a:r>
            <a:endParaRPr lang="en-US" sz="1100" dirty="0"/>
          </a:p>
        </p:txBody>
      </p:sp>
      <p:sp>
        <p:nvSpPr>
          <p:cNvPr id="14" name="Arrow 2"/>
          <p:cNvSpPr txBox="1"/>
          <p:nvPr/>
        </p:nvSpPr>
        <p:spPr>
          <a:xfrm>
            <a:off x="4462272" y="2377440"/>
            <a:ext cx="219456" cy="457200"/>
          </a:xfrm>
          <a:prstGeom prst="rect">
            <a:avLst/>
          </a:prstGeom>
          <a:noFill/>
          <a:ln/>
        </p:spPr>
        <p:txBody>
          <a:bodyPr wrap="square" lIns="0" tIns="0" rIns="0" bIns="0" rtlCol="0" anchor="ctr"/>
          <a:lstStyle/>
          <a:p>
            <a:pPr algn="ctr" indent="0" marL="0">
              <a:buNone/>
            </a:pPr>
            <a:r>
              <a:rPr lang="en-US" sz="2400" dirty="0">
                <a:solidFill>
                  <a:srgbClr val="9AA0AA"/>
                </a:solidFill>
                <a:latin typeface="Calibri" pitchFamily="34" charset="0"/>
                <a:ea typeface="Calibri" pitchFamily="34" charset="-122"/>
                <a:cs typeface="Calibri" pitchFamily="34" charset="-120"/>
              </a:rPr>
              <a:t>›</a:t>
            </a:r>
            <a:endParaRPr lang="en-US" sz="2400" dirty="0"/>
          </a:p>
        </p:txBody>
      </p:sp>
      <p:sp>
        <p:nvSpPr>
          <p:cNvPr id="15" name="Step card 3"/>
          <p:cNvSpPr/>
          <p:nvPr/>
        </p:nvSpPr>
        <p:spPr>
          <a:xfrm>
            <a:off x="4663440" y="1051560"/>
            <a:ext cx="1920240" cy="3063240"/>
          </a:xfrm>
          <a:prstGeom prst="roundRect">
            <a:avLst>
              <a:gd name="adj" fmla="val 4762"/>
            </a:avLst>
          </a:prstGeom>
          <a:solidFill>
            <a:srgbClr val="161A22"/>
          </a:solidFill>
          <a:ln w="9525">
            <a:solidFill>
              <a:srgbClr val="232834"/>
            </a:solidFill>
            <a:prstDash val="solid"/>
          </a:ln>
        </p:spPr>
      </p:sp>
      <p:sp>
        <p:nvSpPr>
          <p:cNvPr id="16" name="Step circle 3"/>
          <p:cNvSpPr/>
          <p:nvPr/>
        </p:nvSpPr>
        <p:spPr>
          <a:xfrm>
            <a:off x="4828032" y="1188720"/>
            <a:ext cx="457200" cy="457200"/>
          </a:xfrm>
          <a:prstGeom prst="ellipse">
            <a:avLst/>
          </a:prstGeom>
          <a:solidFill>
            <a:srgbClr val="3DD68C"/>
          </a:solidFill>
          <a:ln w="12700">
            <a:solidFill>
              <a:srgbClr val="3DD68C"/>
            </a:solidFill>
            <a:prstDash val="solid"/>
          </a:ln>
        </p:spPr>
      </p:sp>
      <p:sp>
        <p:nvSpPr>
          <p:cNvPr id="17" name="Step num 3"/>
          <p:cNvSpPr txBox="1"/>
          <p:nvPr/>
        </p:nvSpPr>
        <p:spPr>
          <a:xfrm>
            <a:off x="4828032" y="1188720"/>
            <a:ext cx="457200" cy="457200"/>
          </a:xfrm>
          <a:prstGeom prst="rect">
            <a:avLst/>
          </a:prstGeom>
          <a:noFill/>
          <a:ln/>
        </p:spPr>
        <p:txBody>
          <a:bodyPr wrap="square" lIns="0" tIns="0" rIns="0" bIns="0" rtlCol="0" anchor="ctr"/>
          <a:lstStyle/>
          <a:p>
            <a:pPr algn="ctr" indent="0" marL="0">
              <a:buNone/>
            </a:pPr>
            <a:r>
              <a:rPr lang="en-US" sz="1800" b="1" dirty="0">
                <a:solidFill>
                  <a:srgbClr val="0F1115"/>
                </a:solidFill>
                <a:latin typeface="Calibri" pitchFamily="34" charset="0"/>
                <a:ea typeface="Calibri" pitchFamily="34" charset="-122"/>
                <a:cs typeface="Calibri" pitchFamily="34" charset="-120"/>
              </a:rPr>
              <a:t>3</a:t>
            </a:r>
            <a:endParaRPr lang="en-US" sz="1800" dirty="0"/>
          </a:p>
        </p:txBody>
      </p:sp>
      <p:sp>
        <p:nvSpPr>
          <p:cNvPr id="18" name="Step name 3"/>
          <p:cNvSpPr txBox="1"/>
          <p:nvPr/>
        </p:nvSpPr>
        <p:spPr>
          <a:xfrm>
            <a:off x="5394960" y="1188720"/>
            <a:ext cx="1097280" cy="457200"/>
          </a:xfrm>
          <a:prstGeom prst="rect">
            <a:avLst/>
          </a:prstGeom>
          <a:noFill/>
          <a:ln/>
        </p:spPr>
        <p:txBody>
          <a:bodyPr wrap="square" lIns="0" tIns="0" rIns="0" bIns="0" rtlCol="0" anchor="ctr"/>
          <a:lstStyle/>
          <a:p>
            <a:pPr indent="0" marL="0">
              <a:buNone/>
            </a:pPr>
            <a:r>
              <a:rPr lang="en-US" sz="1800" b="1" dirty="0">
                <a:solidFill>
                  <a:srgbClr val="EDEDED"/>
                </a:solidFill>
                <a:latin typeface="Calibri" pitchFamily="34" charset="0"/>
                <a:ea typeface="Calibri" pitchFamily="34" charset="-122"/>
                <a:cs typeface="Calibri" pitchFamily="34" charset="-120"/>
              </a:rPr>
              <a:t>Pack</a:t>
            </a:r>
            <a:endParaRPr lang="en-US" sz="1800" dirty="0"/>
          </a:p>
        </p:txBody>
      </p:sp>
      <p:sp>
        <p:nvSpPr>
          <p:cNvPr id="19" name="Step text 3"/>
          <p:cNvSpPr txBox="1"/>
          <p:nvPr/>
        </p:nvSpPr>
        <p:spPr>
          <a:xfrm>
            <a:off x="4828032" y="1783080"/>
            <a:ext cx="1645920" cy="2286000"/>
          </a:xfrm>
          <a:prstGeom prst="rect">
            <a:avLst/>
          </a:prstGeom>
          <a:noFill/>
          <a:ln/>
        </p:spPr>
        <p:txBody>
          <a:bodyPr wrap="square" lIns="0" tIns="0" rIns="0" bIns="0" rtlCol="0" anchor="t"/>
          <a:lstStyle/>
          <a:p>
            <a:pPr indent="0" marL="0">
              <a:buNone/>
            </a:pPr>
            <a:r>
              <a:rPr lang="en-US" sz="1100" dirty="0">
                <a:solidFill>
                  <a:srgbClr val="EDEDED"/>
                </a:solidFill>
                <a:latin typeface="Calibri" pitchFamily="34" charset="0"/>
                <a:ea typeface="Calibri" pitchFamily="34" charset="-122"/>
                <a:cs typeface="Calibri" pitchFamily="34" charset="-120"/>
              </a:rPr>
              <a:t>For a new request, ranks past sessions and files (BM25 plus dependency links) and assembles about 1,000 tokens: the user's earlier requirements verbatim, the session where the feature began, exact lines, and STALE flags.</a:t>
            </a:r>
            <a:endParaRPr lang="en-US" sz="1100" dirty="0"/>
          </a:p>
        </p:txBody>
      </p:sp>
      <p:sp>
        <p:nvSpPr>
          <p:cNvPr id="20" name="Arrow 3"/>
          <p:cNvSpPr txBox="1"/>
          <p:nvPr/>
        </p:nvSpPr>
        <p:spPr>
          <a:xfrm>
            <a:off x="6565392" y="2377440"/>
            <a:ext cx="219456" cy="457200"/>
          </a:xfrm>
          <a:prstGeom prst="rect">
            <a:avLst/>
          </a:prstGeom>
          <a:noFill/>
          <a:ln/>
        </p:spPr>
        <p:txBody>
          <a:bodyPr wrap="square" lIns="0" tIns="0" rIns="0" bIns="0" rtlCol="0" anchor="ctr"/>
          <a:lstStyle/>
          <a:p>
            <a:pPr algn="ctr" indent="0" marL="0">
              <a:buNone/>
            </a:pPr>
            <a:r>
              <a:rPr lang="en-US" sz="2400" dirty="0">
                <a:solidFill>
                  <a:srgbClr val="9AA0AA"/>
                </a:solidFill>
                <a:latin typeface="Calibri" pitchFamily="34" charset="0"/>
                <a:ea typeface="Calibri" pitchFamily="34" charset="-122"/>
                <a:cs typeface="Calibri" pitchFamily="34" charset="-120"/>
              </a:rPr>
              <a:t>›</a:t>
            </a:r>
            <a:endParaRPr lang="en-US" sz="2400" dirty="0"/>
          </a:p>
        </p:txBody>
      </p:sp>
      <p:sp>
        <p:nvSpPr>
          <p:cNvPr id="21" name="Step card 4"/>
          <p:cNvSpPr/>
          <p:nvPr/>
        </p:nvSpPr>
        <p:spPr>
          <a:xfrm>
            <a:off x="6766560" y="1051560"/>
            <a:ext cx="1920240" cy="3063240"/>
          </a:xfrm>
          <a:prstGeom prst="roundRect">
            <a:avLst>
              <a:gd name="adj" fmla="val 4762"/>
            </a:avLst>
          </a:prstGeom>
          <a:solidFill>
            <a:srgbClr val="161A22"/>
          </a:solidFill>
          <a:ln w="9525">
            <a:solidFill>
              <a:srgbClr val="232834"/>
            </a:solidFill>
            <a:prstDash val="solid"/>
          </a:ln>
        </p:spPr>
      </p:sp>
      <p:sp>
        <p:nvSpPr>
          <p:cNvPr id="22" name="Step circle 4"/>
          <p:cNvSpPr/>
          <p:nvPr/>
        </p:nvSpPr>
        <p:spPr>
          <a:xfrm>
            <a:off x="6931152" y="1188720"/>
            <a:ext cx="457200" cy="457200"/>
          </a:xfrm>
          <a:prstGeom prst="ellipse">
            <a:avLst/>
          </a:prstGeom>
          <a:solidFill>
            <a:srgbClr val="F5A524"/>
          </a:solidFill>
          <a:ln w="12700">
            <a:solidFill>
              <a:srgbClr val="F5A524"/>
            </a:solidFill>
            <a:prstDash val="solid"/>
          </a:ln>
        </p:spPr>
      </p:sp>
      <p:sp>
        <p:nvSpPr>
          <p:cNvPr id="23" name="Step num 4"/>
          <p:cNvSpPr txBox="1"/>
          <p:nvPr/>
        </p:nvSpPr>
        <p:spPr>
          <a:xfrm>
            <a:off x="6931152" y="1188720"/>
            <a:ext cx="457200" cy="457200"/>
          </a:xfrm>
          <a:prstGeom prst="rect">
            <a:avLst/>
          </a:prstGeom>
          <a:noFill/>
          <a:ln/>
        </p:spPr>
        <p:txBody>
          <a:bodyPr wrap="square" lIns="0" tIns="0" rIns="0" bIns="0" rtlCol="0" anchor="ctr"/>
          <a:lstStyle/>
          <a:p>
            <a:pPr algn="ctr" indent="0" marL="0">
              <a:buNone/>
            </a:pPr>
            <a:r>
              <a:rPr lang="en-US" sz="1800" b="1" dirty="0">
                <a:solidFill>
                  <a:srgbClr val="0F1115"/>
                </a:solidFill>
                <a:latin typeface="Calibri" pitchFamily="34" charset="0"/>
                <a:ea typeface="Calibri" pitchFamily="34" charset="-122"/>
                <a:cs typeface="Calibri" pitchFamily="34" charset="-120"/>
              </a:rPr>
              <a:t>4</a:t>
            </a:r>
            <a:endParaRPr lang="en-US" sz="1800" dirty="0"/>
          </a:p>
        </p:txBody>
      </p:sp>
      <p:sp>
        <p:nvSpPr>
          <p:cNvPr id="24" name="Step name 4"/>
          <p:cNvSpPr txBox="1"/>
          <p:nvPr/>
        </p:nvSpPr>
        <p:spPr>
          <a:xfrm>
            <a:off x="7498080" y="1188720"/>
            <a:ext cx="1097280" cy="457200"/>
          </a:xfrm>
          <a:prstGeom prst="rect">
            <a:avLst/>
          </a:prstGeom>
          <a:noFill/>
          <a:ln/>
        </p:spPr>
        <p:txBody>
          <a:bodyPr wrap="square" lIns="0" tIns="0" rIns="0" bIns="0" rtlCol="0" anchor="ctr"/>
          <a:lstStyle/>
          <a:p>
            <a:pPr indent="0" marL="0">
              <a:buNone/>
            </a:pPr>
            <a:r>
              <a:rPr lang="en-US" sz="1800" b="1" dirty="0">
                <a:solidFill>
                  <a:srgbClr val="EDEDED"/>
                </a:solidFill>
                <a:latin typeface="Calibri" pitchFamily="34" charset="0"/>
                <a:ea typeface="Calibri" pitchFamily="34" charset="-122"/>
                <a:cs typeface="Calibri" pitchFamily="34" charset="-120"/>
              </a:rPr>
              <a:t>Deliver</a:t>
            </a:r>
            <a:endParaRPr lang="en-US" sz="1800" dirty="0"/>
          </a:p>
        </p:txBody>
      </p:sp>
      <p:sp>
        <p:nvSpPr>
          <p:cNvPr id="25" name="Step text 4"/>
          <p:cNvSpPr txBox="1"/>
          <p:nvPr/>
        </p:nvSpPr>
        <p:spPr>
          <a:xfrm>
            <a:off x="6931152" y="1783080"/>
            <a:ext cx="1645920" cy="2286000"/>
          </a:xfrm>
          <a:prstGeom prst="rect">
            <a:avLst/>
          </a:prstGeom>
          <a:noFill/>
          <a:ln/>
        </p:spPr>
        <p:txBody>
          <a:bodyPr wrap="square" lIns="0" tIns="0" rIns="0" bIns="0" rtlCol="0" anchor="t"/>
          <a:lstStyle/>
          <a:p>
            <a:pPr indent="0" marL="0">
              <a:buNone/>
            </a:pPr>
            <a:r>
              <a:rPr lang="en-US" sz="1100" dirty="0">
                <a:solidFill>
                  <a:srgbClr val="EDEDED"/>
                </a:solidFill>
                <a:latin typeface="Calibri" pitchFamily="34" charset="0"/>
                <a:ea typeface="Calibri" pitchFamily="34" charset="-122"/>
                <a:cs typeface="Calibri" pitchFamily="34" charset="-120"/>
              </a:rPr>
              <a:t>Injected automatically by a Claude Code hook, served to any MCP client by DevMemory's MCP server, or placed in any agent's prompt. The full archive never enters the prompt.</a:t>
            </a:r>
            <a:endParaRPr lang="en-US" sz="1100" dirty="0"/>
          </a:p>
        </p:txBody>
      </p:sp>
      <p:sp>
        <p:nvSpPr>
          <p:cNvPr id="26" name="Design choices"/>
          <p:cNvSpPr txBox="1"/>
          <p:nvPr/>
        </p:nvSpPr>
        <p:spPr>
          <a:xfrm>
            <a:off x="457200" y="4224528"/>
            <a:ext cx="8229600" cy="457200"/>
          </a:xfrm>
          <a:prstGeom prst="rect">
            <a:avLst/>
          </a:prstGeom>
          <a:noFill/>
          <a:ln/>
        </p:spPr>
        <p:txBody>
          <a:bodyPr wrap="square" lIns="0" tIns="0" rIns="0" bIns="0" rtlCol="0" anchor="ctr"/>
          <a:lstStyle/>
          <a:p>
            <a:pPr indent="0" marL="0">
              <a:buNone/>
            </a:pPr>
            <a:r>
              <a:rPr lang="en-US" sz="1150" b="1" dirty="0">
                <a:solidFill>
                  <a:srgbClr val="38D6E8"/>
                </a:solidFill>
                <a:latin typeface="Calibri" pitchFamily="34" charset="0"/>
                <a:ea typeface="Calibri" pitchFamily="34" charset="-122"/>
                <a:cs typeface="Calibri" pitchFamily="34" charset="-120"/>
              </a:rPr>
              <a:t>Design choices: </a:t>
            </a:r>
            <a:pPr indent="0" marL="0">
              <a:buNone/>
            </a:pPr>
            <a:r>
              <a:rPr lang="en-US" sz="1150" dirty="0">
                <a:solidFill>
                  <a:srgbClr val="9AA0AA"/>
                </a:solidFill>
                <a:latin typeface="Calibri" pitchFamily="34" charset="0"/>
                <a:ea typeface="Calibri" pitchFamily="34" charset="-122"/>
                <a:cs typeface="Calibri" pitchFamily="34" charset="-120"/>
              </a:rPr>
              <a:t>plain files on the developer's machine · no vector database · no AI in capture or retrieval · every item carries its source and freshness · preserve everything, send only what earns its tokens</a:t>
            </a:r>
            <a:endParaRPr lang="en-US" sz="11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EDEDED"/>
                </a:solidFill>
                <a:latin typeface="Calibri" pitchFamily="34" charset="0"/>
                <a:ea typeface="Calibri" pitchFamily="34" charset="-122"/>
                <a:cs typeface="Calibri" pitchFamily="34" charset="-120"/>
              </a:rPr>
              <a:t>Example: what a fresh session receives</a:t>
            </a:r>
            <a:endParaRPr lang="en-US" sz="3200" dirty="0"/>
          </a:p>
        </p:txBody>
      </p:sp>
      <p:sp>
        <p:nvSpPr>
          <p:cNvPr id="3" name="Subtitle"/>
          <p:cNvSpPr txBox="1"/>
          <p:nvPr/>
        </p:nvSpPr>
        <p:spPr>
          <a:xfrm>
            <a:off x="457200" y="868680"/>
            <a:ext cx="8229600" cy="320040"/>
          </a:xfrm>
          <a:prstGeom prst="rect">
            <a:avLst/>
          </a:prstGeom>
          <a:noFill/>
          <a:ln/>
        </p:spPr>
        <p:txBody>
          <a:bodyPr wrap="square" lIns="0" tIns="0" rIns="0" bIns="0" rtlCol="0" anchor="ctr"/>
          <a:lstStyle/>
          <a:p>
            <a:pPr indent="0" marL="0">
              <a:buNone/>
            </a:pPr>
            <a:r>
              <a:rPr lang="en-US" sz="1500" dirty="0">
                <a:solidFill>
                  <a:srgbClr val="9AA0AA"/>
                </a:solidFill>
                <a:latin typeface="Calibri" pitchFamily="34" charset="0"/>
                <a:ea typeface="Calibri" pitchFamily="34" charset="-122"/>
                <a:cs typeface="Calibri" pitchFamily="34" charset="-120"/>
              </a:rPr>
              <a:t>Blade Swarm, a Roblox game built by prompting. The real pack for one request (excerpt)</a:t>
            </a:r>
            <a:endParaRPr lang="en-US" sz="1500" dirty="0"/>
          </a:p>
        </p:txBody>
      </p:sp>
      <p:sp>
        <p:nvSpPr>
          <p:cNvPr id="4" name="Code panel"/>
          <p:cNvSpPr/>
          <p:nvPr/>
        </p:nvSpPr>
        <p:spPr>
          <a:xfrm>
            <a:off x="457200" y="1325880"/>
            <a:ext cx="4937760" cy="3383280"/>
          </a:xfrm>
          <a:prstGeom prst="roundRect">
            <a:avLst>
              <a:gd name="adj" fmla="val 2703"/>
            </a:avLst>
          </a:prstGeom>
          <a:solidFill>
            <a:srgbClr val="0B0D12"/>
          </a:solidFill>
          <a:ln w="9525">
            <a:solidFill>
              <a:srgbClr val="232834"/>
            </a:solidFill>
            <a:prstDash val="solid"/>
          </a:ln>
        </p:spPr>
      </p:sp>
      <p:sp>
        <p:nvSpPr>
          <p:cNvPr id="5" name="Pack excerpt"/>
          <p:cNvSpPr txBox="1"/>
          <p:nvPr/>
        </p:nvSpPr>
        <p:spPr>
          <a:xfrm>
            <a:off x="594360" y="1444752"/>
            <a:ext cx="4663440" cy="3154680"/>
          </a:xfrm>
          <a:prstGeom prst="rect">
            <a:avLst/>
          </a:prstGeom>
          <a:noFill/>
          <a:ln/>
        </p:spPr>
        <p:txBody>
          <a:bodyPr wrap="square" lIns="0" tIns="0" rIns="0" bIns="0" rtlCol="0" anchor="t"/>
          <a:lstStyle/>
          <a:p>
            <a:pPr indent="0" marL="0">
              <a:spcAft>
                <a:spcPts val="500"/>
              </a:spcAft>
              <a:buNone/>
            </a:pPr>
            <a:r>
              <a:rPr lang="en-US" sz="950" b="1" dirty="0">
                <a:solidFill>
                  <a:srgbClr val="38D6E8"/>
                </a:solidFill>
                <a:latin typeface="Courier New" pitchFamily="34" charset="0"/>
                <a:ea typeface="Courier New" pitchFamily="34" charset="-122"/>
                <a:cs typeface="Courier New" pitchFamily="34" charset="-120"/>
              </a:rPr>
              <a:t>## Conventions (observed in code)</a:t>
            </a:r>
            <a:endParaRPr lang="en-US" sz="950" dirty="0"/>
          </a:p>
          <a:p>
            <a:pPr indent="0" marL="0">
              <a:spcAft>
                <a:spcPts val="500"/>
              </a:spcAft>
              <a:buNone/>
            </a:pPr>
            <a:r>
              <a:rPr lang="en-US" sz="950" dirty="0">
                <a:solidFill>
                  <a:srgbClr val="EDEDED"/>
                </a:solidFill>
                <a:latin typeface="Courier New" pitchFamily="34" charset="0"/>
                <a:ea typeface="Courier New" pitchFamily="34" charset="-122"/>
                <a:cs typeface="Courier New" pitchFamily="34" charset="-120"/>
              </a:rPr>
              <a:t>- Tunables live in src/shared/Config.lua (51 keys)</a:t>
            </a:r>
            <a:endParaRPr lang="en-US" sz="950" dirty="0"/>
          </a:p>
          <a:p>
            <a:pPr indent="0" marL="0">
              <a:spcAft>
                <a:spcPts val="500"/>
              </a:spcAft>
              <a:buNone/>
            </a:pPr>
            <a:r>
              <a:rPr lang="en-US" sz="950" dirty="0">
                <a:solidFill>
                  <a:srgbClr val="EDEDED"/>
                </a:solidFill>
                <a:latin typeface="Courier New" pitchFamily="34" charset="0"/>
                <a:ea typeface="Courier New" pitchFamily="34" charset="-122"/>
                <a:cs typeface="Courier New" pitchFamily="34" charset="-120"/>
              </a:rPr>
              <a:t>- RemoteEvents only in src/shared/Remotes.lua</a:t>
            </a:r>
            <a:endParaRPr lang="en-US" sz="950" dirty="0"/>
          </a:p>
          <a:p>
            <a:pPr indent="0" marL="0">
              <a:spcAft>
                <a:spcPts val="500"/>
              </a:spcAft>
              <a:buNone/>
            </a:pPr>
            <a:r>
              <a:rPr lang="en-US" sz="950" b="1" dirty="0">
                <a:solidFill>
                  <a:srgbClr val="38D6E8"/>
                </a:solidFill>
                <a:latin typeface="Courier New" pitchFamily="34" charset="0"/>
                <a:ea typeface="Courier New" pitchFamily="34" charset="-122"/>
                <a:cs typeface="Courier New" pitchFamily="34" charset="-120"/>
              </a:rPr>
              <a:t>## What the user asked for earlier (verbatim)</a:t>
            </a:r>
            <a:endParaRPr lang="en-US" sz="950" dirty="0"/>
          </a:p>
          <a:p>
            <a:pPr indent="0" marL="0">
              <a:spcAft>
                <a:spcPts val="500"/>
              </a:spcAft>
              <a:buNone/>
            </a:pPr>
            <a:r>
              <a:rPr lang="en-US" sz="950" dirty="0">
                <a:solidFill>
                  <a:srgbClr val="EDEDED"/>
                </a:solidFill>
                <a:latin typeface="Courier New" pitchFamily="34" charset="0"/>
                <a:ea typeface="Courier New" pitchFamily="34" charset="-122"/>
                <a:cs typeface="Courier New" pitchFamily="34" charset="-120"/>
              </a:rPr>
              <a:t>- "Decisions: start with 2 blades, orbit radius 7 studs"</a:t>
            </a:r>
            <a:endParaRPr lang="en-US" sz="950" dirty="0"/>
          </a:p>
          <a:p>
            <a:pPr indent="0" marL="0">
              <a:spcAft>
                <a:spcPts val="500"/>
              </a:spcAft>
              <a:buNone/>
            </a:pPr>
            <a:r>
              <a:rPr lang="en-US" sz="950" b="1" dirty="0">
                <a:solidFill>
                  <a:srgbClr val="38D6E8"/>
                </a:solidFill>
                <a:latin typeface="Courier New" pitchFamily="34" charset="0"/>
                <a:ea typeface="Courier New" pitchFamily="34" charset="-122"/>
                <a:cs typeface="Courier New" pitchFamily="34" charset="-120"/>
              </a:rPr>
              <a:t>## Relevant past sessions</a:t>
            </a:r>
            <a:endParaRPr lang="en-US" sz="950" dirty="0"/>
          </a:p>
          <a:p>
            <a:pPr indent="0" marL="0">
              <a:spcAft>
                <a:spcPts val="500"/>
              </a:spcAft>
              <a:buNone/>
            </a:pPr>
            <a:r>
              <a:rPr lang="en-US" sz="950" dirty="0">
                <a:solidFill>
                  <a:srgbClr val="EDEDED"/>
                </a:solidFill>
                <a:latin typeface="Courier New" pitchFamily="34" charset="0"/>
                <a:ea typeface="Courier New" pitchFamily="34" charset="-122"/>
                <a:cs typeface="Courier New" pitchFamily="34" charset="-120"/>
              </a:rPr>
              <a:t>- [session dbf18bb2] User asked: "Now the upgrade</a:t>
            </a:r>
            <a:endParaRPr lang="en-US" sz="950" dirty="0"/>
          </a:p>
          <a:p>
            <a:pPr indent="0" marL="0">
              <a:spcAft>
                <a:spcPts val="500"/>
              </a:spcAft>
              <a:buNone/>
            </a:pPr>
            <a:r>
              <a:rPr lang="en-US" sz="950" dirty="0">
                <a:solidFill>
                  <a:srgbClr val="EDEDED"/>
                </a:solidFill>
                <a:latin typeface="Courier New" pitchFamily="34" charset="0"/>
                <a:ea typeface="Courier New" pitchFamily="34" charset="-122"/>
                <a:cs typeface="Courier New" pitchFamily="34" charset="-120"/>
              </a:rPr>
              <a:t>  shop ... +1 Blade (Rare, 60 coins), Sharper Blades</a:t>
            </a:r>
            <a:endParaRPr lang="en-US" sz="950" dirty="0"/>
          </a:p>
          <a:p>
            <a:pPr indent="0" marL="0">
              <a:spcAft>
                <a:spcPts val="500"/>
              </a:spcAft>
              <a:buNone/>
            </a:pPr>
            <a:r>
              <a:rPr lang="en-US" sz="950" dirty="0">
                <a:solidFill>
                  <a:srgbClr val="EDEDED"/>
                </a:solidFill>
                <a:latin typeface="Courier New" pitchFamily="34" charset="0"/>
                <a:ea typeface="Courier New" pitchFamily="34" charset="-122"/>
                <a:cs typeface="Courier New" pitchFamily="34" charset="-120"/>
              </a:rPr>
              <a:t>  (Common, 30) ... Greed +25% coins (Rare, 50) ..."</a:t>
            </a:r>
            <a:endParaRPr lang="en-US" sz="950" dirty="0"/>
          </a:p>
          <a:p>
            <a:pPr indent="0" marL="0">
              <a:spcAft>
                <a:spcPts val="500"/>
              </a:spcAft>
              <a:buNone/>
            </a:pPr>
            <a:r>
              <a:rPr lang="en-US" sz="950" dirty="0">
                <a:solidFill>
                  <a:srgbClr val="3DD68C"/>
                </a:solidFill>
                <a:latin typeface="Courier New" pitchFamily="34" charset="0"/>
                <a:ea typeface="Courier New" pitchFamily="34" charset="-122"/>
                <a:cs typeface="Courier New" pitchFamily="34" charset="-120"/>
              </a:rPr>
              <a:t>- [session 3e2bb0e2] User asked: "... rarity colors</a:t>
            </a:r>
            <a:endParaRPr lang="en-US" sz="950" dirty="0"/>
          </a:p>
          <a:p>
            <a:pPr indent="0" marL="0">
              <a:spcAft>
                <a:spcPts val="500"/>
              </a:spcAft>
              <a:buNone/>
            </a:pPr>
            <a:r>
              <a:rPr lang="en-US" sz="950" dirty="0">
                <a:solidFill>
                  <a:srgbClr val="3DD68C"/>
                </a:solidFill>
                <a:latin typeface="Courier New" pitchFamily="34" charset="0"/>
                <a:ea typeface="Courier New" pitchFamily="34" charset="-122"/>
                <a:cs typeface="Courier New" pitchFamily="34" charset="-120"/>
              </a:rPr>
              <a:t>  Common = gray, Rare = blue, Epic = purple ..."</a:t>
            </a:r>
            <a:endParaRPr lang="en-US" sz="950" dirty="0"/>
          </a:p>
          <a:p>
            <a:pPr indent="0" marL="0">
              <a:spcAft>
                <a:spcPts val="500"/>
              </a:spcAft>
              <a:buNone/>
            </a:pPr>
            <a:r>
              <a:rPr lang="en-US" sz="950" dirty="0">
                <a:solidFill>
                  <a:srgbClr val="3DD68C"/>
                </a:solidFill>
                <a:latin typeface="Courier New" pitchFamily="34" charset="0"/>
                <a:ea typeface="Courier New" pitchFamily="34" charset="-122"/>
                <a:cs typeface="Courier New" pitchFamily="34" charset="-120"/>
              </a:rPr>
              <a:t>  Outcome: "The colors live in a new Config.Ui</a:t>
            </a:r>
            <a:endParaRPr lang="en-US" sz="950" dirty="0"/>
          </a:p>
          <a:p>
            <a:pPr indent="0" marL="0">
              <a:spcAft>
                <a:spcPts val="500"/>
              </a:spcAft>
              <a:buNone/>
            </a:pPr>
            <a:r>
              <a:rPr lang="en-US" sz="950" dirty="0">
                <a:solidFill>
                  <a:srgbClr val="3DD68C"/>
                </a:solidFill>
                <a:latin typeface="Courier New" pitchFamily="34" charset="0"/>
                <a:ea typeface="Courier New" pitchFamily="34" charset="-122"/>
                <a:cs typeface="Courier New" pitchFamily="34" charset="-120"/>
              </a:rPr>
              <a:t>  table in src/shared/Config.lua"</a:t>
            </a:r>
            <a:endParaRPr lang="en-US" sz="950" dirty="0"/>
          </a:p>
          <a:p>
            <a:pPr indent="0" marL="0">
              <a:spcAft>
                <a:spcPts val="500"/>
              </a:spcAft>
              <a:buNone/>
            </a:pPr>
            <a:r>
              <a:rPr lang="en-US" sz="950" b="1" dirty="0">
                <a:solidFill>
                  <a:srgbClr val="38D6E8"/>
                </a:solidFill>
                <a:latin typeface="Courier New" pitchFamily="34" charset="0"/>
                <a:ea typeface="Courier New" pitchFamily="34" charset="-122"/>
                <a:cs typeface="Courier New" pitchFamily="34" charset="-120"/>
              </a:rPr>
              <a:t>## Relevant files</a:t>
            </a:r>
            <a:endParaRPr lang="en-US" sz="950" dirty="0"/>
          </a:p>
          <a:p>
            <a:pPr indent="0" marL="0">
              <a:spcAft>
                <a:spcPts val="500"/>
              </a:spcAft>
              <a:buNone/>
            </a:pPr>
            <a:r>
              <a:rPr lang="en-US" sz="950" dirty="0">
                <a:solidFill>
                  <a:srgbClr val="EDEDED"/>
                </a:solidFill>
                <a:latin typeface="Courier New" pitchFamily="34" charset="0"/>
                <a:ea typeface="Courier New" pitchFamily="34" charset="-122"/>
                <a:cs typeface="Courier New" pitchFamily="34" charset="-120"/>
              </a:rPr>
              <a:t>- src/shared/Config.lua [73 lines, used by 8]</a:t>
            </a:r>
            <a:endParaRPr lang="en-US" sz="950" dirty="0"/>
          </a:p>
          <a:p>
            <a:pPr indent="0" marL="0">
              <a:spcAft>
                <a:spcPts val="500"/>
              </a:spcAft>
              <a:buNone/>
            </a:pPr>
            <a:r>
              <a:rPr lang="en-US" sz="950" dirty="0">
                <a:solidFill>
                  <a:srgbClr val="EDEDED"/>
                </a:solidFill>
                <a:latin typeface="Courier New" pitchFamily="34" charset="0"/>
                <a:ea typeface="Courier New" pitchFamily="34" charset="-122"/>
                <a:cs typeface="Courier New" pitchFamily="34" charset="-120"/>
              </a:rPr>
              <a:t>- src/server/Shop.lua [164 lines]</a:t>
            </a:r>
            <a:endParaRPr lang="en-US" sz="950" dirty="0"/>
          </a:p>
        </p:txBody>
      </p:sp>
      <p:sp>
        <p:nvSpPr>
          <p:cNvPr id="6" name="Point card 1"/>
          <p:cNvSpPr/>
          <p:nvPr/>
        </p:nvSpPr>
        <p:spPr>
          <a:xfrm>
            <a:off x="5577840" y="1325880"/>
            <a:ext cx="3108960" cy="1051560"/>
          </a:xfrm>
          <a:prstGeom prst="roundRect">
            <a:avLst>
              <a:gd name="adj" fmla="val 8696"/>
            </a:avLst>
          </a:prstGeom>
          <a:solidFill>
            <a:srgbClr val="161A22"/>
          </a:solidFill>
          <a:ln w="9525">
            <a:solidFill>
              <a:srgbClr val="232834"/>
            </a:solidFill>
            <a:prstDash val="solid"/>
          </a:ln>
        </p:spPr>
      </p:sp>
      <p:sp>
        <p:nvSpPr>
          <p:cNvPr id="7" name="Point 1"/>
          <p:cNvSpPr txBox="1"/>
          <p:nvPr/>
        </p:nvSpPr>
        <p:spPr>
          <a:xfrm>
            <a:off x="5715000" y="1399032"/>
            <a:ext cx="2834640" cy="274320"/>
          </a:xfrm>
          <a:prstGeom prst="rect">
            <a:avLst/>
          </a:prstGeom>
          <a:noFill/>
          <a:ln/>
        </p:spPr>
        <p:txBody>
          <a:bodyPr wrap="square" lIns="0" tIns="0" rIns="0" bIns="0" rtlCol="0" anchor="ctr"/>
          <a:lstStyle/>
          <a:p>
            <a:pPr indent="0" marL="0">
              <a:buNone/>
            </a:pPr>
            <a:r>
              <a:rPr lang="en-US" sz="1300" b="1" dirty="0">
                <a:solidFill>
                  <a:srgbClr val="8B7CF6"/>
                </a:solidFill>
                <a:latin typeface="Calibri" pitchFamily="34" charset="0"/>
                <a:ea typeface="Calibri" pitchFamily="34" charset="-122"/>
                <a:cs typeface="Calibri" pitchFamily="34" charset="-120"/>
              </a:rPr>
              <a:t>The request</a:t>
            </a:r>
            <a:endParaRPr lang="en-US" sz="1300" dirty="0"/>
          </a:p>
        </p:txBody>
      </p:sp>
      <p:sp>
        <p:nvSpPr>
          <p:cNvPr id="8" name="Point text 1"/>
          <p:cNvSpPr txBox="1"/>
          <p:nvPr/>
        </p:nvSpPr>
        <p:spPr>
          <a:xfrm>
            <a:off x="5715000" y="1673352"/>
            <a:ext cx="2880360" cy="685800"/>
          </a:xfrm>
          <a:prstGeom prst="rect">
            <a:avLst/>
          </a:prstGeom>
          <a:noFill/>
          <a:ln/>
        </p:spPr>
        <p:txBody>
          <a:bodyPr wrap="square" lIns="0" tIns="0" rIns="0" bIns="0" rtlCol="0" anchor="t"/>
          <a:lstStyle/>
          <a:p>
            <a:pPr indent="0" marL="0">
              <a:buNone/>
            </a:pPr>
            <a:r>
              <a:rPr lang="en-US" sz="1000" dirty="0">
                <a:solidFill>
                  <a:srgbClr val="EDEDED"/>
                </a:solidFill>
                <a:latin typeface="Calibri" pitchFamily="34" charset="0"/>
                <a:ea typeface="Calibri" pitchFamily="34" charset="-122"/>
                <a:cs typeface="Calibri" pitchFamily="34" charset="-120"/>
              </a:rPr>
              <a:t>A brand-new session is asked: "Add an Epic upgrade called Twin Spin... with the rarity colors we picked." The colors were chosen four sessions earlier.</a:t>
            </a:r>
            <a:endParaRPr lang="en-US" sz="1000" dirty="0"/>
          </a:p>
        </p:txBody>
      </p:sp>
      <p:sp>
        <p:nvSpPr>
          <p:cNvPr id="9" name="Point card 2"/>
          <p:cNvSpPr/>
          <p:nvPr/>
        </p:nvSpPr>
        <p:spPr>
          <a:xfrm>
            <a:off x="5577840" y="2468880"/>
            <a:ext cx="3108960" cy="1051560"/>
          </a:xfrm>
          <a:prstGeom prst="roundRect">
            <a:avLst>
              <a:gd name="adj" fmla="val 8696"/>
            </a:avLst>
          </a:prstGeom>
          <a:solidFill>
            <a:srgbClr val="161A22"/>
          </a:solidFill>
          <a:ln w="9525">
            <a:solidFill>
              <a:srgbClr val="232834"/>
            </a:solidFill>
            <a:prstDash val="solid"/>
          </a:ln>
        </p:spPr>
      </p:sp>
      <p:sp>
        <p:nvSpPr>
          <p:cNvPr id="10" name="Point 2"/>
          <p:cNvSpPr txBox="1"/>
          <p:nvPr/>
        </p:nvSpPr>
        <p:spPr>
          <a:xfrm>
            <a:off x="5715000" y="2542032"/>
            <a:ext cx="2834640" cy="274320"/>
          </a:xfrm>
          <a:prstGeom prst="rect">
            <a:avLst/>
          </a:prstGeom>
          <a:noFill/>
          <a:ln/>
        </p:spPr>
        <p:txBody>
          <a:bodyPr wrap="square" lIns="0" tIns="0" rIns="0" bIns="0" rtlCol="0" anchor="ctr"/>
          <a:lstStyle/>
          <a:p>
            <a:pPr indent="0" marL="0">
              <a:buNone/>
            </a:pPr>
            <a:r>
              <a:rPr lang="en-US" sz="1300" b="1" dirty="0">
                <a:solidFill>
                  <a:srgbClr val="38D6E8"/>
                </a:solidFill>
                <a:latin typeface="Calibri" pitchFamily="34" charset="0"/>
                <a:ea typeface="Calibri" pitchFamily="34" charset="-122"/>
                <a:cs typeface="Calibri" pitchFamily="34" charset="-120"/>
              </a:rPr>
              <a:t>What DevMemory found</a:t>
            </a:r>
            <a:endParaRPr lang="en-US" sz="1300" dirty="0"/>
          </a:p>
        </p:txBody>
      </p:sp>
      <p:sp>
        <p:nvSpPr>
          <p:cNvPr id="11" name="Point text 2"/>
          <p:cNvSpPr txBox="1"/>
          <p:nvPr/>
        </p:nvSpPr>
        <p:spPr>
          <a:xfrm>
            <a:off x="5715000" y="2816352"/>
            <a:ext cx="2880360" cy="685800"/>
          </a:xfrm>
          <a:prstGeom prst="rect">
            <a:avLst/>
          </a:prstGeom>
          <a:noFill/>
          <a:ln/>
        </p:spPr>
        <p:txBody>
          <a:bodyPr wrap="square" lIns="0" tIns="0" rIns="0" bIns="0" rtlCol="0" anchor="t"/>
          <a:lstStyle/>
          <a:p>
            <a:pPr indent="0" marL="0">
              <a:buNone/>
            </a:pPr>
            <a:r>
              <a:rPr lang="en-US" sz="1000" dirty="0">
                <a:solidFill>
                  <a:srgbClr val="EDEDED"/>
                </a:solidFill>
                <a:latin typeface="Calibri" pitchFamily="34" charset="0"/>
                <a:ea typeface="Calibri" pitchFamily="34" charset="-122"/>
                <a:cs typeface="Calibri" pitchFamily="34" charset="-120"/>
              </a:rPr>
              <a:t>Both earlier conversations, word for word: the shop design (rarities, prices) and the UI session where the user picked Common gray, Rare blue, Epic purple. About 1,150 tokens, built with 0 AI tokens.</a:t>
            </a:r>
            <a:endParaRPr lang="en-US" sz="1000" dirty="0"/>
          </a:p>
        </p:txBody>
      </p:sp>
      <p:sp>
        <p:nvSpPr>
          <p:cNvPr id="12" name="Point card 3"/>
          <p:cNvSpPr/>
          <p:nvPr/>
        </p:nvSpPr>
        <p:spPr>
          <a:xfrm>
            <a:off x="5577840" y="3611880"/>
            <a:ext cx="3108960" cy="1051560"/>
          </a:xfrm>
          <a:prstGeom prst="roundRect">
            <a:avLst>
              <a:gd name="adj" fmla="val 8696"/>
            </a:avLst>
          </a:prstGeom>
          <a:solidFill>
            <a:srgbClr val="161A22"/>
          </a:solidFill>
          <a:ln w="9525">
            <a:solidFill>
              <a:srgbClr val="232834"/>
            </a:solidFill>
            <a:prstDash val="solid"/>
          </a:ln>
        </p:spPr>
      </p:sp>
      <p:sp>
        <p:nvSpPr>
          <p:cNvPr id="13" name="Point 3"/>
          <p:cNvSpPr txBox="1"/>
          <p:nvPr/>
        </p:nvSpPr>
        <p:spPr>
          <a:xfrm>
            <a:off x="5715000" y="3685032"/>
            <a:ext cx="2834640" cy="274320"/>
          </a:xfrm>
          <a:prstGeom prst="rect">
            <a:avLst/>
          </a:prstGeom>
          <a:noFill/>
          <a:ln/>
        </p:spPr>
        <p:txBody>
          <a:bodyPr wrap="square" lIns="0" tIns="0" rIns="0" bIns="0" rtlCol="0" anchor="ctr"/>
          <a:lstStyle/>
          <a:p>
            <a:pPr indent="0" marL="0">
              <a:buNone/>
            </a:pPr>
            <a:r>
              <a:rPr lang="en-US" sz="1300" b="1" dirty="0">
                <a:solidFill>
                  <a:srgbClr val="3DD68C"/>
                </a:solidFill>
                <a:latin typeface="Calibri" pitchFamily="34" charset="0"/>
                <a:ea typeface="Calibri" pitchFamily="34" charset="-122"/>
                <a:cs typeface="Calibri" pitchFamily="34" charset="-120"/>
              </a:rPr>
              <a:t>What the AI did</a:t>
            </a:r>
            <a:endParaRPr lang="en-US" sz="1300" dirty="0"/>
          </a:p>
        </p:txBody>
      </p:sp>
      <p:sp>
        <p:nvSpPr>
          <p:cNvPr id="14" name="Point text 3"/>
          <p:cNvSpPr txBox="1"/>
          <p:nvPr/>
        </p:nvSpPr>
        <p:spPr>
          <a:xfrm>
            <a:off x="5715000" y="3959352"/>
            <a:ext cx="2880360" cy="685800"/>
          </a:xfrm>
          <a:prstGeom prst="rect">
            <a:avLst/>
          </a:prstGeom>
          <a:noFill/>
          <a:ln/>
        </p:spPr>
        <p:txBody>
          <a:bodyPr wrap="square" lIns="0" tIns="0" rIns="0" bIns="0" rtlCol="0" anchor="t"/>
          <a:lstStyle/>
          <a:p>
            <a:pPr indent="0" marL="0">
              <a:buNone/>
            </a:pPr>
            <a:r>
              <a:rPr lang="en-US" sz="1000" dirty="0">
                <a:solidFill>
                  <a:srgbClr val="EDEDED"/>
                </a:solidFill>
                <a:latin typeface="Calibri" pitchFamily="34" charset="0"/>
                <a:ea typeface="Calibri" pitchFamily="34" charset="-122"/>
                <a:cs typeface="Calibri" pitchFamily="34" charset="-120"/>
              </a:rPr>
              <a:t>Claude Code read one file, added Twin Spin as an Epic upgrade in 13 seconds, and noted it "should show up purple like the colors we picked." (recorded live; shown in the video)</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EDEDED"/>
                </a:solidFill>
                <a:latin typeface="Calibri" pitchFamily="34" charset="0"/>
                <a:ea typeface="Calibri" pitchFamily="34" charset="-122"/>
                <a:cs typeface="Calibri" pitchFamily="34" charset="-120"/>
              </a:rPr>
              <a:t>What we built</a:t>
            </a:r>
            <a:endParaRPr lang="en-US" sz="3200" dirty="0"/>
          </a:p>
        </p:txBody>
      </p:sp>
      <p:sp>
        <p:nvSpPr>
          <p:cNvPr id="3" name="DevMemory session note frame"/>
          <p:cNvSpPr/>
          <p:nvPr/>
        </p:nvSpPr>
        <p:spPr>
          <a:xfrm>
            <a:off x="411480" y="1011555"/>
            <a:ext cx="4754880" cy="3006090"/>
          </a:xfrm>
          <a:prstGeom prst="roundRect">
            <a:avLst>
              <a:gd name="adj" fmla="val 2433"/>
            </a:avLst>
          </a:prstGeom>
          <a:solidFill>
            <a:srgbClr val="161A22"/>
          </a:solidFill>
          <a:ln w="9525">
            <a:solidFill>
              <a:srgbClr val="5A606B"/>
            </a:solidFill>
            <a:prstDash val="solid"/>
          </a:ln>
        </p:spPr>
      </p:sp>
      <p:pic>
        <p:nvPicPr>
          <p:cNvPr id="4" name="DevMemory session note" descr="DevMemory session note">    </p:cNvPr>
          <p:cNvPicPr>
            <a:picLocks noChangeAspect="1"/>
          </p:cNvPicPr>
          <p:nvPr/>
        </p:nvPicPr>
        <p:blipFill>
          <a:blip r:embed="rId1"/>
          <a:stretch>
            <a:fillRect/>
          </a:stretch>
        </p:blipFill>
        <p:spPr>
          <a:xfrm>
            <a:off x="457200" y="1057275"/>
            <a:ext cx="4663440" cy="2914650"/>
          </a:xfrm>
          <a:prstGeom prst="rect">
            <a:avLst/>
          </a:prstGeom>
        </p:spPr>
      </p:pic>
      <p:sp>
        <p:nvSpPr>
          <p:cNvPr id="5" name="Caption"/>
          <p:cNvSpPr txBox="1"/>
          <p:nvPr/>
        </p:nvSpPr>
        <p:spPr>
          <a:xfrm>
            <a:off x="457200" y="4069080"/>
            <a:ext cx="4663440" cy="457200"/>
          </a:xfrm>
          <a:prstGeom prst="rect">
            <a:avLst/>
          </a:prstGeom>
          <a:noFill/>
          <a:ln/>
        </p:spPr>
        <p:txBody>
          <a:bodyPr wrap="square" lIns="0" tIns="0" rIns="0" bIns="0" rtlCol="0" anchor="t"/>
          <a:lstStyle/>
          <a:p>
            <a:pPr indent="0" marL="0">
              <a:buNone/>
            </a:pPr>
            <a:r>
              <a:rPr lang="en-US" sz="1050" dirty="0">
                <a:solidFill>
                  <a:srgbClr val="9AA0AA"/>
                </a:solidFill>
                <a:latin typeface="Calibri" pitchFamily="34" charset="0"/>
                <a:ea typeface="Calibri" pitchFamily="34" charset="-122"/>
                <a:cs typeface="Calibri" pitchFamily="34" charset="-120"/>
              </a:rPr>
              <a:t>A captured session in the app: the user's exact request, the outcome, files touched, freshness and cost</a:t>
            </a:r>
            <a:endParaRPr lang="en-US" sz="1050" dirty="0"/>
          </a:p>
        </p:txBody>
      </p:sp>
      <p:sp>
        <p:nvSpPr>
          <p:cNvPr id="6" name="Built list panel"/>
          <p:cNvSpPr/>
          <p:nvPr/>
        </p:nvSpPr>
        <p:spPr>
          <a:xfrm>
            <a:off x="5303520" y="1051560"/>
            <a:ext cx="3383280" cy="3657600"/>
          </a:xfrm>
          <a:prstGeom prst="roundRect">
            <a:avLst>
              <a:gd name="adj" fmla="val 2703"/>
            </a:avLst>
          </a:prstGeom>
          <a:solidFill>
            <a:srgbClr val="161A22"/>
          </a:solidFill>
          <a:ln w="9525">
            <a:solidFill>
              <a:srgbClr val="232834"/>
            </a:solidFill>
            <a:prstDash val="solid"/>
          </a:ln>
        </p:spPr>
      </p:sp>
      <p:sp>
        <p:nvSpPr>
          <p:cNvPr id="7" name="Built list"/>
          <p:cNvSpPr txBox="1"/>
          <p:nvPr/>
        </p:nvSpPr>
        <p:spPr>
          <a:xfrm>
            <a:off x="5440680" y="1161288"/>
            <a:ext cx="3154680" cy="3474720"/>
          </a:xfrm>
          <a:prstGeom prst="rect">
            <a:avLst/>
          </a:prstGeom>
          <a:noFill/>
          <a:ln/>
        </p:spPr>
        <p:txBody>
          <a:bodyPr wrap="square" lIns="0" tIns="0" rIns="0" bIns="0" rtlCol="0" anchor="t"/>
          <a:lstStyle/>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CLI: </a:t>
            </a:r>
            <a:pPr indent="0" marL="0">
              <a:buNone/>
            </a:pPr>
            <a:r>
              <a:rPr lang="en-US" sz="1050" dirty="0">
                <a:solidFill>
                  <a:srgbClr val="EDEDED"/>
                </a:solidFill>
                <a:latin typeface="Calibri" pitchFamily="34" charset="0"/>
                <a:ea typeface="Calibri" pitchFamily="34" charset="-122"/>
                <a:cs typeface="Calibri" pitchFamily="34" charset="-120"/>
              </a:rPr>
              <a:t>devmem scan, run, pack, status, hook and app. Python standard library only; installs with pip.</a:t>
            </a:r>
            <a:endParaRPr lang="en-US" sz="1050" dirty="0"/>
          </a:p>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Desktop app: </a:t>
            </a:r>
            <a:pPr indent="0" marL="0">
              <a:buNone/>
            </a:pPr>
            <a:r>
              <a:rPr lang="en-US" sz="1050" dirty="0">
                <a:solidFill>
                  <a:srgbClr val="EDEDED"/>
                </a:solidFill>
                <a:latin typeface="Calibri" pitchFamily="34" charset="0"/>
                <a:ea typeface="Calibri" pitchFamily="34" charset="-122"/>
                <a:cs typeface="Calibri" pitchFamily="34" charset="-120"/>
              </a:rPr>
              <a:t>an Obsidian-style vault. Sessions as notes, raw records as timelines, a graph of files, sessions and decisions, and Pack Lab to preview exactly what a new session will receive.</a:t>
            </a:r>
            <a:endParaRPr lang="en-US" sz="1050" dirty="0"/>
          </a:p>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Any AI tool: </a:t>
            </a:r>
            <a:pPr indent="0" marL="0">
              <a:buNone/>
            </a:pPr>
            <a:r>
              <a:rPr lang="en-US" sz="1050" dirty="0">
                <a:solidFill>
                  <a:srgbClr val="EDEDED"/>
                </a:solidFill>
                <a:latin typeface="Calibri" pitchFamily="34" charset="0"/>
                <a:ea typeface="Calibri" pitchFamily="34" charset="-122"/>
                <a:cs typeface="Calibri" pitchFamily="34" charset="-120"/>
              </a:rPr>
              <a:t>an MCP server (get_context_pack, list and read sessions, begin and end session), a Codex adapter, and capture for any CLI or IDE agent. Tested with Claude Code and Codex.</a:t>
            </a:r>
            <a:endParaRPr lang="en-US" sz="1050" dirty="0"/>
          </a:p>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Benchmark harness: </a:t>
            </a:r>
            <a:pPr indent="0" marL="0">
              <a:buNone/>
            </a:pPr>
            <a:r>
              <a:rPr lang="en-US" sz="1050" dirty="0">
                <a:solidFill>
                  <a:srgbClr val="EDEDED"/>
                </a:solidFill>
                <a:latin typeface="Calibri" pitchFamily="34" charset="0"/>
                <a:ea typeface="Calibri" pitchFamily="34" charset="-122"/>
                <a:cs typeface="Calibri" pitchFamily="34" charset="-120"/>
              </a:rPr>
              <a:t>isolated headless runs, validated graders, Roblox Studio playtests through MCP, headless-Chrome web checks, reports with confidence intervals.</a:t>
            </a:r>
            <a:endParaRPr lang="en-US" sz="10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EDEDED"/>
                </a:solidFill>
                <a:latin typeface="Calibri" pitchFamily="34" charset="0"/>
                <a:ea typeface="Calibri" pitchFamily="34" charset="-122"/>
                <a:cs typeface="Calibri" pitchFamily="34" charset="-120"/>
              </a:rPr>
              <a:t>How we tested</a:t>
            </a:r>
            <a:endParaRPr lang="en-US" sz="3200" dirty="0"/>
          </a:p>
        </p:txBody>
      </p:sp>
      <p:sp>
        <p:nvSpPr>
          <p:cNvPr id="3" name="Fixed benchmark panel"/>
          <p:cNvSpPr/>
          <p:nvPr/>
        </p:nvSpPr>
        <p:spPr>
          <a:xfrm>
            <a:off x="457200" y="1051560"/>
            <a:ext cx="4023360" cy="3657600"/>
          </a:xfrm>
          <a:prstGeom prst="roundRect">
            <a:avLst>
              <a:gd name="adj" fmla="val 2500"/>
            </a:avLst>
          </a:prstGeom>
          <a:solidFill>
            <a:srgbClr val="161A22"/>
          </a:solidFill>
          <a:ln w="9525">
            <a:solidFill>
              <a:srgbClr val="232834"/>
            </a:solidFill>
            <a:prstDash val="solid"/>
          </a:ln>
        </p:spPr>
      </p:sp>
      <p:sp>
        <p:nvSpPr>
          <p:cNvPr id="4" name="Col A head"/>
          <p:cNvSpPr txBox="1"/>
          <p:nvPr/>
        </p:nvSpPr>
        <p:spPr>
          <a:xfrm>
            <a:off x="640080" y="1143000"/>
            <a:ext cx="3657600" cy="320040"/>
          </a:xfrm>
          <a:prstGeom prst="rect">
            <a:avLst/>
          </a:prstGeom>
          <a:noFill/>
          <a:ln/>
        </p:spPr>
        <p:txBody>
          <a:bodyPr wrap="square" lIns="0" tIns="0" rIns="0" bIns="0" rtlCol="0" anchor="ctr"/>
          <a:lstStyle/>
          <a:p>
            <a:pPr indent="0" marL="0">
              <a:buNone/>
            </a:pPr>
            <a:r>
              <a:rPr lang="en-US" sz="1500" b="1" dirty="0">
                <a:solidFill>
                  <a:srgbClr val="8B7CF6"/>
                </a:solidFill>
                <a:latin typeface="Calibri" pitchFamily="34" charset="0"/>
                <a:ea typeface="Calibri" pitchFamily="34" charset="-122"/>
                <a:cs typeface="Calibri" pitchFamily="34" charset="-120"/>
              </a:rPr>
              <a:t>A  Fixed benchmark (unseen tasks)</a:t>
            </a:r>
            <a:endParaRPr lang="en-US" sz="1500" dirty="0"/>
          </a:p>
        </p:txBody>
      </p:sp>
      <p:sp>
        <p:nvSpPr>
          <p:cNvPr id="5" name="Col A list"/>
          <p:cNvSpPr txBox="1"/>
          <p:nvPr/>
        </p:nvSpPr>
        <p:spPr>
          <a:xfrm>
            <a:off x="640080" y="1536192"/>
            <a:ext cx="3657600" cy="3108960"/>
          </a:xfrm>
          <a:prstGeom prst="rect">
            <a:avLst/>
          </a:prstGeom>
          <a:noFill/>
          <a:ln/>
        </p:spPr>
        <p:txBody>
          <a:bodyPr wrap="square" lIns="0" tIns="0" rIns="0" bIns="0" rtlCol="0" anchor="t"/>
          <a:lstStyle/>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Setups: </a:t>
            </a:r>
            <a:pPr indent="0" marL="0">
              <a:buNone/>
            </a:pPr>
            <a:r>
              <a:rPr lang="en-US" sz="1050" dirty="0">
                <a:solidFill>
                  <a:srgbClr val="EDEDED"/>
                </a:solidFill>
                <a:latin typeface="Calibri" pitchFamily="34" charset="0"/>
                <a:ea typeface="Calibri" pitchFamily="34" charset="-122"/>
                <a:cs typeface="Calibri" pitchFamily="34" charset="-120"/>
              </a:rPr>
              <a:t>C0 bare session; C1 hand-written CLAUDE.md (the simple alternative); C2 DevMemory's map only; C3 full DevMemory. Same model (Claude Haiku 5.5), same isolated settings, 3 repeats.</a:t>
            </a:r>
            <a:endParaRPr lang="en-US" sz="1050" dirty="0"/>
          </a:p>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Tasks: </a:t>
            </a:r>
            <a:pPr indent="0" marL="0">
              <a:buNone/>
            </a:pPr>
            <a:r>
              <a:rPr lang="en-US" sz="1050" dirty="0">
                <a:solidFill>
                  <a:srgbClr val="EDEDED"/>
                </a:solidFill>
                <a:latin typeface="Calibri" pitchFamily="34" charset="0"/>
                <a:ea typeface="Calibri" pitchFamily="34" charset="-122"/>
                <a:cs typeface="Calibri" pitchFamily="34" charset="-120"/>
              </a:rPr>
              <a:t>8 dev tasks for tuning. 28 held-out tasks in two sets, on a Roblox game and a Python app, written by a separate agent and hash-frozen before any run. Types: code, history, stale, unrelated.</a:t>
            </a:r>
            <a:endParaRPr lang="en-US" sz="1050" dirty="0"/>
          </a:p>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Graders: </a:t>
            </a:r>
            <a:pPr indent="0" marL="0">
              <a:buNone/>
            </a:pPr>
            <a:r>
              <a:rPr lang="en-US" sz="1050" dirty="0">
                <a:solidFill>
                  <a:srgbClr val="EDEDED"/>
                </a:solidFill>
                <a:latin typeface="Calibri" pitchFamily="34" charset="0"/>
                <a:ea typeface="Calibri" pitchFamily="34" charset="-122"/>
                <a:cs typeface="Calibri" pitchFamily="34" charset="-120"/>
              </a:rPr>
              <a:t>automatic and validated: the unmodified project must fail, a reference solution must pass.</a:t>
            </a:r>
            <a:endParaRPr lang="en-US" sz="1050" dirty="0"/>
          </a:p>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Metric: </a:t>
            </a:r>
            <a:pPr indent="0" marL="0">
              <a:buNone/>
            </a:pPr>
            <a:r>
              <a:rPr lang="en-US" sz="1050" dirty="0">
                <a:solidFill>
                  <a:srgbClr val="EDEDED"/>
                </a:solidFill>
                <a:latin typeface="Calibri" pitchFamily="34" charset="0"/>
                <a:ea typeface="Calibri" pitchFamily="34" charset="-122"/>
                <a:cs typeface="Calibri" pitchFamily="34" charset="-120"/>
              </a:rPr>
              <a:t>cost per successful task (all runs' cost / passes), counted only for setups above an 80% accuracy floor; 95% confidence intervals.</a:t>
            </a:r>
            <a:endParaRPr lang="en-US" sz="1050" dirty="0"/>
          </a:p>
        </p:txBody>
      </p:sp>
      <p:sp>
        <p:nvSpPr>
          <p:cNvPr id="6" name="Multi-session panel"/>
          <p:cNvSpPr/>
          <p:nvPr/>
        </p:nvSpPr>
        <p:spPr>
          <a:xfrm>
            <a:off x="4663440" y="1051560"/>
            <a:ext cx="4023360" cy="3657600"/>
          </a:xfrm>
          <a:prstGeom prst="roundRect">
            <a:avLst>
              <a:gd name="adj" fmla="val 2500"/>
            </a:avLst>
          </a:prstGeom>
          <a:solidFill>
            <a:srgbClr val="161A22"/>
          </a:solidFill>
          <a:ln w="9525">
            <a:solidFill>
              <a:srgbClr val="232834"/>
            </a:solidFill>
            <a:prstDash val="solid"/>
          </a:ln>
        </p:spPr>
      </p:sp>
      <p:sp>
        <p:nvSpPr>
          <p:cNvPr id="7" name="Col B head"/>
          <p:cNvSpPr txBox="1"/>
          <p:nvPr/>
        </p:nvSpPr>
        <p:spPr>
          <a:xfrm>
            <a:off x="4846320" y="1143000"/>
            <a:ext cx="3657600" cy="320040"/>
          </a:xfrm>
          <a:prstGeom prst="rect">
            <a:avLst/>
          </a:prstGeom>
          <a:noFill/>
          <a:ln/>
        </p:spPr>
        <p:txBody>
          <a:bodyPr wrap="square" lIns="0" tIns="0" rIns="0" bIns="0" rtlCol="0" anchor="ctr"/>
          <a:lstStyle/>
          <a:p>
            <a:pPr indent="0" marL="0">
              <a:buNone/>
            </a:pPr>
            <a:r>
              <a:rPr lang="en-US" sz="1500" b="1" dirty="0">
                <a:solidFill>
                  <a:srgbClr val="38D6E8"/>
                </a:solidFill>
                <a:latin typeface="Calibri" pitchFamily="34" charset="0"/>
                <a:ea typeface="Calibri" pitchFamily="34" charset="-122"/>
                <a:cs typeface="Calibri" pitchFamily="34" charset="-120"/>
              </a:rPr>
              <a:t>B  Real builds over many sessions</a:t>
            </a:r>
            <a:endParaRPr lang="en-US" sz="1500" dirty="0"/>
          </a:p>
        </p:txBody>
      </p:sp>
      <p:sp>
        <p:nvSpPr>
          <p:cNvPr id="8" name="Col B list"/>
          <p:cNvSpPr txBox="1"/>
          <p:nvPr/>
        </p:nvSpPr>
        <p:spPr>
          <a:xfrm>
            <a:off x="4846320" y="1536192"/>
            <a:ext cx="3657600" cy="3108960"/>
          </a:xfrm>
          <a:prstGeom prst="rect">
            <a:avLst/>
          </a:prstGeom>
          <a:noFill/>
          <a:ln/>
        </p:spPr>
        <p:txBody>
          <a:bodyPr wrap="square" lIns="0" tIns="0" rIns="0" bIns="0" rtlCol="0" anchor="t"/>
          <a:lstStyle/>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Roblox: </a:t>
            </a:r>
            <a:pPr indent="0" marL="0">
              <a:buNone/>
            </a:pPr>
            <a:r>
              <a:rPr lang="en-US" sz="1050" dirty="0">
                <a:solidFill>
                  <a:srgbClr val="EDEDED"/>
                </a:solidFill>
                <a:latin typeface="Calibri" pitchFamily="34" charset="0"/>
                <a:ea typeface="Calibri" pitchFamily="34" charset="-122"/>
                <a:cs typeface="Calibri" pitchFamily="34" charset="-120"/>
              </a:rPr>
              <a:t>the Blade Swarm game built three ways (no memory, a self-maintained AGENTS.md, DevMemory), 16 fresh sessions each, automated Studio playtest after every prompt, human playtest at the end.</a:t>
            </a:r>
            <a:endParaRPr lang="en-US" sz="1050" dirty="0"/>
          </a:p>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Next prompt: </a:t>
            </a:r>
            <a:pPr indent="0" marL="0">
              <a:buNone/>
            </a:pPr>
            <a:r>
              <a:rPr lang="en-US" sz="1050" dirty="0">
                <a:solidFill>
                  <a:srgbClr val="EDEDED"/>
                </a:solidFill>
                <a:latin typeface="Calibri" pitchFamily="34" charset="0"/>
                <a:ea typeface="Calibri" pitchFamily="34" charset="-122"/>
                <a:cs typeface="Calibri" pitchFamily="34" charset="-120"/>
              </a:rPr>
              <a:t>chosen by a fixed rule: a bug report from failed checks, otherwise the next feature.</a:t>
            </a:r>
            <a:endParaRPr lang="en-US" sz="1050" dirty="0"/>
          </a:p>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Web app: </a:t>
            </a:r>
            <a:pPr indent="0" marL="0">
              <a:buNone/>
            </a:pPr>
            <a:r>
              <a:rPr lang="en-US" sz="1050" dirty="0">
                <a:solidFill>
                  <a:srgbClr val="EDEDED"/>
                </a:solidFill>
                <a:latin typeface="Calibri" pitchFamily="34" charset="0"/>
                <a:ea typeface="Calibri" pitchFamily="34" charset="-122"/>
                <a:cs typeface="Calibri" pitchFamily="34" charset="-120"/>
              </a:rPr>
              <a:t>a team task board raced the same way (8 features, API and headless-Chrome checks), two rounds.</a:t>
            </a:r>
            <a:endParaRPr lang="en-US" sz="1050" dirty="0"/>
          </a:p>
          <a:p>
            <a:pPr marL="342900" indent="-342900">
              <a:spcAft>
                <a:spcPts val="800"/>
              </a:spcAft>
              <a:buSzPct val="100000"/>
              <a:buChar char="•"/>
            </a:pPr>
            <a:r>
              <a:rPr lang="en-US" sz="1050" b="1" dirty="0">
                <a:solidFill>
                  <a:srgbClr val="38D6E8"/>
                </a:solidFill>
                <a:latin typeface="Calibri" pitchFamily="34" charset="0"/>
                <a:ea typeface="Calibri" pitchFamily="34" charset="-122"/>
                <a:cs typeface="Calibri" pitchFamily="34" charset="-120"/>
              </a:rPr>
              <a:t>Across tools: </a:t>
            </a:r>
            <a:pPr indent="0" marL="0">
              <a:buNone/>
            </a:pPr>
            <a:r>
              <a:rPr lang="en-US" sz="1050" dirty="0">
                <a:solidFill>
                  <a:srgbClr val="EDEDED"/>
                </a:solidFill>
                <a:latin typeface="Calibri" pitchFamily="34" charset="0"/>
                <a:ea typeface="Calibri" pitchFamily="34" charset="-122"/>
                <a:cs typeface="Calibri" pitchFamily="34" charset="-120"/>
              </a:rPr>
              <a:t>memory recorded in Claude Code handed to Codex; isolated runs, 3 per variant.</a:t>
            </a:r>
            <a:endParaRPr lang="en-US" sz="10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EDEDED"/>
                </a:solidFill>
                <a:latin typeface="Calibri" pitchFamily="34" charset="0"/>
                <a:ea typeface="Calibri" pitchFamily="34" charset="-122"/>
                <a:cs typeface="Calibri" pitchFamily="34" charset="-120"/>
              </a:rPr>
              <a:t>Unseen tasks: only DevMemory clears 80%</a:t>
            </a:r>
            <a:endParaRPr lang="en-US" sz="3200" dirty="0"/>
          </a:p>
        </p:txBody>
      </p:sp>
      <p:graphicFrame>
        <p:nvGraphicFramePr>
          <p:cNvPr id="3" name="Pass rate chart" descr=""/>
          <p:cNvGraphicFramePr/>
          <p:nvPr/>
        </p:nvGraphicFramePr>
        <p:xfrm>
          <a:off x="365760" y="1005840"/>
          <a:ext cx="4572000" cy="3200400"/>
        </p:xfrm>
        <a:graphic xmlns:a="http://schemas.openxmlformats.org/drawingml/2006/main">
          <a:graphicData uri="http://schemas.openxmlformats.org/drawingml/2006/chart">
            <c:chart xmlns:c="http://schemas.openxmlformats.org/drawingml/2006/chart" r:id="rId1"/>
          </a:graphicData>
        </a:graphic>
      </p:graphicFrame>
      <p:sp>
        <p:nvSpPr>
          <p:cNvPr id="4" name="Floor note"/>
          <p:cNvSpPr txBox="1"/>
          <p:nvPr/>
        </p:nvSpPr>
        <p:spPr>
          <a:xfrm>
            <a:off x="457200" y="4297680"/>
            <a:ext cx="4480560" cy="411480"/>
          </a:xfrm>
          <a:prstGeom prst="rect">
            <a:avLst/>
          </a:prstGeom>
          <a:noFill/>
          <a:ln/>
        </p:spPr>
        <p:txBody>
          <a:bodyPr wrap="square" lIns="0" tIns="0" rIns="0" bIns="0" rtlCol="0" anchor="t"/>
          <a:lstStyle/>
          <a:p>
            <a:pPr indent="0" marL="0">
              <a:buNone/>
            </a:pPr>
            <a:r>
              <a:rPr lang="en-US" sz="1050" dirty="0">
                <a:solidFill>
                  <a:srgbClr val="F5A524"/>
                </a:solidFill>
                <a:latin typeface="Calibri" pitchFamily="34" charset="0"/>
                <a:ea typeface="Calibri" pitchFamily="34" charset="-122"/>
                <a:cs typeface="Calibri" pitchFamily="34" charset="-120"/>
              </a:rPr>
              <a:t>Accuracy floor 80%. Set 1 shown with the shipped code (DevMemory scored 86% when the set was frozen).</a:t>
            </a:r>
            <a:endParaRPr lang="en-US" sz="1050" dirty="0"/>
          </a:p>
        </p:txBody>
      </p:sp>
      <p:graphicFrame>
        <p:nvGraphicFramePr>
          <p:cNvPr id="5" name="Cost per successful task, set 2 (US$)" descr=""/>
          <p:cNvGraphicFramePr/>
          <p:nvPr/>
        </p:nvGraphicFramePr>
        <p:xfrm>
          <a:off x="5029200" y="1005840"/>
          <a:ext cx="3749040" cy="1783080"/>
        </p:xfrm>
        <a:graphic xmlns:a="http://schemas.openxmlformats.org/drawingml/2006/main">
          <a:graphicData uri="http://schemas.openxmlformats.org/drawingml/2006/chart">
            <c:chart xmlns:c="http://schemas.openxmlformats.org/drawingml/2006/chart" r:id="rId2"/>
          </a:graphicData>
        </a:graphic>
      </p:graphicFrame>
      <p:sp>
        <p:nvSpPr>
          <p:cNvPr id="6" name="Reading panel"/>
          <p:cNvSpPr/>
          <p:nvPr/>
        </p:nvSpPr>
        <p:spPr>
          <a:xfrm>
            <a:off x="5120640" y="2880360"/>
            <a:ext cx="3566160" cy="1828800"/>
          </a:xfrm>
          <a:prstGeom prst="roundRect">
            <a:avLst>
              <a:gd name="adj" fmla="val 5000"/>
            </a:avLst>
          </a:prstGeom>
          <a:solidFill>
            <a:srgbClr val="161A22"/>
          </a:solidFill>
          <a:ln w="9525">
            <a:solidFill>
              <a:srgbClr val="232834"/>
            </a:solidFill>
            <a:prstDash val="solid"/>
          </a:ln>
        </p:spPr>
      </p:sp>
      <p:sp>
        <p:nvSpPr>
          <p:cNvPr id="7" name="Reading list"/>
          <p:cNvSpPr txBox="1"/>
          <p:nvPr/>
        </p:nvSpPr>
        <p:spPr>
          <a:xfrm>
            <a:off x="5257800" y="2971800"/>
            <a:ext cx="3337560" cy="1691640"/>
          </a:xfrm>
          <a:prstGeom prst="rect">
            <a:avLst/>
          </a:prstGeom>
          <a:noFill/>
          <a:ln/>
        </p:spPr>
        <p:txBody>
          <a:bodyPr wrap="square" lIns="0" tIns="0" rIns="0" bIns="0" rtlCol="0" anchor="t"/>
          <a:lstStyle/>
          <a:p>
            <a:pPr marL="342900" indent="-342900">
              <a:spcAft>
                <a:spcPts val="800"/>
              </a:spcAft>
              <a:buSzPct val="100000"/>
              <a:buChar char="•"/>
            </a:pPr>
            <a:r>
              <a:rPr lang="en-US" sz="1000" b="1" dirty="0">
                <a:solidFill>
                  <a:srgbClr val="38D6E8"/>
                </a:solidFill>
                <a:latin typeface="Calibri" pitchFamily="34" charset="0"/>
                <a:ea typeface="Calibri" pitchFamily="34" charset="-122"/>
                <a:cs typeface="Calibri" pitchFamily="34" charset="-120"/>
              </a:rPr>
              <a:t>Accuracy: </a:t>
            </a:r>
            <a:pPr indent="0" marL="0">
              <a:buNone/>
            </a:pPr>
            <a:r>
              <a:rPr lang="en-US" sz="1000" dirty="0">
                <a:solidFill>
                  <a:srgbClr val="EDEDED"/>
                </a:solidFill>
                <a:latin typeface="Calibri" pitchFamily="34" charset="0"/>
                <a:ea typeface="Calibri" pitchFamily="34" charset="-122"/>
                <a:cs typeface="Calibri" pitchFamily="34" charset="-120"/>
              </a:rPr>
              <a:t>DevMemory 83% and 98%; the others 64–81%.</a:t>
            </a:r>
            <a:endParaRPr lang="en-US" sz="1000" dirty="0"/>
          </a:p>
          <a:p>
            <a:pPr marL="342900" indent="-342900">
              <a:spcAft>
                <a:spcPts val="800"/>
              </a:spcAft>
              <a:buSzPct val="100000"/>
              <a:buChar char="•"/>
            </a:pPr>
            <a:r>
              <a:rPr lang="en-US" sz="1000" b="1" dirty="0">
                <a:solidFill>
                  <a:srgbClr val="38D6E8"/>
                </a:solidFill>
                <a:latin typeface="Calibri" pitchFamily="34" charset="0"/>
                <a:ea typeface="Calibri" pitchFamily="34" charset="-122"/>
                <a:cs typeface="Calibri" pitchFamily="34" charset="-120"/>
              </a:rPr>
              <a:t>Cost: </a:t>
            </a:r>
            <a:pPr indent="0" marL="0">
              <a:buNone/>
            </a:pPr>
            <a:r>
              <a:rPr lang="en-US" sz="1000" dirty="0">
                <a:solidFill>
                  <a:srgbClr val="EDEDED"/>
                </a:solidFill>
                <a:latin typeface="Calibri" pitchFamily="34" charset="0"/>
                <a:ea typeface="Calibri" pitchFamily="34" charset="-122"/>
                <a:cs typeface="Calibri" pitchFamily="34" charset="-120"/>
              </a:rPr>
              <a:t>lowest per success on set 2, $0.0076 vs $0.0093–0.0106.</a:t>
            </a:r>
            <a:endParaRPr lang="en-US" sz="1000" dirty="0"/>
          </a:p>
          <a:p>
            <a:pPr marL="342900" indent="-342900">
              <a:spcAft>
                <a:spcPts val="800"/>
              </a:spcAft>
              <a:buSzPct val="100000"/>
              <a:buChar char="•"/>
            </a:pPr>
            <a:r>
              <a:rPr lang="en-US" sz="1000" b="1" dirty="0">
                <a:solidFill>
                  <a:srgbClr val="38D6E8"/>
                </a:solidFill>
                <a:latin typeface="Calibri" pitchFamily="34" charset="0"/>
                <a:ea typeface="Calibri" pitchFamily="34" charset="-122"/>
                <a:cs typeface="Calibri" pitchFamily="34" charset="-120"/>
              </a:rPr>
              <a:t>Where it comes from: </a:t>
            </a:r>
            <a:pPr indent="0" marL="0">
              <a:buNone/>
            </a:pPr>
            <a:r>
              <a:rPr lang="en-US" sz="1000" dirty="0">
                <a:solidFill>
                  <a:srgbClr val="EDEDED"/>
                </a:solidFill>
                <a:latin typeface="Calibri" pitchFamily="34" charset="0"/>
                <a:ea typeface="Calibri" pitchFamily="34" charset="-122"/>
                <a:cs typeface="Calibri" pitchFamily="34" charset="-120"/>
              </a:rPr>
              <a:t>history tasks, 12/12 vs 3–4/12. Code, stale and unrelated tasks were similar for all.</a:t>
            </a:r>
            <a:endParaRPr lang="en-US" sz="1000" dirty="0"/>
          </a:p>
          <a:p>
            <a:pPr marL="342900" indent="-342900">
              <a:spcAft>
                <a:spcPts val="800"/>
              </a:spcAft>
              <a:buSzPct val="100000"/>
              <a:buChar char="•"/>
            </a:pPr>
            <a:r>
              <a:rPr lang="en-US" sz="1000" b="1" dirty="0">
                <a:solidFill>
                  <a:srgbClr val="38D6E8"/>
                </a:solidFill>
                <a:latin typeface="Calibri" pitchFamily="34" charset="0"/>
                <a:ea typeface="Calibri" pitchFamily="34" charset="-122"/>
                <a:cs typeface="Calibri" pitchFamily="34" charset="-120"/>
              </a:rPr>
              <a:t>Bigger model: </a:t>
            </a:r>
            <a:pPr indent="0" marL="0">
              <a:buNone/>
            </a:pPr>
            <a:r>
              <a:rPr lang="en-US" sz="1000" dirty="0">
                <a:solidFill>
                  <a:srgbClr val="EDEDED"/>
                </a:solidFill>
                <a:latin typeface="Calibri" pitchFamily="34" charset="0"/>
                <a:ea typeface="Calibri" pitchFamily="34" charset="-122"/>
                <a:cs typeface="Calibri" pitchFamily="34" charset="-120"/>
              </a:rPr>
              <a:t>Sonnet without memory, $0.092 per success (11× more) at 75%.</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EDEDED"/>
                </a:solidFill>
                <a:latin typeface="Calibri" pitchFamily="34" charset="0"/>
                <a:ea typeface="Calibri" pitchFamily="34" charset="-122"/>
                <a:cs typeface="Calibri" pitchFamily="34" charset="-120"/>
              </a:rPr>
              <a:t>Building a real game: about half the tokens</a:t>
            </a:r>
            <a:endParaRPr lang="en-US" sz="3200" dirty="0"/>
          </a:p>
        </p:txBody>
      </p:sp>
      <p:graphicFrame>
        <p:nvGraphicFramePr>
          <p:cNvPr id="3" name="Input tokens, Blade Swarm (millions, 16 sessions)" descr=""/>
          <p:cNvGraphicFramePr/>
          <p:nvPr/>
        </p:nvGraphicFramePr>
        <p:xfrm>
          <a:off x="365760" y="960120"/>
          <a:ext cx="4206240" cy="233172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Build stats table"/>
          <p:cNvGraphicFramePr>
            <a:graphicFrameLocks noGrp="1"/>
          </p:cNvGraphicFramePr>
          <p:nvPr>
            <p:extLst>
              <p:ext uri="{D42A27DB-BD31-4B8C-83A1-F6EECF244321}">
                <p14:modId xmlns:p14="http://schemas.microsoft.com/office/powerpoint/2010/main" val="1579011935"/>
              </p:ext>
            </p:extLst>
          </p:nvPr>
        </p:nvGraphicFramePr>
        <p:xfrm>
          <a:off x="457200" y="3383280"/>
          <a:ext cx="4114800" cy="914400"/>
        </p:xfrm>
        <a:graphic>
          <a:graphicData uri="http://schemas.openxmlformats.org/drawingml/2006/table">
            <a:tbl>
              <a:tblPr/>
              <a:tblGrid>
                <a:gridCol w="1463040"/>
                <a:gridCol w="731520"/>
                <a:gridCol w="960120"/>
                <a:gridCol w="960120"/>
              </a:tblGrid>
              <a:tr h="256032">
                <a:tc>
                  <a:txBody>
                    <a:bodyPr/>
                    <a:lstStyle/>
                    <a:p>
                      <a:pPr algn="l" indent="0" marL="0">
                        <a:buNone/>
                      </a:pPr>
                      <a:endParaRPr lang="en-US" sz="11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c>
                  <a:txBody>
                    <a:bodyPr/>
                    <a:lstStyle/>
                    <a:p>
                      <a:pPr algn="ctr" indent="0" marL="0">
                        <a:buNone/>
                      </a:pPr>
                      <a:r>
                        <a:rPr lang="en-US" sz="1100" b="1" dirty="0">
                          <a:solidFill>
                            <a:srgbClr val="9AA0AA"/>
                          </a:solidFill>
                          <a:latin typeface="Calibri" pitchFamily="34" charset="0"/>
                          <a:ea typeface="Calibri" pitchFamily="34" charset="-122"/>
                          <a:cs typeface="Calibri" pitchFamily="34" charset="-120"/>
                        </a:rPr>
                        <a:t>None</a:t>
                      </a:r>
                      <a:endParaRPr lang="en-US" sz="11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c>
                  <a:txBody>
                    <a:bodyPr/>
                    <a:lstStyle/>
                    <a:p>
                      <a:pPr algn="ctr" indent="0" marL="0">
                        <a:buNone/>
                      </a:pPr>
                      <a:r>
                        <a:rPr lang="en-US" sz="1100" b="1" dirty="0">
                          <a:solidFill>
                            <a:srgbClr val="9AA0AA"/>
                          </a:solidFill>
                          <a:latin typeface="Calibri" pitchFamily="34" charset="0"/>
                          <a:ea typeface="Calibri" pitchFamily="34" charset="-122"/>
                          <a:cs typeface="Calibri" pitchFamily="34" charset="-120"/>
                        </a:rPr>
                        <a:t>AGENTS.md</a:t>
                      </a:r>
                      <a:endParaRPr lang="en-US" sz="11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c>
                  <a:txBody>
                    <a:bodyPr/>
                    <a:lstStyle/>
                    <a:p>
                      <a:pPr algn="ctr" indent="0" marL="0">
                        <a:buNone/>
                      </a:pPr>
                      <a:r>
                        <a:rPr lang="en-US" sz="1100" b="1" dirty="0">
                          <a:solidFill>
                            <a:srgbClr val="8B7CF6"/>
                          </a:solidFill>
                          <a:latin typeface="Calibri" pitchFamily="34" charset="0"/>
                          <a:ea typeface="Calibri" pitchFamily="34" charset="-122"/>
                          <a:cs typeface="Calibri" pitchFamily="34" charset="-120"/>
                        </a:rPr>
                        <a:t>DevMemory</a:t>
                      </a:r>
                      <a:endParaRPr lang="en-US" sz="11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r>
              <a:tr h="256032">
                <a:tc>
                  <a:txBody>
                    <a:bodyPr/>
                    <a:lstStyle/>
                    <a:p>
                      <a:pPr indent="0" marL="0">
                        <a:buNone/>
                      </a:pPr>
                      <a:r>
                        <a:rPr lang="en-US" sz="1100" dirty="0">
                          <a:solidFill>
                            <a:srgbClr val="EDEDED"/>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c>
                  <a:txBody>
                    <a:bodyPr/>
                    <a:lstStyle/>
                    <a:p>
                      <a:pPr algn="ctr" indent="0" marL="0">
                        <a:buNone/>
                      </a:pPr>
                      <a:r>
                        <a:rPr lang="en-US" sz="1200" dirty="0">
                          <a:solidFill>
                            <a:srgbClr val="EDEDED"/>
                          </a:solidFill>
                          <a:latin typeface="Calibri" pitchFamily="34" charset="0"/>
                          <a:ea typeface="Calibri" pitchFamily="34" charset="-122"/>
                          <a:cs typeface="Calibri" pitchFamily="34" charset="-120"/>
                        </a:rPr>
                        <a:t>$3.41</a:t>
                      </a:r>
                      <a:endParaRPr lang="en-US" sz="12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c>
                  <a:txBody>
                    <a:bodyPr/>
                    <a:lstStyle/>
                    <a:p>
                      <a:pPr algn="ctr" indent="0" marL="0">
                        <a:buNone/>
                      </a:pPr>
                      <a:r>
                        <a:rPr lang="en-US" sz="1200" dirty="0">
                          <a:solidFill>
                            <a:srgbClr val="EDEDED"/>
                          </a:solidFill>
                          <a:latin typeface="Calibri" pitchFamily="34" charset="0"/>
                          <a:ea typeface="Calibri" pitchFamily="34" charset="-122"/>
                          <a:cs typeface="Calibri" pitchFamily="34" charset="-120"/>
                        </a:rPr>
                        <a:t>$2.88</a:t>
                      </a:r>
                      <a:endParaRPr lang="en-US" sz="12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c>
                  <a:txBody>
                    <a:bodyPr/>
                    <a:lstStyle/>
                    <a:p>
                      <a:pPr algn="ctr" indent="0" marL="0">
                        <a:buNone/>
                      </a:pPr>
                      <a:r>
                        <a:rPr lang="en-US" sz="1200" b="1" dirty="0">
                          <a:solidFill>
                            <a:srgbClr val="8B7CF6"/>
                          </a:solidFill>
                          <a:latin typeface="Calibri" pitchFamily="34" charset="0"/>
                          <a:ea typeface="Calibri" pitchFamily="34" charset="-122"/>
                          <a:cs typeface="Calibri" pitchFamily="34" charset="-120"/>
                        </a:rPr>
                        <a:t>$2.48</a:t>
                      </a:r>
                      <a:endParaRPr lang="en-US" sz="12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r>
              <a:tr h="256032">
                <a:tc>
                  <a:txBody>
                    <a:bodyPr/>
                    <a:lstStyle/>
                    <a:p>
                      <a:pPr indent="0" marL="0">
                        <a:buNone/>
                      </a:pPr>
                      <a:r>
                        <a:rPr lang="en-US" sz="1100" dirty="0">
                          <a:solidFill>
                            <a:srgbClr val="EDEDED"/>
                          </a:solidFill>
                          <a:latin typeface="Calibri" pitchFamily="34" charset="0"/>
                          <a:ea typeface="Calibri" pitchFamily="34" charset="-122"/>
                          <a:cs typeface="Calibri" pitchFamily="34" charset="-120"/>
                        </a:rPr>
                        <a:t>Playable (human)</a:t>
                      </a:r>
                      <a:endParaRPr lang="en-US" sz="11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c>
                  <a:txBody>
                    <a:bodyPr/>
                    <a:lstStyle/>
                    <a:p>
                      <a:pPr algn="ctr" indent="0" marL="0">
                        <a:buNone/>
                      </a:pPr>
                      <a:r>
                        <a:rPr lang="en-US" sz="1200" dirty="0">
                          <a:solidFill>
                            <a:srgbClr val="EDEDED"/>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c>
                  <a:txBody>
                    <a:bodyPr/>
                    <a:lstStyle/>
                    <a:p>
                      <a:pPr algn="ctr" indent="0" marL="0">
                        <a:buNone/>
                      </a:pPr>
                      <a:r>
                        <a:rPr lang="en-US" sz="1200" dirty="0">
                          <a:solidFill>
                            <a:srgbClr val="EDEDED"/>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c>
                  <a:txBody>
                    <a:bodyPr/>
                    <a:lstStyle/>
                    <a:p>
                      <a:pPr algn="ctr" indent="0" marL="0">
                        <a:buNone/>
                      </a:pPr>
                      <a:r>
                        <a:rPr lang="en-US" sz="1200" b="1" dirty="0">
                          <a:solidFill>
                            <a:srgbClr val="8B7CF6"/>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232834"/>
                      </a:solidFill>
                      <a:prstDash val="solid"/>
                      <a:round/>
                      <a:headEnd type="none" w="med" len="med"/>
                      <a:tailEnd type="none" w="med" len="med"/>
                    </a:lnL>
                    <a:lnR w="9525" cap="flat" cmpd="sng" algn="ctr">
                      <a:solidFill>
                        <a:srgbClr val="232834"/>
                      </a:solidFill>
                      <a:prstDash val="solid"/>
                      <a:round/>
                      <a:headEnd type="none" w="med" len="med"/>
                      <a:tailEnd type="none" w="med" len="med"/>
                    </a:lnR>
                    <a:lnT w="9525" cap="flat" cmpd="sng" algn="ctr">
                      <a:solidFill>
                        <a:srgbClr val="232834"/>
                      </a:solidFill>
                      <a:prstDash val="solid"/>
                      <a:round/>
                      <a:headEnd type="none" w="med" len="med"/>
                      <a:tailEnd type="none" w="med" len="med"/>
                    </a:lnT>
                    <a:lnB w="9525" cap="flat" cmpd="sng" algn="ctr">
                      <a:solidFill>
                        <a:srgbClr val="232834"/>
                      </a:solidFill>
                      <a:prstDash val="solid"/>
                      <a:round/>
                      <a:headEnd type="none" w="med" len="med"/>
                      <a:tailEnd type="none" w="med" len="med"/>
                    </a:lnB>
                    <a:solidFill>
                      <a:srgbClr val="161A22"/>
                    </a:solidFill>
                  </a:tcPr>
                </a:tc>
              </a:tr>
            </a:tbl>
          </a:graphicData>
        </a:graphic>
      </p:graphicFrame>
      <p:sp>
        <p:nvSpPr>
          <p:cNvPr id="5" name="Table note"/>
          <p:cNvSpPr txBox="1"/>
          <p:nvPr/>
        </p:nvSpPr>
        <p:spPr>
          <a:xfrm>
            <a:off x="457200" y="4343400"/>
            <a:ext cx="4114800" cy="365760"/>
          </a:xfrm>
          <a:prstGeom prst="rect">
            <a:avLst/>
          </a:prstGeom>
          <a:noFill/>
          <a:ln/>
        </p:spPr>
        <p:txBody>
          <a:bodyPr wrap="square" lIns="0" tIns="0" rIns="0" bIns="0" rtlCol="0" anchor="t"/>
          <a:lstStyle/>
          <a:p>
            <a:pPr indent="0" marL="0">
              <a:buNone/>
            </a:pPr>
            <a:r>
              <a:rPr lang="en-US" sz="1000" dirty="0">
                <a:solidFill>
                  <a:srgbClr val="9AA0AA"/>
                </a:solidFill>
                <a:latin typeface="Calibri" pitchFamily="34" charset="0"/>
                <a:ea typeface="Calibri" pitchFamily="34" charset="-122"/>
                <a:cs typeface="Calibri" pitchFamily="34" charset="-120"/>
              </a:rPr>
              <a:t>Same prompts for all three; one run per setup (a case study, not a statistic).</a:t>
            </a:r>
            <a:endParaRPr lang="en-US" sz="1000" dirty="0"/>
          </a:p>
        </p:txBody>
      </p:sp>
      <p:sp>
        <p:nvSpPr>
          <p:cNvPr id="6" name="Game built with DevMemory-assisted sessions frame"/>
          <p:cNvSpPr/>
          <p:nvPr/>
        </p:nvSpPr>
        <p:spPr>
          <a:xfrm>
            <a:off x="4832152" y="960120"/>
            <a:ext cx="3868817" cy="1417320"/>
          </a:xfrm>
          <a:prstGeom prst="roundRect">
            <a:avLst>
              <a:gd name="adj" fmla="val 5161"/>
            </a:avLst>
          </a:prstGeom>
          <a:solidFill>
            <a:srgbClr val="161A22"/>
          </a:solidFill>
          <a:ln w="9525">
            <a:solidFill>
              <a:srgbClr val="5A606B"/>
            </a:solidFill>
            <a:prstDash val="solid"/>
          </a:ln>
        </p:spPr>
      </p:sp>
      <p:pic>
        <p:nvPicPr>
          <p:cNvPr id="7" name="Game built with DevMemory-assisted sessions" descr="Game built with DevMemory-assisted sessions">    </p:cNvPr>
          <p:cNvPicPr>
            <a:picLocks noChangeAspect="1"/>
          </p:cNvPicPr>
          <p:nvPr/>
        </p:nvPicPr>
        <p:blipFill>
          <a:blip r:embed="rId2"/>
          <a:stretch>
            <a:fillRect/>
          </a:stretch>
        </p:blipFill>
        <p:spPr>
          <a:xfrm>
            <a:off x="4877872" y="1005840"/>
            <a:ext cx="3777377" cy="1325880"/>
          </a:xfrm>
          <a:prstGeom prst="rect">
            <a:avLst/>
          </a:prstGeom>
        </p:spPr>
      </p:pic>
      <p:sp>
        <p:nvSpPr>
          <p:cNvPr id="8" name="Race text panel"/>
          <p:cNvSpPr/>
          <p:nvPr/>
        </p:nvSpPr>
        <p:spPr>
          <a:xfrm>
            <a:off x="4846320" y="2468880"/>
            <a:ext cx="3840480" cy="2240280"/>
          </a:xfrm>
          <a:prstGeom prst="roundRect">
            <a:avLst>
              <a:gd name="adj" fmla="val 4082"/>
            </a:avLst>
          </a:prstGeom>
          <a:solidFill>
            <a:srgbClr val="161A22"/>
          </a:solidFill>
          <a:ln w="9525">
            <a:solidFill>
              <a:srgbClr val="232834"/>
            </a:solidFill>
            <a:prstDash val="solid"/>
          </a:ln>
        </p:spPr>
      </p:sp>
      <p:sp>
        <p:nvSpPr>
          <p:cNvPr id="9" name="Race text"/>
          <p:cNvSpPr txBox="1"/>
          <p:nvPr/>
        </p:nvSpPr>
        <p:spPr>
          <a:xfrm>
            <a:off x="4983480" y="2560320"/>
            <a:ext cx="3611880" cy="2103120"/>
          </a:xfrm>
          <a:prstGeom prst="rect">
            <a:avLst/>
          </a:prstGeom>
          <a:noFill/>
          <a:ln/>
        </p:spPr>
        <p:txBody>
          <a:bodyPr wrap="square" lIns="0" tIns="0" rIns="0" bIns="0" rtlCol="0" anchor="t"/>
          <a:lstStyle/>
          <a:p>
            <a:pPr marL="342900" indent="-342900">
              <a:spcAft>
                <a:spcPts val="800"/>
              </a:spcAft>
              <a:buSzPct val="100000"/>
              <a:buChar char="•"/>
            </a:pPr>
            <a:r>
              <a:rPr lang="en-US" sz="1000" b="1" dirty="0">
                <a:solidFill>
                  <a:srgbClr val="38D6E8"/>
                </a:solidFill>
                <a:latin typeface="Calibri" pitchFamily="34" charset="0"/>
                <a:ea typeface="Calibri" pitchFamily="34" charset="-122"/>
                <a:cs typeface="Calibri" pitchFamily="34" charset="-120"/>
              </a:rPr>
              <a:t>What happened: </a:t>
            </a:r>
            <a:pPr indent="0" marL="0">
              <a:buNone/>
            </a:pPr>
            <a:r>
              <a:rPr lang="en-US" sz="1000" dirty="0">
                <a:solidFill>
                  <a:srgbClr val="EDEDED"/>
                </a:solidFill>
                <a:latin typeface="Calibri" pitchFamily="34" charset="0"/>
                <a:ea typeface="Calibri" pitchFamily="34" charset="-122"/>
                <a:cs typeface="Calibri" pitchFamily="34" charset="-120"/>
              </a:rPr>
              <a:t>each feature was built in a fresh session. DevMemory used 1.85M input tokens vs 3.08M (no memory) and 3.41M (an AGENTS.md the agent kept itself), at the lowest cost. All three final games are playable.</a:t>
            </a:r>
            <a:endParaRPr lang="en-US" sz="1000" dirty="0"/>
          </a:p>
          <a:p>
            <a:pPr marL="342900" indent="-342900">
              <a:spcAft>
                <a:spcPts val="800"/>
              </a:spcAft>
              <a:buSzPct val="100000"/>
              <a:buChar char="•"/>
            </a:pPr>
            <a:r>
              <a:rPr lang="en-US" sz="1000" b="1" dirty="0">
                <a:solidFill>
                  <a:srgbClr val="38D6E8"/>
                </a:solidFill>
                <a:latin typeface="Calibri" pitchFamily="34" charset="0"/>
                <a:ea typeface="Calibri" pitchFamily="34" charset="-122"/>
                <a:cs typeface="Calibri" pitchFamily="34" charset="-120"/>
              </a:rPr>
              <a:t>Scripted 8-prompt build: </a:t>
            </a:r>
            <a:pPr indent="0" marL="0">
              <a:buNone/>
            </a:pPr>
            <a:r>
              <a:rPr lang="en-US" sz="1000" dirty="0">
                <a:solidFill>
                  <a:srgbClr val="EDEDED"/>
                </a:solidFill>
                <a:latin typeface="Calibri" pitchFamily="34" charset="0"/>
                <a:ea typeface="Calibri" pitchFamily="34" charset="-122"/>
                <a:cs typeface="Calibri" pitchFamily="34" charset="-120"/>
              </a:rPr>
              <a:t>DevMemory 0.61M tokens vs 1.06M / 1.20M; the AGENTS.md build crashed on start in Studio.</a:t>
            </a:r>
            <a:endParaRPr lang="en-US" sz="1000" dirty="0"/>
          </a:p>
          <a:p>
            <a:pPr marL="342900" indent="-342900">
              <a:spcAft>
                <a:spcPts val="800"/>
              </a:spcAft>
              <a:buSzPct val="100000"/>
              <a:buChar char="•"/>
            </a:pPr>
            <a:r>
              <a:rPr lang="en-US" sz="1000" b="1" dirty="0">
                <a:solidFill>
                  <a:srgbClr val="38D6E8"/>
                </a:solidFill>
                <a:latin typeface="Calibri" pitchFamily="34" charset="0"/>
                <a:ea typeface="Calibri" pitchFamily="34" charset="-122"/>
                <a:cs typeface="Calibri" pitchFamily="34" charset="-120"/>
              </a:rPr>
              <a:t>Caveat: </a:t>
            </a:r>
            <a:pPr indent="0" marL="0">
              <a:buNone/>
            </a:pPr>
            <a:r>
              <a:rPr lang="en-US" sz="1000" dirty="0">
                <a:solidFill>
                  <a:srgbClr val="EDEDED"/>
                </a:solidFill>
                <a:latin typeface="Calibri" pitchFamily="34" charset="0"/>
                <a:ea typeface="Calibri" pitchFamily="34" charset="-122"/>
                <a:cs typeface="Calibri" pitchFamily="34" charset="-120"/>
              </a:rPr>
              <a:t>the automated playtest was flaky and sent fix prompts for phantom bugs to every setup, so read the gap as indicative.</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EDEDED"/>
                </a:solidFill>
                <a:latin typeface="Calibri" pitchFamily="34" charset="0"/>
                <a:ea typeface="Calibri" pitchFamily="34" charset="-122"/>
                <a:cs typeface="Calibri" pitchFamily="34" charset="-120"/>
              </a:rPr>
              <a:t>What failed, and what we changed</a:t>
            </a:r>
            <a:endParaRPr lang="en-US" sz="3200" dirty="0"/>
          </a:p>
        </p:txBody>
      </p:sp>
      <p:sp>
        <p:nvSpPr>
          <p:cNvPr id="3" name="Round 1 loss panel"/>
          <p:cNvSpPr/>
          <p:nvPr/>
        </p:nvSpPr>
        <p:spPr>
          <a:xfrm>
            <a:off x="457200" y="1005840"/>
            <a:ext cx="4114800" cy="2057400"/>
          </a:xfrm>
          <a:prstGeom prst="roundRect">
            <a:avLst>
              <a:gd name="adj" fmla="val 4444"/>
            </a:avLst>
          </a:prstGeom>
          <a:solidFill>
            <a:srgbClr val="161A22"/>
          </a:solidFill>
          <a:ln w="9525">
            <a:solidFill>
              <a:srgbClr val="232834"/>
            </a:solidFill>
            <a:prstDash val="solid"/>
          </a:ln>
        </p:spPr>
      </p:sp>
      <p:sp>
        <p:nvSpPr>
          <p:cNvPr id="4" name="Loss head"/>
          <p:cNvSpPr txBox="1"/>
          <p:nvPr/>
        </p:nvSpPr>
        <p:spPr>
          <a:xfrm>
            <a:off x="640080" y="1078992"/>
            <a:ext cx="3749040" cy="292608"/>
          </a:xfrm>
          <a:prstGeom prst="rect">
            <a:avLst/>
          </a:prstGeom>
          <a:noFill/>
          <a:ln/>
        </p:spPr>
        <p:txBody>
          <a:bodyPr wrap="square" lIns="0" tIns="0" rIns="0" bIns="0" rtlCol="0" anchor="ctr"/>
          <a:lstStyle/>
          <a:p>
            <a:pPr indent="0" marL="0">
              <a:buNone/>
            </a:pPr>
            <a:r>
              <a:rPr lang="en-US" sz="1400" b="1" dirty="0">
                <a:solidFill>
                  <a:srgbClr val="E5484D"/>
                </a:solidFill>
                <a:latin typeface="Calibri" pitchFamily="34" charset="0"/>
                <a:ea typeface="Calibri" pitchFamily="34" charset="-122"/>
                <a:cs typeface="Calibri" pitchFamily="34" charset="-120"/>
              </a:rPr>
              <a:t>Web-app race, round 1: DevMemory lost</a:t>
            </a:r>
            <a:endParaRPr lang="en-US" sz="1400" dirty="0"/>
          </a:p>
        </p:txBody>
      </p:sp>
      <p:sp>
        <p:nvSpPr>
          <p:cNvPr id="5" name="Loss text"/>
          <p:cNvSpPr txBox="1"/>
          <p:nvPr/>
        </p:nvSpPr>
        <p:spPr>
          <a:xfrm>
            <a:off x="640080" y="1389888"/>
            <a:ext cx="3749040" cy="1645920"/>
          </a:xfrm>
          <a:prstGeom prst="rect">
            <a:avLst/>
          </a:prstGeom>
          <a:noFill/>
          <a:ln/>
        </p:spPr>
        <p:txBody>
          <a:bodyPr wrap="square" lIns="0" tIns="0" rIns="0" bIns="0" rtlCol="0" anchor="t"/>
          <a:lstStyle/>
          <a:p>
            <a:pPr indent="0" marL="0">
              <a:buNone/>
            </a:pPr>
            <a:r>
              <a:rPr lang="en-US" sz="1100" dirty="0">
                <a:solidFill>
                  <a:srgbClr val="EDEDED"/>
                </a:solidFill>
                <a:latin typeface="Calibri" pitchFamily="34" charset="0"/>
                <a:ea typeface="Calibri" pitchFamily="34" charset="-122"/>
                <a:cs typeface="Calibri" pitchFamily="34" charset="-120"/>
              </a:rPr>
              <a:t>It built 3 of 8 features while the others built 8 of 8. A bug report never repeated the label colors, and the pack did not carry the session where the user had specified them. Fix: origin lineage (always include the session where a feature began) and verbatim requirement memory (keep the user's concrete values: colors, numbers, API paths).</a:t>
            </a:r>
            <a:endParaRPr lang="en-US" sz="1100" dirty="0"/>
          </a:p>
        </p:txBody>
      </p:sp>
      <p:sp>
        <p:nvSpPr>
          <p:cNvPr id="6" name="Round 2 panel"/>
          <p:cNvSpPr/>
          <p:nvPr/>
        </p:nvSpPr>
        <p:spPr>
          <a:xfrm>
            <a:off x="457200" y="3154680"/>
            <a:ext cx="4114800" cy="685800"/>
          </a:xfrm>
          <a:prstGeom prst="roundRect">
            <a:avLst>
              <a:gd name="adj" fmla="val 13333"/>
            </a:avLst>
          </a:prstGeom>
          <a:solidFill>
            <a:srgbClr val="161A22"/>
          </a:solidFill>
          <a:ln w="9525">
            <a:solidFill>
              <a:srgbClr val="232834"/>
            </a:solidFill>
            <a:prstDash val="solid"/>
          </a:ln>
        </p:spPr>
      </p:sp>
      <p:sp>
        <p:nvSpPr>
          <p:cNvPr id="7" name="Round 2"/>
          <p:cNvSpPr txBox="1"/>
          <p:nvPr/>
        </p:nvSpPr>
        <p:spPr>
          <a:xfrm>
            <a:off x="640080" y="3200400"/>
            <a:ext cx="3749040" cy="594360"/>
          </a:xfrm>
          <a:prstGeom prst="rect">
            <a:avLst/>
          </a:prstGeom>
          <a:noFill/>
          <a:ln/>
        </p:spPr>
        <p:txBody>
          <a:bodyPr wrap="square" lIns="0" tIns="0" rIns="0" bIns="0" rtlCol="0" anchor="ctr"/>
          <a:lstStyle/>
          <a:p>
            <a:pPr indent="0" marL="0">
              <a:buNone/>
            </a:pPr>
            <a:r>
              <a:rPr lang="en-US" sz="1100" b="1" dirty="0">
                <a:solidFill>
                  <a:srgbClr val="F5A524"/>
                </a:solidFill>
                <a:latin typeface="Calibri" pitchFamily="34" charset="0"/>
                <a:ea typeface="Calibri" pitchFamily="34" charset="-122"/>
                <a:cs typeface="Calibri" pitchFamily="34" charset="-120"/>
              </a:rPr>
              <a:t>Re-test: </a:t>
            </a:r>
            <a:pPr indent="0" marL="0">
              <a:buNone/>
            </a:pPr>
            <a:r>
              <a:rPr lang="en-US" sz="1100" dirty="0">
                <a:solidFill>
                  <a:srgbClr val="EDEDED"/>
                </a:solidFill>
                <a:latin typeface="Calibri" pitchFamily="34" charset="0"/>
                <a:ea typeface="Calibri" pitchFamily="34" charset="-122"/>
                <a:cs typeface="Calibri" pitchFamily="34" charset="-120"/>
              </a:rPr>
              <a:t>Round 2: all 8/8, no fixes. DevMemory cheapest: $0.74, 580k tok (vs 633k / 847k)</a:t>
            </a:r>
            <a:endParaRPr lang="en-US" sz="1100" dirty="0"/>
          </a:p>
        </p:txBody>
      </p:sp>
      <p:sp>
        <p:nvSpPr>
          <p:cNvPr id="8" name="Python note"/>
          <p:cNvSpPr txBox="1"/>
          <p:nvPr/>
        </p:nvSpPr>
        <p:spPr>
          <a:xfrm>
            <a:off x="457200" y="3931920"/>
            <a:ext cx="4114800" cy="777240"/>
          </a:xfrm>
          <a:prstGeom prst="rect">
            <a:avLst/>
          </a:prstGeom>
          <a:noFill/>
          <a:ln/>
        </p:spPr>
        <p:txBody>
          <a:bodyPr wrap="square" lIns="0" tIns="0" rIns="0" bIns="0" rtlCol="0" anchor="t"/>
          <a:lstStyle/>
          <a:p>
            <a:pPr indent="0" marL="0">
              <a:buNone/>
            </a:pPr>
            <a:r>
              <a:rPr lang="en-US" sz="1050" b="1" dirty="0">
                <a:solidFill>
                  <a:srgbClr val="38D6E8"/>
                </a:solidFill>
                <a:latin typeface="Calibri" pitchFamily="34" charset="0"/>
                <a:ea typeface="Calibri" pitchFamily="34" charset="-122"/>
                <a:cs typeface="Calibri" pitchFamily="34" charset="-120"/>
              </a:rPr>
              <a:t>Also: </a:t>
            </a:r>
            <a:pPr indent="0" marL="0">
              <a:buNone/>
            </a:pPr>
            <a:r>
              <a:rPr lang="en-US" sz="1050" dirty="0">
                <a:solidFill>
                  <a:srgbClr val="EDEDED"/>
                </a:solidFill>
                <a:latin typeface="Calibri" pitchFamily="34" charset="0"/>
                <a:ea typeface="Calibri" pitchFamily="34" charset="-122"/>
                <a:cs typeface="Calibri" pitchFamily="34" charset="-120"/>
              </a:rPr>
              <a:t>on the set-1 Python project the hand-written file matched DevMemory (20 vs 19 of 24); on set 2 DevMemory led there (23 vs 17). The retrieval fix cost 3 points on set 1 (86% to 83%).</a:t>
            </a:r>
            <a:endParaRPr lang="en-US" sz="1050" dirty="0"/>
          </a:p>
        </p:txBody>
      </p:sp>
      <p:sp>
        <p:nvSpPr>
          <p:cNvPr id="9" name="AGENTS.md build, broken frame"/>
          <p:cNvSpPr/>
          <p:nvPr/>
        </p:nvSpPr>
        <p:spPr>
          <a:xfrm>
            <a:off x="4754880" y="963881"/>
            <a:ext cx="3977640" cy="1455518"/>
          </a:xfrm>
          <a:prstGeom prst="roundRect">
            <a:avLst>
              <a:gd name="adj" fmla="val 5026"/>
            </a:avLst>
          </a:prstGeom>
          <a:solidFill>
            <a:srgbClr val="161A22"/>
          </a:solidFill>
          <a:ln w="9525">
            <a:solidFill>
              <a:srgbClr val="5A606B"/>
            </a:solidFill>
            <a:prstDash val="solid"/>
          </a:ln>
        </p:spPr>
      </p:sp>
      <p:pic>
        <p:nvPicPr>
          <p:cNvPr id="10" name="AGENTS.md build, broken" descr="AGENTS.md build, broken">    </p:cNvPr>
          <p:cNvPicPr>
            <a:picLocks noChangeAspect="1"/>
          </p:cNvPicPr>
          <p:nvPr/>
        </p:nvPicPr>
        <p:blipFill>
          <a:blip r:embed="rId1"/>
          <a:stretch>
            <a:fillRect/>
          </a:stretch>
        </p:blipFill>
        <p:spPr>
          <a:xfrm>
            <a:off x="4800600" y="1009601"/>
            <a:ext cx="3886200" cy="1364078"/>
          </a:xfrm>
          <a:prstGeom prst="rect">
            <a:avLst/>
          </a:prstGeom>
        </p:spPr>
      </p:pic>
      <p:sp>
        <p:nvSpPr>
          <p:cNvPr id="11" name="Agents caption"/>
          <p:cNvSpPr txBox="1"/>
          <p:nvPr/>
        </p:nvSpPr>
        <p:spPr>
          <a:xfrm>
            <a:off x="4800600" y="2450592"/>
            <a:ext cx="3886200" cy="548640"/>
          </a:xfrm>
          <a:prstGeom prst="rect">
            <a:avLst/>
          </a:prstGeom>
          <a:noFill/>
          <a:ln/>
        </p:spPr>
        <p:txBody>
          <a:bodyPr wrap="square" lIns="0" tIns="0" rIns="0" bIns="0" rtlCol="0" anchor="t"/>
          <a:lstStyle/>
          <a:p>
            <a:pPr indent="0" marL="0">
              <a:buNone/>
            </a:pPr>
            <a:r>
              <a:rPr lang="en-US" sz="1050" dirty="0">
                <a:solidFill>
                  <a:srgbClr val="EDEDED"/>
                </a:solidFill>
                <a:latin typeface="Calibri" pitchFamily="34" charset="0"/>
                <a:ea typeface="Calibri" pitchFamily="34" charset="-122"/>
                <a:cs typeface="Calibri" pitchFamily="34" charset="-120"/>
              </a:rPr>
              <a:t>Scripted 8-prompt race: the AGENTS.md build passed every static check, yet crashed on start (WAVE 0, no blades). Code checks alone are not enough.</a:t>
            </a:r>
            <a:endParaRPr lang="en-US" sz="1050" dirty="0"/>
          </a:p>
        </p:txBody>
      </p:sp>
      <p:sp>
        <p:nvSpPr>
          <p:cNvPr id="12" name="Limitations panel"/>
          <p:cNvSpPr/>
          <p:nvPr/>
        </p:nvSpPr>
        <p:spPr>
          <a:xfrm>
            <a:off x="4800600" y="3063240"/>
            <a:ext cx="3886200" cy="1645920"/>
          </a:xfrm>
          <a:prstGeom prst="roundRect">
            <a:avLst>
              <a:gd name="adj" fmla="val 5556"/>
            </a:avLst>
          </a:prstGeom>
          <a:solidFill>
            <a:srgbClr val="161A22"/>
          </a:solidFill>
          <a:ln w="9525">
            <a:solidFill>
              <a:srgbClr val="232834"/>
            </a:solidFill>
            <a:prstDash val="solid"/>
          </a:ln>
        </p:spPr>
      </p:sp>
      <p:sp>
        <p:nvSpPr>
          <p:cNvPr id="13" name="Limits head"/>
          <p:cNvSpPr txBox="1"/>
          <p:nvPr/>
        </p:nvSpPr>
        <p:spPr>
          <a:xfrm>
            <a:off x="4937760" y="3127248"/>
            <a:ext cx="3657600" cy="256032"/>
          </a:xfrm>
          <a:prstGeom prst="rect">
            <a:avLst/>
          </a:prstGeom>
          <a:noFill/>
          <a:ln/>
        </p:spPr>
        <p:txBody>
          <a:bodyPr wrap="square" lIns="0" tIns="0" rIns="0" bIns="0" rtlCol="0" anchor="ctr"/>
          <a:lstStyle/>
          <a:p>
            <a:pPr indent="0" marL="0">
              <a:buNone/>
            </a:pPr>
            <a:r>
              <a:rPr lang="en-US" sz="1200" b="1" dirty="0">
                <a:solidFill>
                  <a:srgbClr val="F5A524"/>
                </a:solidFill>
                <a:latin typeface="Calibri" pitchFamily="34" charset="0"/>
                <a:ea typeface="Calibri" pitchFamily="34" charset="-122"/>
                <a:cs typeface="Calibri" pitchFamily="34" charset="-120"/>
              </a:rPr>
              <a:t>Limitations (all disclosed in RESULTS.md)</a:t>
            </a:r>
            <a:endParaRPr lang="en-US" sz="1200" dirty="0"/>
          </a:p>
        </p:txBody>
      </p:sp>
      <p:sp>
        <p:nvSpPr>
          <p:cNvPr id="14" name="Limits list"/>
          <p:cNvSpPr txBox="1"/>
          <p:nvPr/>
        </p:nvSpPr>
        <p:spPr>
          <a:xfrm>
            <a:off x="4937760" y="3429000"/>
            <a:ext cx="3657600" cy="1234440"/>
          </a:xfrm>
          <a:prstGeom prst="rect">
            <a:avLst/>
          </a:prstGeom>
          <a:noFill/>
          <a:ln/>
        </p:spPr>
        <p:txBody>
          <a:bodyPr wrap="square" lIns="0" tIns="0" rIns="0" bIns="0" rtlCol="0" anchor="t"/>
          <a:lstStyle/>
          <a:p>
            <a:pPr marL="342900" indent="-342900">
              <a:spcAft>
                <a:spcPts val="800"/>
              </a:spcAft>
              <a:buSzPct val="100000"/>
              <a:buChar char="•"/>
            </a:pPr>
            <a:r>
              <a:rPr lang="en-US" sz="1000" dirty="0">
                <a:solidFill>
                  <a:srgbClr val="EDEDED"/>
                </a:solidFill>
                <a:latin typeface="Calibri" pitchFamily="34" charset="0"/>
                <a:ea typeface="Calibri" pitchFamily="34" charset="-122"/>
                <a:cs typeface="Calibri" pitchFamily="34" charset="-120"/>
              </a:rPr>
              <a:t>Benchmark projects are synthetic and small</a:t>
            </a:r>
            <a:endParaRPr lang="en-US" sz="1000" dirty="0"/>
          </a:p>
          <a:p>
            <a:pPr marL="342900" indent="-342900">
              <a:spcAft>
                <a:spcPts val="800"/>
              </a:spcAft>
              <a:buSzPct val="100000"/>
              <a:buChar char="•"/>
            </a:pPr>
            <a:r>
              <a:rPr lang="en-US" sz="1000" dirty="0">
                <a:solidFill>
                  <a:srgbClr val="EDEDED"/>
                </a:solidFill>
                <a:latin typeface="Calibri" pitchFamily="34" charset="0"/>
                <a:ea typeface="Calibri" pitchFamily="34" charset="-122"/>
                <a:cs typeface="Calibri" pitchFamily="34" charset="-120"/>
              </a:rPr>
              <a:t>One run per setup in the multi-session builds</a:t>
            </a:r>
            <a:endParaRPr lang="en-US" sz="1000" dirty="0"/>
          </a:p>
          <a:p>
            <a:pPr marL="342900" indent="-342900">
              <a:spcAft>
                <a:spcPts val="800"/>
              </a:spcAft>
              <a:buSzPct val="100000"/>
              <a:buChar char="•"/>
            </a:pPr>
            <a:r>
              <a:rPr lang="en-US" sz="1000" dirty="0">
                <a:solidFill>
                  <a:srgbClr val="EDEDED"/>
                </a:solidFill>
                <a:latin typeface="Calibri" pitchFamily="34" charset="0"/>
                <a:ea typeface="Calibri" pitchFamily="34" charset="-122"/>
                <a:cs typeface="Calibri" pitchFamily="34" charset="-120"/>
              </a:rPr>
              <a:t>The Roblox race's automated playtest was flaky (checked by a human at the end)</a:t>
            </a:r>
            <a:endParaRPr lang="en-US" sz="1000" dirty="0"/>
          </a:p>
          <a:p>
            <a:pPr marL="342900" indent="-342900">
              <a:spcAft>
                <a:spcPts val="800"/>
              </a:spcAft>
              <a:buSzPct val="100000"/>
              <a:buChar char="•"/>
            </a:pPr>
            <a:r>
              <a:rPr lang="en-US" sz="1000" dirty="0">
                <a:solidFill>
                  <a:srgbClr val="EDEDED"/>
                </a:solidFill>
                <a:latin typeface="Calibri" pitchFamily="34" charset="0"/>
                <a:ea typeface="Calibri" pitchFamily="34" charset="-122"/>
                <a:cs typeface="Calibri" pitchFamily="34" charset="-120"/>
              </a:rPr>
              <a:t>Pack sizes are estimates (characters / 4); costs are API list-price equivalents</a:t>
            </a:r>
            <a:endParaRPr lang="en-US" sz="100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457200" y="274320"/>
            <a:ext cx="8229600" cy="594360"/>
          </a:xfrm>
          <a:prstGeom prst="rect">
            <a:avLst/>
          </a:prstGeom>
          <a:noFill/>
          <a:ln/>
        </p:spPr>
        <p:txBody>
          <a:bodyPr wrap="square" lIns="0" tIns="0" rIns="0" bIns="0" rtlCol="0" anchor="ctr"/>
          <a:lstStyle/>
          <a:p>
            <a:pPr indent="0" marL="0">
              <a:buNone/>
            </a:pPr>
            <a:r>
              <a:rPr lang="en-US" sz="3200" b="1" dirty="0">
                <a:solidFill>
                  <a:srgbClr val="EDEDED"/>
                </a:solidFill>
                <a:latin typeface="Calibri" pitchFamily="34" charset="0"/>
                <a:ea typeface="Calibri" pitchFamily="34" charset="-122"/>
                <a:cs typeface="Calibri" pitchFamily="34" charset="-120"/>
              </a:rPr>
              <a:t>Less compute, same or better results</a:t>
            </a:r>
            <a:endParaRPr lang="en-US" sz="3200" dirty="0"/>
          </a:p>
        </p:txBody>
      </p:sp>
      <p:sp>
        <p:nvSpPr>
          <p:cNvPr id="3" name="Takeaway card 1"/>
          <p:cNvSpPr/>
          <p:nvPr/>
        </p:nvSpPr>
        <p:spPr>
          <a:xfrm>
            <a:off x="457200" y="1005840"/>
            <a:ext cx="1947672" cy="1600200"/>
          </a:xfrm>
          <a:prstGeom prst="roundRect">
            <a:avLst>
              <a:gd name="adj" fmla="val 5714"/>
            </a:avLst>
          </a:prstGeom>
          <a:solidFill>
            <a:srgbClr val="161A22"/>
          </a:solidFill>
          <a:ln w="9525">
            <a:solidFill>
              <a:srgbClr val="232834"/>
            </a:solidFill>
            <a:prstDash val="solid"/>
          </a:ln>
        </p:spPr>
      </p:sp>
      <p:sp>
        <p:nvSpPr>
          <p:cNvPr id="4" name="Takeaway 1"/>
          <p:cNvSpPr txBox="1"/>
          <p:nvPr/>
        </p:nvSpPr>
        <p:spPr>
          <a:xfrm>
            <a:off x="594360" y="1078992"/>
            <a:ext cx="1691640" cy="548640"/>
          </a:xfrm>
          <a:prstGeom prst="rect">
            <a:avLst/>
          </a:prstGeom>
          <a:noFill/>
          <a:ln/>
        </p:spPr>
        <p:txBody>
          <a:bodyPr wrap="square" lIns="0" tIns="0" rIns="0" bIns="0" rtlCol="0" anchor="ctr"/>
          <a:lstStyle/>
          <a:p>
            <a:pPr indent="0" marL="0">
              <a:buNone/>
            </a:pPr>
            <a:r>
              <a:rPr lang="en-US" sz="1500" b="1" dirty="0">
                <a:solidFill>
                  <a:srgbClr val="8B7CF6"/>
                </a:solidFill>
                <a:latin typeface="Calibri" pitchFamily="34" charset="0"/>
                <a:ea typeface="Calibri" pitchFamily="34" charset="-122"/>
                <a:cs typeface="Calibri" pitchFamily="34" charset="-120"/>
              </a:rPr>
              <a:t>Cheaper model + memory</a:t>
            </a:r>
            <a:endParaRPr lang="en-US" sz="1500" dirty="0"/>
          </a:p>
        </p:txBody>
      </p:sp>
      <p:sp>
        <p:nvSpPr>
          <p:cNvPr id="5" name="Takeaway text 1"/>
          <p:cNvSpPr txBox="1"/>
          <p:nvPr/>
        </p:nvSpPr>
        <p:spPr>
          <a:xfrm>
            <a:off x="594360" y="1664208"/>
            <a:ext cx="1691640" cy="914400"/>
          </a:xfrm>
          <a:prstGeom prst="rect">
            <a:avLst/>
          </a:prstGeom>
          <a:noFill/>
          <a:ln/>
        </p:spPr>
        <p:txBody>
          <a:bodyPr wrap="square" lIns="0" tIns="0" rIns="0" bIns="0" rtlCol="0" anchor="t"/>
          <a:lstStyle/>
          <a:p>
            <a:pPr indent="0" marL="0">
              <a:buNone/>
            </a:pPr>
            <a:r>
              <a:rPr lang="en-US" sz="1050" dirty="0">
                <a:solidFill>
                  <a:srgbClr val="EDEDED"/>
                </a:solidFill>
                <a:latin typeface="Calibri" pitchFamily="34" charset="0"/>
                <a:ea typeface="Calibri" pitchFamily="34" charset="-122"/>
                <a:cs typeface="Calibri" pitchFamily="34" charset="-120"/>
              </a:rPr>
              <a:t>beat a bigger model without it: 83% vs 75% on the same tasks, at about a tenth of the cost per success</a:t>
            </a:r>
            <a:endParaRPr lang="en-US" sz="1050" dirty="0"/>
          </a:p>
        </p:txBody>
      </p:sp>
      <p:sp>
        <p:nvSpPr>
          <p:cNvPr id="6" name="Takeaway card 2"/>
          <p:cNvSpPr/>
          <p:nvPr/>
        </p:nvSpPr>
        <p:spPr>
          <a:xfrm>
            <a:off x="2551176" y="1005840"/>
            <a:ext cx="1947672" cy="1600200"/>
          </a:xfrm>
          <a:prstGeom prst="roundRect">
            <a:avLst>
              <a:gd name="adj" fmla="val 5714"/>
            </a:avLst>
          </a:prstGeom>
          <a:solidFill>
            <a:srgbClr val="161A22"/>
          </a:solidFill>
          <a:ln w="9525">
            <a:solidFill>
              <a:srgbClr val="232834"/>
            </a:solidFill>
            <a:prstDash val="solid"/>
          </a:ln>
        </p:spPr>
      </p:sp>
      <p:sp>
        <p:nvSpPr>
          <p:cNvPr id="7" name="Takeaway 2"/>
          <p:cNvSpPr txBox="1"/>
          <p:nvPr/>
        </p:nvSpPr>
        <p:spPr>
          <a:xfrm>
            <a:off x="2688336" y="1078992"/>
            <a:ext cx="1691640" cy="548640"/>
          </a:xfrm>
          <a:prstGeom prst="rect">
            <a:avLst/>
          </a:prstGeom>
          <a:noFill/>
          <a:ln/>
        </p:spPr>
        <p:txBody>
          <a:bodyPr wrap="square" lIns="0" tIns="0" rIns="0" bIns="0" rtlCol="0" anchor="ctr"/>
          <a:lstStyle/>
          <a:p>
            <a:pPr indent="0" marL="0">
              <a:buNone/>
            </a:pPr>
            <a:r>
              <a:rPr lang="en-US" sz="1500" b="1" dirty="0">
                <a:solidFill>
                  <a:srgbClr val="38D6E8"/>
                </a:solidFill>
                <a:latin typeface="Calibri" pitchFamily="34" charset="0"/>
                <a:ea typeface="Calibri" pitchFamily="34" charset="-122"/>
                <a:cs typeface="Calibri" pitchFamily="34" charset="-120"/>
              </a:rPr>
              <a:t>~Half the tokens</a:t>
            </a:r>
            <a:endParaRPr lang="en-US" sz="1500" dirty="0"/>
          </a:p>
        </p:txBody>
      </p:sp>
      <p:sp>
        <p:nvSpPr>
          <p:cNvPr id="8" name="Takeaway text 2"/>
          <p:cNvSpPr txBox="1"/>
          <p:nvPr/>
        </p:nvSpPr>
        <p:spPr>
          <a:xfrm>
            <a:off x="2688336" y="1664208"/>
            <a:ext cx="1691640" cy="914400"/>
          </a:xfrm>
          <a:prstGeom prst="rect">
            <a:avLst/>
          </a:prstGeom>
          <a:noFill/>
          <a:ln/>
        </p:spPr>
        <p:txBody>
          <a:bodyPr wrap="square" lIns="0" tIns="0" rIns="0" bIns="0" rtlCol="0" anchor="t"/>
          <a:lstStyle/>
          <a:p>
            <a:pPr indent="0" marL="0">
              <a:buNone/>
            </a:pPr>
            <a:r>
              <a:rPr lang="en-US" sz="1050" dirty="0">
                <a:solidFill>
                  <a:srgbClr val="EDEDED"/>
                </a:solidFill>
                <a:latin typeface="Calibri" pitchFamily="34" charset="0"/>
                <a:ea typeface="Calibri" pitchFamily="34" charset="-122"/>
                <a:cs typeface="Calibri" pitchFamily="34" charset="-120"/>
              </a:rPr>
              <a:t>over a real multi-session game build, with all three results playable</a:t>
            </a:r>
            <a:endParaRPr lang="en-US" sz="1050" dirty="0"/>
          </a:p>
        </p:txBody>
      </p:sp>
      <p:sp>
        <p:nvSpPr>
          <p:cNvPr id="9" name="Takeaway card 3"/>
          <p:cNvSpPr/>
          <p:nvPr/>
        </p:nvSpPr>
        <p:spPr>
          <a:xfrm>
            <a:off x="4645152" y="1005840"/>
            <a:ext cx="1947672" cy="1600200"/>
          </a:xfrm>
          <a:prstGeom prst="roundRect">
            <a:avLst>
              <a:gd name="adj" fmla="val 5714"/>
            </a:avLst>
          </a:prstGeom>
          <a:solidFill>
            <a:srgbClr val="161A22"/>
          </a:solidFill>
          <a:ln w="9525">
            <a:solidFill>
              <a:srgbClr val="232834"/>
            </a:solidFill>
            <a:prstDash val="solid"/>
          </a:ln>
        </p:spPr>
      </p:sp>
      <p:sp>
        <p:nvSpPr>
          <p:cNvPr id="10" name="Takeaway 3"/>
          <p:cNvSpPr txBox="1"/>
          <p:nvPr/>
        </p:nvSpPr>
        <p:spPr>
          <a:xfrm>
            <a:off x="4782312" y="1078992"/>
            <a:ext cx="1691640" cy="548640"/>
          </a:xfrm>
          <a:prstGeom prst="rect">
            <a:avLst/>
          </a:prstGeom>
          <a:noFill/>
          <a:ln/>
        </p:spPr>
        <p:txBody>
          <a:bodyPr wrap="square" lIns="0" tIns="0" rIns="0" bIns="0" rtlCol="0" anchor="ctr"/>
          <a:lstStyle/>
          <a:p>
            <a:pPr indent="0" marL="0">
              <a:buNone/>
            </a:pPr>
            <a:r>
              <a:rPr lang="en-US" sz="1500" b="1" dirty="0">
                <a:solidFill>
                  <a:srgbClr val="F5A524"/>
                </a:solidFill>
                <a:latin typeface="Calibri" pitchFamily="34" charset="0"/>
                <a:ea typeface="Calibri" pitchFamily="34" charset="-122"/>
                <a:cs typeface="Calibri" pitchFamily="34" charset="-120"/>
              </a:rPr>
              <a:t>Works across tools</a:t>
            </a:r>
            <a:endParaRPr lang="en-US" sz="1500" dirty="0"/>
          </a:p>
        </p:txBody>
      </p:sp>
      <p:sp>
        <p:nvSpPr>
          <p:cNvPr id="11" name="Takeaway text 3"/>
          <p:cNvSpPr txBox="1"/>
          <p:nvPr/>
        </p:nvSpPr>
        <p:spPr>
          <a:xfrm>
            <a:off x="4782312" y="1664208"/>
            <a:ext cx="1691640" cy="914400"/>
          </a:xfrm>
          <a:prstGeom prst="rect">
            <a:avLst/>
          </a:prstGeom>
          <a:noFill/>
          <a:ln/>
        </p:spPr>
        <p:txBody>
          <a:bodyPr wrap="square" lIns="0" tIns="0" rIns="0" bIns="0" rtlCol="0" anchor="t"/>
          <a:lstStyle/>
          <a:p>
            <a:pPr indent="0" marL="0">
              <a:buNone/>
            </a:pPr>
            <a:r>
              <a:rPr lang="en-US" sz="1050" dirty="0">
                <a:solidFill>
                  <a:srgbClr val="EDEDED"/>
                </a:solidFill>
                <a:latin typeface="Calibri" pitchFamily="34" charset="0"/>
                <a:ea typeface="Calibri" pitchFamily="34" charset="-122"/>
                <a:cs typeface="Calibri" pitchFamily="34" charset="-120"/>
              </a:rPr>
              <a:t>Claude Code memory: Codex right 3/3 vs 0/3, 56% fewer tokens</a:t>
            </a:r>
            <a:endParaRPr lang="en-US" sz="1050" dirty="0"/>
          </a:p>
        </p:txBody>
      </p:sp>
      <p:sp>
        <p:nvSpPr>
          <p:cNvPr id="12" name="Takeaway card 4"/>
          <p:cNvSpPr/>
          <p:nvPr/>
        </p:nvSpPr>
        <p:spPr>
          <a:xfrm>
            <a:off x="6739128" y="1005840"/>
            <a:ext cx="1947672" cy="1600200"/>
          </a:xfrm>
          <a:prstGeom prst="roundRect">
            <a:avLst>
              <a:gd name="adj" fmla="val 5714"/>
            </a:avLst>
          </a:prstGeom>
          <a:solidFill>
            <a:srgbClr val="161A22"/>
          </a:solidFill>
          <a:ln w="9525">
            <a:solidFill>
              <a:srgbClr val="232834"/>
            </a:solidFill>
            <a:prstDash val="solid"/>
          </a:ln>
        </p:spPr>
      </p:sp>
      <p:sp>
        <p:nvSpPr>
          <p:cNvPr id="13" name="Takeaway 4"/>
          <p:cNvSpPr txBox="1"/>
          <p:nvPr/>
        </p:nvSpPr>
        <p:spPr>
          <a:xfrm>
            <a:off x="6876288" y="1078992"/>
            <a:ext cx="1691640" cy="548640"/>
          </a:xfrm>
          <a:prstGeom prst="rect">
            <a:avLst/>
          </a:prstGeom>
          <a:noFill/>
          <a:ln/>
        </p:spPr>
        <p:txBody>
          <a:bodyPr wrap="square" lIns="0" tIns="0" rIns="0" bIns="0" rtlCol="0" anchor="ctr"/>
          <a:lstStyle/>
          <a:p>
            <a:pPr indent="0" marL="0">
              <a:buNone/>
            </a:pPr>
            <a:r>
              <a:rPr lang="en-US" sz="1500" b="1" dirty="0">
                <a:solidFill>
                  <a:srgbClr val="3DD68C"/>
                </a:solidFill>
                <a:latin typeface="Calibri" pitchFamily="34" charset="0"/>
                <a:ea typeface="Calibri" pitchFamily="34" charset="-122"/>
                <a:cs typeface="Calibri" pitchFamily="34" charset="-120"/>
              </a:rPr>
              <a:t>The user's own words</a:t>
            </a:r>
            <a:endParaRPr lang="en-US" sz="1500" dirty="0"/>
          </a:p>
        </p:txBody>
      </p:sp>
      <p:sp>
        <p:nvSpPr>
          <p:cNvPr id="14" name="Takeaway text 4"/>
          <p:cNvSpPr txBox="1"/>
          <p:nvPr/>
        </p:nvSpPr>
        <p:spPr>
          <a:xfrm>
            <a:off x="6876288" y="1664208"/>
            <a:ext cx="1691640" cy="914400"/>
          </a:xfrm>
          <a:prstGeom prst="rect">
            <a:avLst/>
          </a:prstGeom>
          <a:noFill/>
          <a:ln/>
        </p:spPr>
        <p:txBody>
          <a:bodyPr wrap="square" lIns="0" tIns="0" rIns="0" bIns="0" rtlCol="0" anchor="t"/>
          <a:lstStyle/>
          <a:p>
            <a:pPr indent="0" marL="0">
              <a:buNone/>
            </a:pPr>
            <a:r>
              <a:rPr lang="en-US" sz="1050" dirty="0">
                <a:solidFill>
                  <a:srgbClr val="EDEDED"/>
                </a:solidFill>
                <a:latin typeface="Calibri" pitchFamily="34" charset="0"/>
                <a:ea typeface="Calibri" pitchFamily="34" charset="-122"/>
                <a:cs typeface="Calibri" pitchFamily="34" charset="-120"/>
              </a:rPr>
              <a:t>are what make memory useful: requirements kept verbatim, never paraphrased</a:t>
            </a:r>
            <a:endParaRPr lang="en-US" sz="1050" dirty="0"/>
          </a:p>
        </p:txBody>
      </p:sp>
      <p:sp>
        <p:nvSpPr>
          <p:cNvPr id="15" name="Next head"/>
          <p:cNvSpPr txBox="1"/>
          <p:nvPr/>
        </p:nvSpPr>
        <p:spPr>
          <a:xfrm>
            <a:off x="457200" y="2743200"/>
            <a:ext cx="1828800" cy="292608"/>
          </a:xfrm>
          <a:prstGeom prst="rect">
            <a:avLst/>
          </a:prstGeom>
          <a:noFill/>
          <a:ln/>
        </p:spPr>
        <p:txBody>
          <a:bodyPr wrap="square" lIns="0" tIns="0" rIns="0" bIns="0" rtlCol="0" anchor="ctr"/>
          <a:lstStyle/>
          <a:p>
            <a:pPr indent="0" marL="0">
              <a:buNone/>
            </a:pPr>
            <a:r>
              <a:rPr lang="en-US" sz="1600" b="1" dirty="0">
                <a:solidFill>
                  <a:srgbClr val="EDEDED"/>
                </a:solidFill>
                <a:latin typeface="Calibri" pitchFamily="34" charset="0"/>
                <a:ea typeface="Calibri" pitchFamily="34" charset="-122"/>
                <a:cs typeface="Calibri" pitchFamily="34" charset="-120"/>
              </a:rPr>
              <a:t>Next</a:t>
            </a:r>
            <a:endParaRPr lang="en-US" sz="1600" dirty="0"/>
          </a:p>
        </p:txBody>
      </p:sp>
      <p:sp>
        <p:nvSpPr>
          <p:cNvPr id="16" name="Next list"/>
          <p:cNvSpPr txBox="1"/>
          <p:nvPr/>
        </p:nvSpPr>
        <p:spPr>
          <a:xfrm>
            <a:off x="457200" y="3063240"/>
            <a:ext cx="4572000" cy="1463040"/>
          </a:xfrm>
          <a:prstGeom prst="rect">
            <a:avLst/>
          </a:prstGeom>
          <a:noFill/>
          <a:ln/>
        </p:spPr>
        <p:txBody>
          <a:bodyPr wrap="square" lIns="0" tIns="0" rIns="0" bIns="0" rtlCol="0" anchor="t"/>
          <a:lstStyle/>
          <a:p>
            <a:pPr marL="342900" indent="-342900">
              <a:spcAft>
                <a:spcPts val="800"/>
              </a:spcAft>
              <a:buSzPct val="100000"/>
              <a:buChar char="•"/>
            </a:pPr>
            <a:r>
              <a:rPr lang="en-US" sz="1100" b="1" dirty="0">
                <a:solidFill>
                  <a:srgbClr val="38D6E8"/>
                </a:solidFill>
                <a:latin typeface="Calibri" pitchFamily="34" charset="0"/>
                <a:ea typeface="Calibri" pitchFamily="34" charset="-122"/>
                <a:cs typeface="Calibri" pitchFamily="34" charset="-120"/>
              </a:rPr>
              <a:t>Install: </a:t>
            </a:r>
            <a:pPr indent="0" marL="0">
              <a:buNone/>
            </a:pPr>
            <a:r>
              <a:rPr lang="en-US" sz="1100" dirty="0">
                <a:solidFill>
                  <a:srgbClr val="EDEDED"/>
                </a:solidFill>
                <a:latin typeface="Calibri" pitchFamily="34" charset="0"/>
                <a:ea typeface="Calibri" pitchFamily="34" charset="-122"/>
                <a:cs typeface="Calibri" pitchFamily="34" charset="-120"/>
              </a:rPr>
              <a:t>a one-command Claude Code plugin.</a:t>
            </a:r>
            <a:endParaRPr lang="en-US" sz="1100" dirty="0"/>
          </a:p>
          <a:p>
            <a:pPr marL="342900" indent="-342900">
              <a:spcAft>
                <a:spcPts val="800"/>
              </a:spcAft>
              <a:buSzPct val="100000"/>
              <a:buChar char="•"/>
            </a:pPr>
            <a:r>
              <a:rPr lang="en-US" sz="1100" b="1" dirty="0">
                <a:solidFill>
                  <a:srgbClr val="38D6E8"/>
                </a:solidFill>
                <a:latin typeface="Calibri" pitchFamily="34" charset="0"/>
                <a:ea typeface="Calibri" pitchFamily="34" charset="-122"/>
                <a:cs typeface="Calibri" pitchFamily="34" charset="-120"/>
              </a:rPr>
              <a:t>More tools: </a:t>
            </a:r>
            <a:pPr indent="0" marL="0">
              <a:buNone/>
            </a:pPr>
            <a:r>
              <a:rPr lang="en-US" sz="1100" dirty="0">
                <a:solidFill>
                  <a:srgbClr val="EDEDED"/>
                </a:solidFill>
                <a:latin typeface="Calibri" pitchFamily="34" charset="0"/>
                <a:ea typeface="Calibri" pitchFamily="34" charset="-122"/>
                <a:cs typeface="Calibri" pitchFamily="34" charset="-120"/>
              </a:rPr>
              <a:t>test the MCP server in Cursor and VS Code.</a:t>
            </a:r>
            <a:endParaRPr lang="en-US" sz="1100" dirty="0"/>
          </a:p>
          <a:p>
            <a:pPr marL="342900" indent="-342900">
              <a:spcAft>
                <a:spcPts val="800"/>
              </a:spcAft>
              <a:buSzPct val="100000"/>
              <a:buChar char="•"/>
            </a:pPr>
            <a:r>
              <a:rPr lang="en-US" sz="1100" b="1" dirty="0">
                <a:solidFill>
                  <a:srgbClr val="38D6E8"/>
                </a:solidFill>
                <a:latin typeface="Calibri" pitchFamily="34" charset="0"/>
                <a:ea typeface="Calibri" pitchFamily="34" charset="-122"/>
                <a:cs typeface="Calibri" pitchFamily="34" charset="-120"/>
              </a:rPr>
              <a:t>Game dev: </a:t>
            </a:r>
            <a:pPr indent="0" marL="0">
              <a:buNone/>
            </a:pPr>
            <a:r>
              <a:rPr lang="en-US" sz="1100" dirty="0">
                <a:solidFill>
                  <a:srgbClr val="EDEDED"/>
                </a:solidFill>
                <a:latin typeface="Calibri" pitchFamily="34" charset="0"/>
                <a:ea typeface="Calibri" pitchFamily="34" charset="-122"/>
                <a:cs typeface="Calibri" pitchFamily="34" charset="-120"/>
              </a:rPr>
              <a:t>a Roblox Studio playtest gate in the loop, then more engines.</a:t>
            </a:r>
            <a:endParaRPr lang="en-US" sz="1100" dirty="0"/>
          </a:p>
          <a:p>
            <a:pPr marL="342900" indent="-342900">
              <a:spcAft>
                <a:spcPts val="800"/>
              </a:spcAft>
              <a:buSzPct val="100000"/>
              <a:buChar char="•"/>
            </a:pPr>
            <a:r>
              <a:rPr lang="en-US" sz="1100" b="1" dirty="0">
                <a:solidFill>
                  <a:srgbClr val="38D6E8"/>
                </a:solidFill>
                <a:latin typeface="Calibri" pitchFamily="34" charset="0"/>
                <a:ea typeface="Calibri" pitchFamily="34" charset="-122"/>
                <a:cs typeface="Calibri" pitchFamily="34" charset="-120"/>
              </a:rPr>
              <a:t>Scale: </a:t>
            </a:r>
            <a:pPr indent="0" marL="0">
              <a:buNone/>
            </a:pPr>
            <a:r>
              <a:rPr lang="en-US" sz="1100" dirty="0">
                <a:solidFill>
                  <a:srgbClr val="EDEDED"/>
                </a:solidFill>
                <a:latin typeface="Calibri" pitchFamily="34" charset="0"/>
                <a:ea typeface="Calibri" pitchFamily="34" charset="-122"/>
                <a:cs typeface="Calibri" pitchFamily="34" charset="-120"/>
              </a:rPr>
              <a:t>larger, real (non-synthetic) projects and more repeats.</a:t>
            </a:r>
            <a:endParaRPr lang="en-US" sz="1100" dirty="0"/>
          </a:p>
        </p:txBody>
      </p:sp>
      <p:sp>
        <p:nvSpPr>
          <p:cNvPr id="17" name="Blade Swarm showcase game frame"/>
          <p:cNvSpPr/>
          <p:nvPr/>
        </p:nvSpPr>
        <p:spPr>
          <a:xfrm>
            <a:off x="5257800" y="2835225"/>
            <a:ext cx="3474720" cy="1278990"/>
          </a:xfrm>
          <a:prstGeom prst="roundRect">
            <a:avLst>
              <a:gd name="adj" fmla="val 5720"/>
            </a:avLst>
          </a:prstGeom>
          <a:solidFill>
            <a:srgbClr val="161A22"/>
          </a:solidFill>
          <a:ln w="9525">
            <a:solidFill>
              <a:srgbClr val="5A606B"/>
            </a:solidFill>
            <a:prstDash val="solid"/>
          </a:ln>
        </p:spPr>
      </p:sp>
      <p:pic>
        <p:nvPicPr>
          <p:cNvPr id="18" name="Blade Swarm showcase game" descr="Blade Swarm showcase game">    </p:cNvPr>
          <p:cNvPicPr>
            <a:picLocks noChangeAspect="1"/>
          </p:cNvPicPr>
          <p:nvPr/>
        </p:nvPicPr>
        <p:blipFill>
          <a:blip r:embed="rId1"/>
          <a:stretch>
            <a:fillRect/>
          </a:stretch>
        </p:blipFill>
        <p:spPr>
          <a:xfrm>
            <a:off x="5303520" y="2880945"/>
            <a:ext cx="3383280" cy="1187550"/>
          </a:xfrm>
          <a:prstGeom prst="rect">
            <a:avLst/>
          </a:prstGeom>
        </p:spPr>
      </p:pic>
      <p:sp>
        <p:nvSpPr>
          <p:cNvPr id="19" name="Footer"/>
          <p:cNvSpPr txBox="1"/>
          <p:nvPr/>
        </p:nvSpPr>
        <p:spPr>
          <a:xfrm>
            <a:off x="457200" y="4617720"/>
            <a:ext cx="7863840" cy="274320"/>
          </a:xfrm>
          <a:prstGeom prst="rect">
            <a:avLst/>
          </a:prstGeom>
          <a:noFill/>
          <a:ln/>
        </p:spPr>
        <p:txBody>
          <a:bodyPr wrap="square" lIns="0" tIns="0" rIns="0" bIns="0" rtlCol="0" anchor="ctr"/>
          <a:lstStyle/>
          <a:p>
            <a:pPr indent="0" marL="0">
              <a:buNone/>
            </a:pPr>
            <a:r>
              <a:rPr lang="en-US" sz="1050" dirty="0">
                <a:solidFill>
                  <a:srgbClr val="9AA0AA"/>
                </a:solidFill>
                <a:latin typeface="Calibri" pitchFamily="34" charset="0"/>
                <a:ea typeface="Calibri" pitchFamily="34" charset="-122"/>
                <a:cs typeface="Calibri" pitchFamily="34" charset="-120"/>
              </a:rPr>
              <a:t>github.com/Thamer-A/devmemory-hackathon  ·  RESULTS.md (all numbers and disclosures)  ·  bench/METHODOLOGY.md</a:t>
            </a:r>
            <a:endParaRPr lang="en-US" sz="1050" dirty="0"/>
          </a:p>
        </p:txBody>
      </p:sp>
      <p:sp>
        <p:nvSpPr>
          <p:cNvPr id="25" name="Slide Number Placeholder 0"/>
          <p:cNvSpPr>
            <a:spLocks noGrp="1"/>
          </p:cNvSpPr>
          <p:nvPr>
            <p:ph type="sldNum" sz="quarter" idx="4294967295"/>
          </p:nvPr>
        </p:nvSpPr>
        <p:spPr>
          <a:xfrm>
            <a:off x="841248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AA0A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DevMemory Dark">
  <a:themeElements>
    <a:clrScheme name="DevMemory Dark">
      <a:dk1>
        <a:srgbClr val="0F1115"/>
      </a:dk1>
      <a:lt1>
        <a:srgbClr val="EDEDED"/>
      </a:lt1>
      <a:dk2>
        <a:srgbClr val="161A22"/>
      </a:dk2>
      <a:lt2>
        <a:srgbClr val="9AA0AA"/>
      </a:lt2>
      <a:accent1>
        <a:srgbClr val="8B7CF6"/>
      </a:accent1>
      <a:accent2>
        <a:srgbClr val="38D6E8"/>
      </a:accent2>
      <a:accent3>
        <a:srgbClr val="3DD68C"/>
      </a:accent3>
      <a:accent4>
        <a:srgbClr val="F5A524"/>
      </a:accent4>
      <a:accent5>
        <a:srgbClr val="5A606B"/>
      </a:accent5>
      <a:accent6>
        <a:srgbClr val="E5484D"/>
      </a:accent6>
      <a:hlink>
        <a:srgbClr val="38D6E8"/>
      </a:hlink>
      <a:folHlink>
        <a:srgbClr val="8B7CF6"/>
      </a:folHlink>
    </a:clrScheme>
    <a:fontScheme name="DevMemory Dar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DevMemory — Challenge 2</dc:title>
  <dc:subject>PptxGenJS Presentation</dc:subject>
  <dc:creator>PptxGenJS</dc:creator>
  <cp:lastModifiedBy>PptxGenJS</cp:lastModifiedBy>
  <cp:revision>1</cp:revision>
  <dcterms:created xsi:type="dcterms:W3CDTF">2026-10-31T14:10:42Z</dcterms:created>
  <dcterms:modified xsi:type="dcterms:W3CDTF">2026-10-31T14:10:42Z</dcterms:modified>
</cp:coreProperties>
</file>